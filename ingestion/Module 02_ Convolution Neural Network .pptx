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7" roundtripDataSignature="AMtx7mhitDVXlmc6ozU0d6/g4ZQARMMJ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DBD131-C402-4C9B-BBDB-2C38213BF561}">
  <a:tblStyle styleId="{98DBD131-C402-4C9B-BBDB-2C38213BF561}" styleName="Table_0">
    <a:wholeTbl>
      <a:tcTxStyle b="off" i="off">
        <a:font>
          <a:latin typeface="Calibri"/>
          <a:ea typeface="Calibri"/>
          <a:cs typeface="Calibri"/>
        </a:font>
        <a:schemeClr val="dk1"/>
      </a:tcTxStyle>
      <a:tcStyle>
        <a:tcBdr>
          <a:left>
            <a:ln cap="flat" cmpd="sng" w="12700">
              <a:solidFill>
                <a:schemeClr val="accent2"/>
              </a:solidFill>
              <a:prstDash val="solid"/>
              <a:round/>
              <a:headEnd len="sm" w="sm" type="none"/>
              <a:tailEnd len="sm" w="sm" type="none"/>
            </a:ln>
          </a:left>
          <a:right>
            <a:ln cap="flat" cmpd="sng" w="12700">
              <a:solidFill>
                <a:schemeClr val="accent2"/>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12700">
              <a:solidFill>
                <a:schemeClr val="accent2"/>
              </a:solidFill>
              <a:prstDash val="solid"/>
              <a:round/>
              <a:headEnd len="sm" w="sm" type="none"/>
              <a:tailEnd len="sm" w="sm" type="none"/>
            </a:ln>
          </a:insideH>
          <a:insideV>
            <a:ln cap="flat" cmpd="sng" w="12700">
              <a:solidFill>
                <a:schemeClr val="accent2"/>
              </a:solidFill>
              <a:prstDash val="solid"/>
              <a:round/>
              <a:headEnd len="sm" w="sm" type="none"/>
              <a:tailEnd len="sm" w="sm" type="none"/>
            </a:ln>
          </a:insideV>
        </a:tcBdr>
        <a:fill>
          <a:solidFill>
            <a:srgbClr val="FCECE7"/>
          </a:solidFill>
        </a:fill>
      </a:tcStyle>
    </a:wholeTbl>
    <a:band1H>
      <a:tcTxStyle/>
      <a:tcStyle>
        <a:fill>
          <a:solidFill>
            <a:srgbClr val="F8D6CC"/>
          </a:solidFill>
        </a:fill>
      </a:tcStyle>
    </a:band1H>
    <a:band2H>
      <a:tcTxStyle/>
    </a:band2H>
    <a:band1V>
      <a:tcTxStyle/>
      <a:tcStyle>
        <a:fill>
          <a:solidFill>
            <a:srgbClr val="F8D6CC"/>
          </a:solidFill>
        </a:fill>
      </a:tcStyle>
    </a:band1V>
    <a:band2V>
      <a:tcTxStyle/>
    </a:band2V>
    <a:lastCol>
      <a:tcTxStyle b="on" i="off"/>
    </a:lastCol>
    <a:firstCol>
      <a:tcTxStyle b="on" i="off"/>
    </a:firstCol>
    <a:lastRow>
      <a:tcTxStyle b="on" i="off"/>
      <a:tcStyle>
        <a:tcBdr>
          <a:top>
            <a:ln cap="flat" cmpd="sng" w="25400">
              <a:solidFill>
                <a:schemeClr val="accent2"/>
              </a:solidFill>
              <a:prstDash val="solid"/>
              <a:round/>
              <a:headEnd len="sm" w="sm" type="none"/>
              <a:tailEnd len="sm" w="sm" type="none"/>
            </a:ln>
          </a:top>
        </a:tcBdr>
        <a:fill>
          <a:solidFill>
            <a:srgbClr val="FCECE7"/>
          </a:solidFill>
        </a:fill>
      </a:tcStyle>
    </a:lastRow>
    <a:seCell>
      <a:tcTxStyle/>
    </a:seCell>
    <a:swCell>
      <a:tcTxStyle/>
    </a:swCell>
    <a:firstRow>
      <a:tcTxStyle b="on" i="off"/>
      <a:tcStyle>
        <a:fill>
          <a:solidFill>
            <a:srgbClr val="FCECE7"/>
          </a:solidFill>
        </a:fill>
      </a:tcStyle>
    </a:firstRow>
    <a:neCell>
      <a:tcTxStyle/>
    </a:neCell>
    <a:nwCell>
      <a:tcTxStyle/>
    </a:nwCell>
  </a:tblStyle>
  <a:tblStyle styleId="{B53031AC-4534-4363-868B-00DCF4DB5E0C}" styleName="Table_1">
    <a:wholeTbl>
      <a:tcTxStyle b="off" i="off">
        <a:font>
          <a:latin typeface="Calibri"/>
          <a:ea typeface="Calibri"/>
          <a:cs typeface="Calibri"/>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FFF4E6"/>
          </a:solidFill>
        </a:fill>
      </a:tcStyle>
    </a:wholeTbl>
    <a:band1H>
      <a:tcTxStyle/>
      <a:tcStyle>
        <a:fill>
          <a:solidFill>
            <a:srgbClr val="FFE8CA"/>
          </a:solidFill>
        </a:fill>
      </a:tcStyle>
    </a:band1H>
    <a:band2H>
      <a:tcTxStyle/>
    </a:band2H>
    <a:band1V>
      <a:tcTxStyle/>
      <a:tcStyle>
        <a:fill>
          <a:solidFill>
            <a:srgbClr val="FFE8CA"/>
          </a:solidFill>
        </a:fill>
      </a:tcStyle>
    </a:band1V>
    <a:band2V>
      <a:tcTxStyle/>
    </a:band2V>
    <a:lastCol>
      <a:tcTxStyle b="on" i="off"/>
    </a:lastCol>
    <a:firstCol>
      <a:tcTxStyle b="on" i="off"/>
    </a:firstCol>
    <a:lastRow>
      <a:tcTxStyle b="on" i="off"/>
      <a:tcStyle>
        <a:tcBdr>
          <a:top>
            <a:ln cap="flat" cmpd="sng" w="25400">
              <a:solidFill>
                <a:schemeClr val="accent4"/>
              </a:solidFill>
              <a:prstDash val="solid"/>
              <a:round/>
              <a:headEnd len="sm" w="sm" type="none"/>
              <a:tailEnd len="sm" w="sm" type="none"/>
            </a:ln>
          </a:top>
        </a:tcBdr>
        <a:fill>
          <a:solidFill>
            <a:srgbClr val="FFF4E6"/>
          </a:solidFill>
        </a:fill>
      </a:tcStyle>
    </a:lastRow>
    <a:seCell>
      <a:tcTxStyle/>
    </a:seCell>
    <a:swCell>
      <a:tcTxStyle/>
    </a:swCell>
    <a:firstRow>
      <a:tcTxStyle b="on" i="off"/>
      <a:tcStyle>
        <a:fill>
          <a:solidFill>
            <a:srgbClr val="FFF4E6"/>
          </a:solidFill>
        </a:fill>
      </a:tcStyle>
    </a:firstRow>
    <a:neCell>
      <a:tcTxStyle/>
    </a:neCell>
    <a:nwCell>
      <a:tcTxStyle/>
    </a:nwCell>
  </a:tblStyle>
  <a:tblStyle styleId="{835D2641-1AE6-44EB-87A1-DC35637E3ACF}" styleName="Table_2">
    <a:wholeTbl>
      <a:tcTxStyle b="off" i="off">
        <a:font>
          <a:latin typeface="Calibri"/>
          <a:ea typeface="Calibri"/>
          <a:cs typeface="Calibri"/>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Calibri"/>
          <a:ea typeface="Calibri"/>
          <a:cs typeface="Calibri"/>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7" Type="http://customschemas.google.com/relationships/presentationmetadata" Target="metadata"/><Relationship Id="rId116" Type="http://schemas.openxmlformats.org/officeDocument/2006/relationships/slide" Target="slides/slide111.xml"/><Relationship Id="rId115" Type="http://schemas.openxmlformats.org/officeDocument/2006/relationships/slide" Target="slides/slide110.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bdc901c36c_0_2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3bdc901c36c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dc901c36c_0_2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g3bdc901c36c_0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dc901c36c_0_2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3bdc901c36c_0_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bdc901c36c_0_2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3bdc901c36c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dc901c36c_0_2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3bdc901c36c_0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dc901c36c_0_2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g3bdc901c36c_0_2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dc901c36c_0_2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g3bdc901c36c_0_2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bdc901c36c_0_2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g3bdc901c36c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dc901c36c_0_2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3bdc901c36c_0_2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bdc901c36c_0_2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g3bdc901c36c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bdc901c36c_0_2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3bdc901c36c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bdc901c36c_0_2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3bdc901c36c_0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dc901c36c_0_3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g3bdc901c36c_0_3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bdc901c36c_0_3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g3bdc901c36c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dc901c36c_0_3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g3bdc901c36c_0_3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bdc901c36c_0_3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bdc901c36c_0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dc901c36c_0_3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g3bdc901c36c_0_3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bdc901c36c_0_3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g3bdc901c36c_0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dc901c36c_0_3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g3bdc901c36c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bdc901c36c_0_3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g3bdc901c36c_0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bdc901c36c_0_3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3bdc901c36c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bdc901c36c_0_3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3bdc901c36c_0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bdc901c36c_0_3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g3bdc901c36c_0_3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bdc901c36c_0_4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3bdc901c36c_0_4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dc901c36c_0_4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g3bdc901c36c_0_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bdc901c36c_0_4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g3bdc901c36c_0_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bdc901c36c_0_4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3bdc901c36c_0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bdc901c36c_0_4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g3bdc901c36c_0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bdc901c36c_0_4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3bdc901c36c_0_4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bdc901c36c_0_4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g3bdc901c36c_0_4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bdc901c36c_0_4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g3bdc901c36c_0_4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bdc901c36c_0_4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g3bdc901c36c_0_4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bdc901c36c_0_5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g3bdc901c36c_0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bdc901c36c_0_5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g3bdc901c36c_0_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bdc901c36c_0_5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g3bdc901c36c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bdc901c36c_0_5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g3bdc901c36c_0_5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bdc901c36c_0_5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g3bdc901c36c_0_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bdc901c36c_0_5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3bdc901c36c_0_5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bdc901c36c_0_5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g3bdc901c36c_0_5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bdc901c36c_0_5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g3bdc901c36c_0_5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bdc901c36c_0_6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g3bdc901c36c_0_6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bdc901c36c_0_6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g3bdc901c36c_0_6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bdc901c36c_0_6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g3bdc901c36c_0_6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bdc901c36c_0_6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0" name="Google Shape;850;g3bdc901c36c_0_6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bdc901c36c_0_6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g3bdc901c36c_0_6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bdc901c36c_0_7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1" name="Google Shape;891;g3bdc901c36c_0_7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bdc901c36c_0_7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g3bdc901c36c_0_7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bdc901c36c_0_7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 name="Google Shape;948;g3bdc901c36c_0_7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bdc901c36c_0_7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g3bdc901c36c_0_7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bdc901c36c_0_8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3" name="Google Shape;1013;g3bdc901c36c_0_8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bdc901c36c_0_8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0" name="Google Shape;1030;g3bdc901c36c_0_8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bdc901c36c_0_8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g3bdc901c36c_0_8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3bdc901c36c_0_8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3" name="Google Shape;1083;g3bdc901c36c_0_8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bdc901c36c_0_9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g3bdc901c36c_0_9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bdc901c36c_0_9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g3bdc901c36c_0_9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bdc901c36c_0_9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g3bdc901c36c_0_9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c855fc590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g3c855fc590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bdc901c36c_0_9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2" name="Google Shape;1132;g3bdc901c36c_0_9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bdc901c36c_0_9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8" name="Google Shape;1138;g3bdc901c36c_0_9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bdc901c36c_0_9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5" name="Google Shape;1145;g3bdc901c36c_0_9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2" name="Google Shape;115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1" name="Google Shape;117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0" name="Google Shape;118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9" name="Google Shape;118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7" name="Google Shape;119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6" name="Google Shape;120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3c855fc5900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g3c855fc590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2" name="Google Shape;123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5" name="Google Shape;125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7" name="Google Shape;126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8" name="Google Shape;127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6" name="Google Shape;128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6" name="Google Shape;129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c8ecf4c4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3c8ecf4c47b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c8ecf4c47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3c8ecf4c47b_0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3c8ecf4c47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3c8ecf4c47b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c8ecf4c47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3c8ecf4c47b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c8ecf4c47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3c8ecf4c47b_0_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0" name="Google Shape;133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 name="Google Shape;30;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5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6"/>
          <p:cNvSpPr/>
          <p:nvPr>
            <p:ph idx="2" type="pic"/>
          </p:nvPr>
        </p:nvSpPr>
        <p:spPr>
          <a:xfrm>
            <a:off x="5183188" y="987425"/>
            <a:ext cx="6172200" cy="4873625"/>
          </a:xfrm>
          <a:prstGeom prst="rect">
            <a:avLst/>
          </a:prstGeom>
          <a:noFill/>
          <a:ln>
            <a:noFill/>
          </a:ln>
        </p:spPr>
      </p:sp>
      <p:sp>
        <p:nvSpPr>
          <p:cNvPr id="68" name="Google Shape;68;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1_Title and Content">
    <p:spTree>
      <p:nvGrpSpPr>
        <p:cNvPr id="84" name="Shape 84"/>
        <p:cNvGrpSpPr/>
        <p:nvPr/>
      </p:nvGrpSpPr>
      <p:grpSpPr>
        <a:xfrm>
          <a:off x="0" y="0"/>
          <a:ext cx="0" cy="0"/>
          <a:chOff x="0" y="0"/>
          <a:chExt cx="0" cy="0"/>
        </a:xfrm>
      </p:grpSpPr>
      <p:pic>
        <p:nvPicPr>
          <p:cNvPr descr="A white and gold rectangles&#10;&#10;Description automatically generated with low confidence" id="85" name="Google Shape;85;g3bdc901c36c_0_76"/>
          <p:cNvPicPr preferRelativeResize="0"/>
          <p:nvPr/>
        </p:nvPicPr>
        <p:blipFill rotWithShape="1">
          <a:blip r:embed="rId2">
            <a:alphaModFix amt="20000"/>
          </a:blip>
          <a:srcRect b="0" l="0" r="0" t="0"/>
          <a:stretch/>
        </p:blipFill>
        <p:spPr>
          <a:xfrm>
            <a:off x="0" y="15766"/>
            <a:ext cx="12192000" cy="6858002"/>
          </a:xfrm>
          <a:prstGeom prst="rect">
            <a:avLst/>
          </a:prstGeom>
          <a:noFill/>
          <a:ln>
            <a:noFill/>
          </a:ln>
        </p:spPr>
      </p:pic>
      <p:pic>
        <p:nvPicPr>
          <p:cNvPr descr="A picture containing text, logo, font, graphics&#10;&#10;Description automatically generated" id="86" name="Google Shape;86;g3bdc901c36c_0_76"/>
          <p:cNvPicPr preferRelativeResize="0"/>
          <p:nvPr/>
        </p:nvPicPr>
        <p:blipFill rotWithShape="1">
          <a:blip r:embed="rId3">
            <a:alphaModFix/>
          </a:blip>
          <a:srcRect b="0" l="0" r="0" t="0"/>
          <a:stretch/>
        </p:blipFill>
        <p:spPr>
          <a:xfrm>
            <a:off x="9503376" y="1"/>
            <a:ext cx="2688624" cy="1511300"/>
          </a:xfrm>
          <a:prstGeom prst="rect">
            <a:avLst/>
          </a:prstGeom>
          <a:noFill/>
          <a:ln>
            <a:noFill/>
          </a:ln>
        </p:spPr>
      </p:pic>
      <p:sp>
        <p:nvSpPr>
          <p:cNvPr id="87" name="Google Shape;87;g3bdc901c36c_0_76"/>
          <p:cNvSpPr/>
          <p:nvPr/>
        </p:nvSpPr>
        <p:spPr>
          <a:xfrm>
            <a:off x="0" y="6235701"/>
            <a:ext cx="12192000" cy="622200"/>
          </a:xfrm>
          <a:prstGeom prst="round2SameRect">
            <a:avLst>
              <a:gd fmla="val 50000" name="adj1"/>
              <a:gd fmla="val 0" name="adj2"/>
            </a:avLst>
          </a:prstGeom>
          <a:solidFill>
            <a:srgbClr val="2330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 name="Google Shape;88;g3bdc901c36c_0_76"/>
          <p:cNvSpPr/>
          <p:nvPr/>
        </p:nvSpPr>
        <p:spPr>
          <a:xfrm>
            <a:off x="0" y="6812280"/>
            <a:ext cx="12192000" cy="45600"/>
          </a:xfrm>
          <a:prstGeom prst="round2SameRect">
            <a:avLst>
              <a:gd fmla="val 0" name="adj1"/>
              <a:gd fmla="val 0" name="adj2"/>
            </a:avLst>
          </a:prstGeom>
          <a:solidFill>
            <a:srgbClr val="D7AC5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g3bdc901c36c_0_76"/>
          <p:cNvSpPr txBox="1"/>
          <p:nvPr>
            <p:ph idx="10" type="dt"/>
          </p:nvPr>
        </p:nvSpPr>
        <p:spPr>
          <a:xfrm>
            <a:off x="838200" y="6356350"/>
            <a:ext cx="2743200" cy="3651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0" name="Google Shape;90;g3bdc901c36c_0_7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91" name="Google Shape;91;g3bdc901c36c_0_76"/>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hyperlink" Target="https://www.researchgate.net/profile/Sanskruti-Patel-2?_tp=eyJjb250ZXh0Ijp7ImZpcnN0UGFnZSI6Il9kaXJlY3QiLCJwYWdlIjoiX2RpcmVjdCJ9fQ"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ai.stanford.edu/"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s://ai.stanford.edu/"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hyperlink" Target="https://giventofly.github.io/pixelit/" TargetMode="External"/><Relationship Id="rId5" Type="http://schemas.openxmlformats.org/officeDocument/2006/relationships/image" Target="../media/image8.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hyperlink" Target="https://giventofly.github.io/pixelit/" TargetMode="External"/><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hyperlink" Target="https://giventofly.github.io/pixelit/" TargetMode="External"/><Relationship Id="rId5" Type="http://schemas.openxmlformats.org/officeDocument/2006/relationships/image" Target="../media/image15.png"/><Relationship Id="rId6" Type="http://schemas.openxmlformats.org/officeDocument/2006/relationships/image" Target="../media/image30.gif"/><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4.png"/><Relationship Id="rId4" Type="http://schemas.openxmlformats.org/officeDocument/2006/relationships/hyperlink" Target="https://doi.org/10.3390/electronics1111177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jpg"/><Relationship Id="rId4" Type="http://schemas.openxmlformats.org/officeDocument/2006/relationships/image" Target="../media/image31.jpg"/><Relationship Id="rId5" Type="http://schemas.openxmlformats.org/officeDocument/2006/relationships/image" Target="../media/image29.jpg"/><Relationship Id="rId6"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41.png"/><Relationship Id="rId5" Type="http://schemas.openxmlformats.org/officeDocument/2006/relationships/image" Target="../media/image36.png"/><Relationship Id="rId6" Type="http://schemas.openxmlformats.org/officeDocument/2006/relationships/image" Target="../media/image35.png"/><Relationship Id="rId7" Type="http://schemas.openxmlformats.org/officeDocument/2006/relationships/image" Target="../media/image40.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6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5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6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7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7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5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8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6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6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7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7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7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6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6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7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91.png"/><Relationship Id="rId4" Type="http://schemas.openxmlformats.org/officeDocument/2006/relationships/image" Target="../media/image8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79.png"/><Relationship Id="rId4" Type="http://schemas.openxmlformats.org/officeDocument/2006/relationships/image" Target="../media/image78.png"/><Relationship Id="rId5" Type="http://schemas.openxmlformats.org/officeDocument/2006/relationships/image" Target="../media/image77.png"/><Relationship Id="rId6" Type="http://schemas.openxmlformats.org/officeDocument/2006/relationships/image" Target="../media/image82.png"/><Relationship Id="rId7" Type="http://schemas.openxmlformats.org/officeDocument/2006/relationships/image" Target="../media/image7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91.png"/><Relationship Id="rId4" Type="http://schemas.openxmlformats.org/officeDocument/2006/relationships/image" Target="../media/image8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33.png"/><Relationship Id="rId4" Type="http://schemas.openxmlformats.org/officeDocument/2006/relationships/image" Target="../media/image86.png"/><Relationship Id="rId5" Type="http://schemas.openxmlformats.org/officeDocument/2006/relationships/image" Target="../media/image80.png"/><Relationship Id="rId6" Type="http://schemas.openxmlformats.org/officeDocument/2006/relationships/image" Target="../media/image8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1" Type="http://schemas.openxmlformats.org/officeDocument/2006/relationships/image" Target="../media/image96.png"/><Relationship Id="rId10" Type="http://schemas.openxmlformats.org/officeDocument/2006/relationships/image" Target="../media/image105.png"/><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84.png"/><Relationship Id="rId4" Type="http://schemas.openxmlformats.org/officeDocument/2006/relationships/image" Target="../media/image85.png"/><Relationship Id="rId9" Type="http://schemas.openxmlformats.org/officeDocument/2006/relationships/image" Target="../media/image97.png"/><Relationship Id="rId5" Type="http://schemas.openxmlformats.org/officeDocument/2006/relationships/image" Target="../media/image90.png"/><Relationship Id="rId6" Type="http://schemas.openxmlformats.org/officeDocument/2006/relationships/image" Target="../media/image92.png"/><Relationship Id="rId7" Type="http://schemas.openxmlformats.org/officeDocument/2006/relationships/image" Target="../media/image94.png"/><Relationship Id="rId8" Type="http://schemas.openxmlformats.org/officeDocument/2006/relationships/image" Target="../media/image10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9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9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95.png"/><Relationship Id="rId4" Type="http://schemas.openxmlformats.org/officeDocument/2006/relationships/image" Target="../media/image99.png"/><Relationship Id="rId5" Type="http://schemas.openxmlformats.org/officeDocument/2006/relationships/image" Target="../media/image102.png"/><Relationship Id="rId6" Type="http://schemas.openxmlformats.org/officeDocument/2006/relationships/image" Target="../media/image134.png"/><Relationship Id="rId7" Type="http://schemas.openxmlformats.org/officeDocument/2006/relationships/image" Target="../media/image116.png"/></Relationships>
</file>

<file path=ppt/slides/_rels/slide72.xml.rels><?xml version="1.0" encoding="UTF-8" standalone="yes"?><Relationships xmlns="http://schemas.openxmlformats.org/package/2006/relationships"><Relationship Id="rId10" Type="http://schemas.openxmlformats.org/officeDocument/2006/relationships/image" Target="../media/image109.png"/><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04.png"/><Relationship Id="rId4" Type="http://schemas.openxmlformats.org/officeDocument/2006/relationships/image" Target="../media/image107.png"/><Relationship Id="rId9" Type="http://schemas.openxmlformats.org/officeDocument/2006/relationships/image" Target="../media/image108.png"/><Relationship Id="rId5" Type="http://schemas.openxmlformats.org/officeDocument/2006/relationships/image" Target="../media/image118.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11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11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11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11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11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11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13.png"/><Relationship Id="rId4" Type="http://schemas.openxmlformats.org/officeDocument/2006/relationships/image" Target="../media/image117.png"/><Relationship Id="rId9" Type="http://schemas.openxmlformats.org/officeDocument/2006/relationships/image" Target="../media/image111.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9.png"/><Relationship Id="rId8" Type="http://schemas.openxmlformats.org/officeDocument/2006/relationships/image" Target="../media/image12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2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2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2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31.png"/><Relationship Id="rId4" Type="http://schemas.openxmlformats.org/officeDocument/2006/relationships/image" Target="../media/image12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136.png"/><Relationship Id="rId4" Type="http://schemas.openxmlformats.org/officeDocument/2006/relationships/image" Target="../media/image141.png"/><Relationship Id="rId5" Type="http://schemas.openxmlformats.org/officeDocument/2006/relationships/image" Target="../media/image13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130.png"/><Relationship Id="rId4" Type="http://schemas.openxmlformats.org/officeDocument/2006/relationships/image" Target="../media/image128.png"/><Relationship Id="rId5" Type="http://schemas.openxmlformats.org/officeDocument/2006/relationships/image" Target="../media/image11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143.png"/><Relationship Id="rId4" Type="http://schemas.openxmlformats.org/officeDocument/2006/relationships/image" Target="../media/image13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3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42.png"/><Relationship Id="rId4" Type="http://schemas.openxmlformats.org/officeDocument/2006/relationships/image" Target="../media/image13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139.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4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4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4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4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4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309465" y="2252290"/>
            <a:ext cx="12649512" cy="111199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Bookman Old Style"/>
              <a:buNone/>
            </a:pPr>
            <a:r>
              <a:rPr lang="en-IN">
                <a:latin typeface="Bookman Old Style"/>
                <a:ea typeface="Bookman Old Style"/>
                <a:cs typeface="Bookman Old Style"/>
                <a:sym typeface="Bookman Old Style"/>
              </a:rPr>
              <a:t>Unit 2:</a:t>
            </a:r>
            <a:br>
              <a:rPr lang="en-IN">
                <a:latin typeface="Bookman Old Style"/>
                <a:ea typeface="Bookman Old Style"/>
                <a:cs typeface="Bookman Old Style"/>
                <a:sym typeface="Bookman Old Style"/>
              </a:rPr>
            </a:br>
            <a:r>
              <a:rPr lang="en-IN">
                <a:latin typeface="Bookman Old Style"/>
                <a:ea typeface="Bookman Old Style"/>
                <a:cs typeface="Bookman Old Style"/>
                <a:sym typeface="Bookman Old Style"/>
              </a:rPr>
              <a:t>Convolutional Neural Networks (CNN)</a:t>
            </a:r>
            <a:endParaRPr>
              <a:latin typeface="Bookman Old Style"/>
              <a:ea typeface="Bookman Old Style"/>
              <a:cs typeface="Bookman Old Style"/>
              <a:sym typeface="Bookman Old Style"/>
            </a:endParaRPr>
          </a:p>
        </p:txBody>
      </p:sp>
      <p:sp>
        <p:nvSpPr>
          <p:cNvPr id="97" name="Google Shape;97;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98" name="Google Shape;98;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99" name="Google Shape;9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179182" y="2046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Contents</a:t>
            </a:r>
            <a:endParaRPr>
              <a:latin typeface="Bookman Old Style"/>
              <a:ea typeface="Bookman Old Style"/>
              <a:cs typeface="Bookman Old Style"/>
              <a:sym typeface="Bookman Old Style"/>
            </a:endParaRPr>
          </a:p>
        </p:txBody>
      </p:sp>
      <p:sp>
        <p:nvSpPr>
          <p:cNvPr id="105" name="Google Shape;105;p2"/>
          <p:cNvSpPr txBox="1"/>
          <p:nvPr>
            <p:ph idx="1" type="body"/>
          </p:nvPr>
        </p:nvSpPr>
        <p:spPr>
          <a:xfrm>
            <a:off x="179182" y="1446216"/>
            <a:ext cx="11709400" cy="4667539"/>
          </a:xfrm>
          <a:prstGeom prst="rect">
            <a:avLst/>
          </a:prstGeom>
          <a:noFill/>
          <a:ln>
            <a:noFill/>
          </a:ln>
        </p:spPr>
        <p:txBody>
          <a:bodyPr anchorCtr="0" anchor="t" bIns="45700" lIns="91425" spcFirstLastPara="1" rIns="91425" wrap="square" tIns="45700">
            <a:noAutofit/>
          </a:bodyPr>
          <a:lstStyle/>
          <a:p>
            <a:pPr indent="-228600" lvl="0" marL="228600" rtl="0" algn="l">
              <a:lnSpc>
                <a:spcPct val="150000"/>
              </a:lnSpc>
              <a:spcBef>
                <a:spcPts val="0"/>
              </a:spcBef>
              <a:spcAft>
                <a:spcPts val="0"/>
              </a:spcAft>
              <a:buClr>
                <a:srgbClr val="C00000"/>
              </a:buClr>
              <a:buSzPts val="1800"/>
              <a:buFont typeface="Noto Sans Symbols"/>
              <a:buChar char="⮚"/>
            </a:pPr>
            <a:r>
              <a:rPr b="1" lang="en-IN" sz="1800">
                <a:solidFill>
                  <a:srgbClr val="C00000"/>
                </a:solidFill>
                <a:latin typeface="Bookman Old Style"/>
                <a:ea typeface="Bookman Old Style"/>
                <a:cs typeface="Bookman Old Style"/>
                <a:sym typeface="Bookman Old Style"/>
              </a:rPr>
              <a:t>Components of CNN</a:t>
            </a:r>
            <a:r>
              <a:rPr lang="en-IN" sz="1800">
                <a:latin typeface="Bookman Old Style"/>
                <a:ea typeface="Bookman Old Style"/>
                <a:cs typeface="Bookman Old Style"/>
                <a:sym typeface="Bookman Old Style"/>
              </a:rPr>
              <a:t>	</a:t>
            </a:r>
            <a:endParaRPr/>
          </a:p>
          <a:p>
            <a:pPr indent="-228600" lvl="1" marL="685800" rtl="0" algn="l">
              <a:lnSpc>
                <a:spcPct val="150000"/>
              </a:lnSpc>
              <a:spcBef>
                <a:spcPts val="500"/>
              </a:spcBef>
              <a:spcAft>
                <a:spcPts val="0"/>
              </a:spcAft>
              <a:buClr>
                <a:srgbClr val="7030A0"/>
              </a:buClr>
              <a:buSzPts val="1800"/>
              <a:buFont typeface="Noto Sans Symbols"/>
              <a:buChar char="✔"/>
            </a:pPr>
            <a:r>
              <a:rPr lang="en-IN" sz="1800">
                <a:solidFill>
                  <a:srgbClr val="7030A0"/>
                </a:solidFill>
                <a:latin typeface="Bookman Old Style"/>
                <a:ea typeface="Bookman Old Style"/>
                <a:cs typeface="Bookman Old Style"/>
                <a:sym typeface="Bookman Old Style"/>
              </a:rPr>
              <a:t> Fundamentals of image representation</a:t>
            </a:r>
            <a:endParaRPr/>
          </a:p>
          <a:p>
            <a:pPr indent="-228600" lvl="0" marL="228600" rtl="0" algn="l">
              <a:lnSpc>
                <a:spcPct val="150000"/>
              </a:lnSpc>
              <a:spcBef>
                <a:spcPts val="1000"/>
              </a:spcBef>
              <a:spcAft>
                <a:spcPts val="0"/>
              </a:spcAft>
              <a:buClr>
                <a:srgbClr val="C00000"/>
              </a:buClr>
              <a:buSzPts val="1800"/>
              <a:buFont typeface="Noto Sans Symbols"/>
              <a:buChar char="⮚"/>
            </a:pPr>
            <a:r>
              <a:rPr b="1" lang="en-IN" sz="1800">
                <a:solidFill>
                  <a:srgbClr val="C00000"/>
                </a:solidFill>
                <a:latin typeface="Bookman Old Style"/>
                <a:ea typeface="Bookman Old Style"/>
                <a:cs typeface="Bookman Old Style"/>
                <a:sym typeface="Bookman Old Style"/>
              </a:rPr>
              <a:t>Introduction to Convolutional Neural Networks</a:t>
            </a:r>
            <a:endParaRPr/>
          </a:p>
          <a:p>
            <a:pPr indent="-228600" lvl="1" marL="685800" rtl="0" algn="l">
              <a:lnSpc>
                <a:spcPct val="150000"/>
              </a:lnSpc>
              <a:spcBef>
                <a:spcPts val="500"/>
              </a:spcBef>
              <a:spcAft>
                <a:spcPts val="0"/>
              </a:spcAft>
              <a:buClr>
                <a:schemeClr val="dk1"/>
              </a:buClr>
              <a:buSzPts val="1600"/>
              <a:buFont typeface="Noto Sans Symbols"/>
              <a:buChar char="✔"/>
            </a:pPr>
            <a:r>
              <a:rPr lang="en-IN" sz="1600">
                <a:latin typeface="Bookman Old Style"/>
                <a:ea typeface="Bookman Old Style"/>
                <a:cs typeface="Bookman Old Style"/>
                <a:sym typeface="Bookman Old Style"/>
              </a:rPr>
              <a:t> </a:t>
            </a:r>
            <a:r>
              <a:rPr lang="en-IN" sz="1800">
                <a:solidFill>
                  <a:srgbClr val="7030A0"/>
                </a:solidFill>
                <a:latin typeface="Bookman Old Style"/>
                <a:ea typeface="Bookman Old Style"/>
                <a:cs typeface="Bookman Old Style"/>
                <a:sym typeface="Bookman Old Style"/>
              </a:rPr>
              <a:t>Layers in CNN </a:t>
            </a:r>
            <a:endParaRPr/>
          </a:p>
          <a:p>
            <a:pPr indent="-228600" lvl="1" marL="685800" rtl="0" algn="l">
              <a:lnSpc>
                <a:spcPct val="150000"/>
              </a:lnSpc>
              <a:spcBef>
                <a:spcPts val="500"/>
              </a:spcBef>
              <a:spcAft>
                <a:spcPts val="0"/>
              </a:spcAft>
              <a:buClr>
                <a:srgbClr val="7030A0"/>
              </a:buClr>
              <a:buSzPts val="1800"/>
              <a:buFont typeface="Noto Sans Symbols"/>
              <a:buChar char="✔"/>
            </a:pPr>
            <a:r>
              <a:rPr lang="en-IN" sz="1800">
                <a:solidFill>
                  <a:srgbClr val="7030A0"/>
                </a:solidFill>
                <a:latin typeface="Bookman Old Style"/>
                <a:ea typeface="Bookman Old Style"/>
                <a:cs typeface="Bookman Old Style"/>
                <a:sym typeface="Bookman Old Style"/>
              </a:rPr>
              <a:t>Types of convolutions.</a:t>
            </a:r>
            <a:endParaRPr/>
          </a:p>
          <a:p>
            <a:pPr indent="-228600" lvl="0" marL="228600" rtl="0" algn="l">
              <a:lnSpc>
                <a:spcPct val="150000"/>
              </a:lnSpc>
              <a:spcBef>
                <a:spcPts val="1000"/>
              </a:spcBef>
              <a:spcAft>
                <a:spcPts val="0"/>
              </a:spcAft>
              <a:buClr>
                <a:srgbClr val="C00000"/>
              </a:buClr>
              <a:buSzPts val="1800"/>
              <a:buFont typeface="Noto Sans Symbols"/>
              <a:buChar char="⮚"/>
            </a:pPr>
            <a:r>
              <a:rPr b="1" lang="en-IN" sz="1800">
                <a:solidFill>
                  <a:srgbClr val="C00000"/>
                </a:solidFill>
                <a:latin typeface="Bookman Old Style"/>
                <a:ea typeface="Bookman Old Style"/>
                <a:cs typeface="Bookman Old Style"/>
                <a:sym typeface="Bookman Old Style"/>
              </a:rPr>
              <a:t>Standard CNN models: </a:t>
            </a:r>
            <a:r>
              <a:rPr lang="en-IN" sz="1800">
                <a:latin typeface="Bookman Old Style"/>
                <a:ea typeface="Bookman Old Style"/>
                <a:cs typeface="Bookman Old Style"/>
                <a:sym typeface="Bookman Old Style"/>
              </a:rPr>
              <a:t>AlexNet, VGGNet, GoogLeNet, ResNet, Inception (Hands-on). </a:t>
            </a:r>
            <a:endParaRPr/>
          </a:p>
          <a:p>
            <a:pPr indent="-228600" lvl="0" marL="228600" rtl="0" algn="l">
              <a:lnSpc>
                <a:spcPct val="150000"/>
              </a:lnSpc>
              <a:spcBef>
                <a:spcPts val="1000"/>
              </a:spcBef>
              <a:spcAft>
                <a:spcPts val="0"/>
              </a:spcAft>
              <a:buClr>
                <a:srgbClr val="C00000"/>
              </a:buClr>
              <a:buSzPts val="1800"/>
              <a:buFont typeface="Noto Sans Symbols"/>
              <a:buChar char="⮚"/>
            </a:pPr>
            <a:r>
              <a:rPr b="1" lang="en-IN" sz="1800">
                <a:solidFill>
                  <a:srgbClr val="C00000"/>
                </a:solidFill>
                <a:latin typeface="Bookman Old Style"/>
                <a:ea typeface="Bookman Old Style"/>
                <a:cs typeface="Bookman Old Style"/>
                <a:sym typeface="Bookman Old Style"/>
              </a:rPr>
              <a:t>Implementation of CNN using Keras</a:t>
            </a:r>
            <a:endParaRPr/>
          </a:p>
          <a:p>
            <a:pPr indent="-228600" lvl="1" marL="685800" rtl="0" algn="l">
              <a:lnSpc>
                <a:spcPct val="150000"/>
              </a:lnSpc>
              <a:spcBef>
                <a:spcPts val="500"/>
              </a:spcBef>
              <a:spcAft>
                <a:spcPts val="0"/>
              </a:spcAft>
              <a:buClr>
                <a:srgbClr val="7030A0"/>
              </a:buClr>
              <a:buSzPts val="1800"/>
              <a:buFont typeface="Noto Sans Symbols"/>
              <a:buChar char="✔"/>
            </a:pPr>
            <a:r>
              <a:rPr lang="en-IN" sz="1800">
                <a:solidFill>
                  <a:srgbClr val="7030A0"/>
                </a:solidFill>
                <a:latin typeface="Bookman Old Style"/>
                <a:ea typeface="Bookman Old Style"/>
                <a:cs typeface="Bookman Old Style"/>
                <a:sym typeface="Bookman Old Style"/>
              </a:rPr>
              <a:t> Basic model </a:t>
            </a:r>
            <a:endParaRPr/>
          </a:p>
          <a:p>
            <a:pPr indent="-228600" lvl="1" marL="685800" rtl="0" algn="l">
              <a:lnSpc>
                <a:spcPct val="150000"/>
              </a:lnSpc>
              <a:spcBef>
                <a:spcPts val="500"/>
              </a:spcBef>
              <a:spcAft>
                <a:spcPts val="0"/>
              </a:spcAft>
              <a:buClr>
                <a:srgbClr val="7030A0"/>
              </a:buClr>
              <a:buSzPts val="1800"/>
              <a:buFont typeface="Noto Sans Symbols"/>
              <a:buChar char="✔"/>
            </a:pPr>
            <a:r>
              <a:rPr lang="en-IN" sz="1800">
                <a:solidFill>
                  <a:srgbClr val="7030A0"/>
                </a:solidFill>
                <a:latin typeface="Bookman Old Style"/>
                <a:ea typeface="Bookman Old Style"/>
                <a:cs typeface="Bookman Old Style"/>
                <a:sym typeface="Bookman Old Style"/>
              </a:rPr>
              <a:t> Transfer Learning</a:t>
            </a:r>
            <a:endParaRPr/>
          </a:p>
          <a:p>
            <a:pPr indent="0" lvl="0" marL="0" rtl="0" algn="l">
              <a:lnSpc>
                <a:spcPct val="90000"/>
              </a:lnSpc>
              <a:spcBef>
                <a:spcPts val="1000"/>
              </a:spcBef>
              <a:spcAft>
                <a:spcPts val="0"/>
              </a:spcAft>
              <a:buClr>
                <a:schemeClr val="dk1"/>
              </a:buClr>
              <a:buSzPts val="2000"/>
              <a:buNone/>
            </a:pPr>
            <a:r>
              <a:t/>
            </a:r>
            <a:endParaRPr sz="2000"/>
          </a:p>
        </p:txBody>
      </p:sp>
      <p:sp>
        <p:nvSpPr>
          <p:cNvPr id="106" name="Google Shape;10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07" name="Google Shape;10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08" name="Google Shape;10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626533"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Session 1</a:t>
            </a:r>
            <a:endParaRPr>
              <a:latin typeface="Bookman Old Style"/>
              <a:ea typeface="Bookman Old Style"/>
              <a:cs typeface="Bookman Old Style"/>
              <a:sym typeface="Bookman Old Style"/>
            </a:endParaRPr>
          </a:p>
        </p:txBody>
      </p:sp>
      <p:sp>
        <p:nvSpPr>
          <p:cNvPr id="114" name="Google Shape;114;p3"/>
          <p:cNvSpPr txBox="1"/>
          <p:nvPr>
            <p:ph idx="1" type="body"/>
          </p:nvPr>
        </p:nvSpPr>
        <p:spPr>
          <a:xfrm>
            <a:off x="499533" y="169068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rgbClr val="C00000"/>
              </a:buClr>
              <a:buSzPts val="2400"/>
              <a:buFont typeface="Noto Sans Symbols"/>
              <a:buChar char="⮚"/>
            </a:pPr>
            <a:r>
              <a:rPr b="1" lang="en-IN" sz="2400">
                <a:solidFill>
                  <a:srgbClr val="C00000"/>
                </a:solidFill>
                <a:latin typeface="Bookman Old Style"/>
                <a:ea typeface="Bookman Old Style"/>
                <a:cs typeface="Bookman Old Style"/>
                <a:sym typeface="Bookman Old Style"/>
              </a:rPr>
              <a:t> Components of CNN</a:t>
            </a:r>
            <a:r>
              <a:rPr lang="en-IN" sz="2400">
                <a:latin typeface="Bookman Old Style"/>
                <a:ea typeface="Bookman Old Style"/>
                <a:cs typeface="Bookman Old Style"/>
                <a:sym typeface="Bookman Old Style"/>
              </a:rPr>
              <a:t>	</a:t>
            </a:r>
            <a:endParaRPr/>
          </a:p>
          <a:p>
            <a:pPr indent="-228600" lvl="1" marL="685800" rtl="0" algn="l">
              <a:lnSpc>
                <a:spcPct val="150000"/>
              </a:lnSpc>
              <a:spcBef>
                <a:spcPts val="500"/>
              </a:spcBef>
              <a:spcAft>
                <a:spcPts val="0"/>
              </a:spcAft>
              <a:buClr>
                <a:srgbClr val="7030A0"/>
              </a:buClr>
              <a:buSzPts val="2000"/>
              <a:buFont typeface="Noto Sans Symbols"/>
              <a:buChar char="✔"/>
            </a:pPr>
            <a:r>
              <a:rPr lang="en-IN" sz="2000">
                <a:solidFill>
                  <a:srgbClr val="7030A0"/>
                </a:solidFill>
                <a:latin typeface="Bookman Old Style"/>
                <a:ea typeface="Bookman Old Style"/>
                <a:cs typeface="Bookman Old Style"/>
                <a:sym typeface="Bookman Old Style"/>
              </a:rPr>
              <a:t> </a:t>
            </a:r>
            <a:r>
              <a:rPr lang="en-IN">
                <a:solidFill>
                  <a:srgbClr val="7030A0"/>
                </a:solidFill>
                <a:latin typeface="Bookman Old Style"/>
                <a:ea typeface="Bookman Old Style"/>
                <a:cs typeface="Bookman Old Style"/>
                <a:sym typeface="Bookman Old Style"/>
              </a:rPr>
              <a:t>Fundamentals of image representation</a:t>
            </a:r>
            <a:endParaRPr/>
          </a:p>
          <a:p>
            <a:pPr indent="-228600" lvl="1" marL="685800" rtl="0" algn="l">
              <a:lnSpc>
                <a:spcPct val="150000"/>
              </a:lnSpc>
              <a:spcBef>
                <a:spcPts val="500"/>
              </a:spcBef>
              <a:spcAft>
                <a:spcPts val="0"/>
              </a:spcAft>
              <a:buClr>
                <a:srgbClr val="7030A0"/>
              </a:buClr>
              <a:buSzPts val="2400"/>
              <a:buFont typeface="Noto Sans Symbols"/>
              <a:buChar char="✔"/>
            </a:pPr>
            <a:r>
              <a:rPr lang="en-IN">
                <a:solidFill>
                  <a:srgbClr val="7030A0"/>
                </a:solidFill>
                <a:latin typeface="Bookman Old Style"/>
                <a:ea typeface="Bookman Old Style"/>
                <a:cs typeface="Bookman Old Style"/>
                <a:sym typeface="Bookman Old Style"/>
              </a:rPr>
              <a:t> Number of channels</a:t>
            </a:r>
            <a:endParaRPr/>
          </a:p>
          <a:p>
            <a:pPr indent="-228600" lvl="1" marL="685800" rtl="0" algn="l">
              <a:lnSpc>
                <a:spcPct val="150000"/>
              </a:lnSpc>
              <a:spcBef>
                <a:spcPts val="500"/>
              </a:spcBef>
              <a:spcAft>
                <a:spcPts val="0"/>
              </a:spcAft>
              <a:buClr>
                <a:srgbClr val="7030A0"/>
              </a:buClr>
              <a:buSzPts val="2400"/>
              <a:buFont typeface="Noto Sans Symbols"/>
              <a:buChar char="✔"/>
            </a:pPr>
            <a:r>
              <a:rPr lang="en-IN">
                <a:solidFill>
                  <a:srgbClr val="7030A0"/>
                </a:solidFill>
                <a:latin typeface="Bookman Old Style"/>
                <a:ea typeface="Bookman Old Style"/>
                <a:cs typeface="Bookman Old Style"/>
                <a:sym typeface="Bookman Old Style"/>
              </a:rPr>
              <a:t> Why not use Fully Connected NN for Images?</a:t>
            </a:r>
            <a:endParaRPr/>
          </a:p>
          <a:p>
            <a:pPr indent="-228600" lvl="1" marL="685800" rtl="0" algn="l">
              <a:lnSpc>
                <a:spcPct val="150000"/>
              </a:lnSpc>
              <a:spcBef>
                <a:spcPts val="500"/>
              </a:spcBef>
              <a:spcAft>
                <a:spcPts val="0"/>
              </a:spcAft>
              <a:buClr>
                <a:srgbClr val="7030A0"/>
              </a:buClr>
              <a:buSzPts val="2400"/>
              <a:buFont typeface="Noto Sans Symbols"/>
              <a:buChar char="✔"/>
            </a:pPr>
            <a:r>
              <a:rPr lang="en-IN">
                <a:solidFill>
                  <a:srgbClr val="7030A0"/>
                </a:solidFill>
                <a:latin typeface="Bookman Old Style"/>
                <a:ea typeface="Bookman Old Style"/>
                <a:cs typeface="Bookman Old Style"/>
                <a:sym typeface="Bookman Old Style"/>
              </a:rPr>
              <a:t> Preprocessing and how to store the data</a:t>
            </a:r>
            <a:endParaRPr/>
          </a:p>
          <a:p>
            <a:pPr indent="0" lvl="0" marL="0" rtl="0" algn="l">
              <a:lnSpc>
                <a:spcPct val="90000"/>
              </a:lnSpc>
              <a:spcBef>
                <a:spcPts val="1000"/>
              </a:spcBef>
              <a:spcAft>
                <a:spcPts val="0"/>
              </a:spcAft>
              <a:buClr>
                <a:schemeClr val="dk1"/>
              </a:buClr>
              <a:buSzPts val="2800"/>
              <a:buNone/>
            </a:pPr>
            <a:r>
              <a:t/>
            </a:r>
            <a:endParaRPr/>
          </a:p>
        </p:txBody>
      </p:sp>
      <p:sp>
        <p:nvSpPr>
          <p:cNvPr id="115" name="Google Shape;11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16" name="Google Shape;11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17" name="Google Shape;11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274810" y="316127"/>
            <a:ext cx="1121695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Image types</a:t>
            </a:r>
            <a:endParaRPr/>
          </a:p>
        </p:txBody>
      </p:sp>
      <p:pic>
        <p:nvPicPr>
          <p:cNvPr id="123" name="Google Shape;123;p4"/>
          <p:cNvPicPr preferRelativeResize="0"/>
          <p:nvPr>
            <p:ph idx="1" type="body"/>
          </p:nvPr>
        </p:nvPicPr>
        <p:blipFill rotWithShape="1">
          <a:blip r:embed="rId3">
            <a:alphaModFix/>
          </a:blip>
          <a:srcRect b="0" l="0" r="0" t="0"/>
          <a:stretch/>
        </p:blipFill>
        <p:spPr>
          <a:xfrm>
            <a:off x="433270" y="1601651"/>
            <a:ext cx="11267316" cy="3225662"/>
          </a:xfrm>
          <a:prstGeom prst="rect">
            <a:avLst/>
          </a:prstGeom>
          <a:noFill/>
          <a:ln>
            <a:noFill/>
          </a:ln>
        </p:spPr>
      </p:pic>
      <p:sp>
        <p:nvSpPr>
          <p:cNvPr id="124" name="Google Shape;1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5" name="Google Shape;1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6" name="Google Shape;1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7" name="Google Shape;127;p4"/>
          <p:cNvSpPr/>
          <p:nvPr/>
        </p:nvSpPr>
        <p:spPr>
          <a:xfrm>
            <a:off x="1313561" y="5019427"/>
            <a:ext cx="17924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rgbClr val="C00000"/>
                </a:solidFill>
                <a:latin typeface="Bookman Old Style"/>
                <a:ea typeface="Bookman Old Style"/>
                <a:cs typeface="Bookman Old Style"/>
                <a:sym typeface="Bookman Old Style"/>
              </a:rPr>
              <a:t>(a) RGB image</a:t>
            </a:r>
            <a:endParaRPr b="0" i="0" sz="1800">
              <a:solidFill>
                <a:srgbClr val="C00000"/>
              </a:solidFill>
              <a:latin typeface="Bookman Old Style"/>
              <a:ea typeface="Bookman Old Style"/>
              <a:cs typeface="Bookman Old Style"/>
              <a:sym typeface="Bookman Old Style"/>
            </a:endParaRPr>
          </a:p>
        </p:txBody>
      </p:sp>
      <p:sp>
        <p:nvSpPr>
          <p:cNvPr id="128" name="Google Shape;128;p4"/>
          <p:cNvSpPr/>
          <p:nvPr/>
        </p:nvSpPr>
        <p:spPr>
          <a:xfrm>
            <a:off x="4490081" y="5017409"/>
            <a:ext cx="23871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757070"/>
                </a:solidFill>
                <a:latin typeface="Bookman Old Style"/>
                <a:ea typeface="Bookman Old Style"/>
                <a:cs typeface="Bookman Old Style"/>
                <a:sym typeface="Bookman Old Style"/>
              </a:rPr>
              <a:t>(b) Grayscale image</a:t>
            </a:r>
            <a:endParaRPr b="0" i="0" sz="1800">
              <a:solidFill>
                <a:srgbClr val="757070"/>
              </a:solidFill>
              <a:latin typeface="Bookman Old Style"/>
              <a:ea typeface="Bookman Old Style"/>
              <a:cs typeface="Bookman Old Style"/>
              <a:sym typeface="Bookman Old Style"/>
            </a:endParaRPr>
          </a:p>
        </p:txBody>
      </p:sp>
      <p:sp>
        <p:nvSpPr>
          <p:cNvPr id="129" name="Google Shape;129;p4"/>
          <p:cNvSpPr/>
          <p:nvPr/>
        </p:nvSpPr>
        <p:spPr>
          <a:xfrm>
            <a:off x="8815334" y="5048806"/>
            <a:ext cx="20088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111111"/>
                </a:solidFill>
                <a:latin typeface="Bookman Old Style"/>
                <a:ea typeface="Bookman Old Style"/>
                <a:cs typeface="Bookman Old Style"/>
                <a:sym typeface="Bookman Old Style"/>
              </a:rPr>
              <a:t>(c) Binary image</a:t>
            </a:r>
            <a:endParaRPr b="0" i="0" sz="1800">
              <a:solidFill>
                <a:srgbClr val="111111"/>
              </a:solidFill>
              <a:latin typeface="Bookman Old Style"/>
              <a:ea typeface="Bookman Old Style"/>
              <a:cs typeface="Bookman Old Style"/>
              <a:sym typeface="Bookman Old Style"/>
            </a:endParaRPr>
          </a:p>
        </p:txBody>
      </p:sp>
      <p:sp>
        <p:nvSpPr>
          <p:cNvPr id="130" name="Google Shape;130;p4"/>
          <p:cNvSpPr/>
          <p:nvPr/>
        </p:nvSpPr>
        <p:spPr>
          <a:xfrm>
            <a:off x="8815334" y="6143032"/>
            <a:ext cx="341792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a:solidFill>
                  <a:srgbClr val="111111"/>
                </a:solidFill>
                <a:latin typeface="Bookman Old Style"/>
                <a:ea typeface="Bookman Old Style"/>
                <a:cs typeface="Bookman Old Style"/>
                <a:sym typeface="Bookman Old Style"/>
              </a:rPr>
              <a:t>Image source: </a:t>
            </a:r>
            <a:endParaRPr/>
          </a:p>
          <a:p>
            <a:pPr indent="0" lvl="0" marL="0" marR="0" rtl="0" algn="l">
              <a:spcBef>
                <a:spcPts val="0"/>
              </a:spcBef>
              <a:spcAft>
                <a:spcPts val="0"/>
              </a:spcAft>
              <a:buNone/>
            </a:pPr>
            <a:r>
              <a:rPr lang="en-IN" sz="1400">
                <a:solidFill>
                  <a:srgbClr val="111111"/>
                </a:solidFill>
                <a:latin typeface="Bookman Old Style"/>
                <a:ea typeface="Bookman Old Style"/>
                <a:cs typeface="Bookman Old Style"/>
                <a:sym typeface="Bookman Old Style"/>
              </a:rPr>
              <a:t>Figure - uploaded by </a:t>
            </a:r>
            <a:r>
              <a:rPr lang="en-IN" sz="1400" u="sng">
                <a:solidFill>
                  <a:srgbClr val="111111"/>
                </a:solidFill>
                <a:latin typeface="Bookman Old Style"/>
                <a:ea typeface="Bookman Old Style"/>
                <a:cs typeface="Bookman Old Style"/>
                <a:sym typeface="Bookman Old Style"/>
                <a:hlinkClick r:id="rId4">
                  <a:extLst>
                    <a:ext uri="{A12FA001-AC4F-418D-AE19-62706E023703}">
                      <ahyp:hlinkClr val="tx"/>
                    </a:ext>
                  </a:extLst>
                </a:hlinkClick>
              </a:rPr>
              <a:t>Sanskruti Patel</a:t>
            </a:r>
            <a:endParaRPr sz="1400">
              <a:solidFill>
                <a:schemeClr val="dk1"/>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36" name="Google Shape;1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37" name="Google Shape;1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8" name="Google Shape;138;p5"/>
          <p:cNvSpPr txBox="1"/>
          <p:nvPr>
            <p:ph type="title"/>
          </p:nvPr>
        </p:nvSpPr>
        <p:spPr>
          <a:xfrm>
            <a:off x="213049" y="2773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Image representation</a:t>
            </a:r>
            <a:endParaRPr>
              <a:latin typeface="Bookman Old Style"/>
              <a:ea typeface="Bookman Old Style"/>
              <a:cs typeface="Bookman Old Style"/>
              <a:sym typeface="Bookman Old Style"/>
            </a:endParaRPr>
          </a:p>
        </p:txBody>
      </p:sp>
      <p:sp>
        <p:nvSpPr>
          <p:cNvPr id="139" name="Google Shape;139;p5"/>
          <p:cNvSpPr/>
          <p:nvPr/>
        </p:nvSpPr>
        <p:spPr>
          <a:xfrm>
            <a:off x="838200" y="1346855"/>
            <a:ext cx="69012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An image is a grid of </a:t>
            </a:r>
            <a:r>
              <a:rPr b="1" lang="en-IN" sz="1800">
                <a:solidFill>
                  <a:schemeClr val="dk1"/>
                </a:solidFill>
                <a:latin typeface="Bookman Old Style"/>
                <a:ea typeface="Bookman Old Style"/>
                <a:cs typeface="Bookman Old Style"/>
                <a:sym typeface="Bookman Old Style"/>
              </a:rPr>
              <a:t>pixel values</a:t>
            </a:r>
            <a:r>
              <a:rPr lang="en-IN" sz="1800">
                <a:solidFill>
                  <a:schemeClr val="dk1"/>
                </a:solidFill>
                <a:latin typeface="Bookman Old Style"/>
                <a:ea typeface="Bookman Old Style"/>
                <a:cs typeface="Bookman Old Style"/>
                <a:sym typeface="Bookman Old Style"/>
              </a:rPr>
              <a:t>, which are just numbers.</a:t>
            </a:r>
            <a:endParaRPr sz="1800">
              <a:solidFill>
                <a:schemeClr val="dk1"/>
              </a:solidFill>
              <a:latin typeface="Bookman Old Style"/>
              <a:ea typeface="Bookman Old Style"/>
              <a:cs typeface="Bookman Old Style"/>
              <a:sym typeface="Bookman Old Style"/>
            </a:endParaRPr>
          </a:p>
        </p:txBody>
      </p:sp>
      <p:sp>
        <p:nvSpPr>
          <p:cNvPr id="140" name="Google Shape;140;p5"/>
          <p:cNvSpPr/>
          <p:nvPr/>
        </p:nvSpPr>
        <p:spPr>
          <a:xfrm>
            <a:off x="8750837" y="5948951"/>
            <a:ext cx="241444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u="sng">
                <a:solidFill>
                  <a:schemeClr val="dk1"/>
                </a:solidFill>
                <a:latin typeface="Bookman Old Style"/>
                <a:ea typeface="Bookman Old Style"/>
                <a:cs typeface="Bookman Old Style"/>
                <a:sym typeface="Bookman Old Style"/>
                <a:hlinkClick r:id="rId3">
                  <a:extLst>
                    <a:ext uri="{A12FA001-AC4F-418D-AE19-62706E023703}">
                      <ahyp:hlinkClr val="tx"/>
                    </a:ext>
                  </a:extLst>
                </a:hlinkClick>
              </a:rPr>
              <a:t>https://ai.stanford.edu/</a:t>
            </a:r>
            <a:r>
              <a:rPr lang="en-IN" sz="1400">
                <a:solidFill>
                  <a:schemeClr val="dk1"/>
                </a:solidFill>
                <a:latin typeface="Bookman Old Style"/>
                <a:ea typeface="Bookman Old Style"/>
                <a:cs typeface="Bookman Old Style"/>
                <a:sym typeface="Bookman Old Style"/>
              </a:rPr>
              <a:t> </a:t>
            </a:r>
            <a:endParaRPr/>
          </a:p>
        </p:txBody>
      </p:sp>
      <p:pic>
        <p:nvPicPr>
          <p:cNvPr id="141" name="Google Shape;141;p5"/>
          <p:cNvPicPr preferRelativeResize="0"/>
          <p:nvPr/>
        </p:nvPicPr>
        <p:blipFill rotWithShape="1">
          <a:blip r:embed="rId4">
            <a:alphaModFix/>
          </a:blip>
          <a:srcRect b="0" l="0" r="0" t="0"/>
          <a:stretch/>
        </p:blipFill>
        <p:spPr>
          <a:xfrm>
            <a:off x="746450" y="1702513"/>
            <a:ext cx="8755083" cy="49834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47" name="Google Shape;1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48" name="Google Shape;1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49" name="Google Shape;149;p6"/>
          <p:cNvSpPr txBox="1"/>
          <p:nvPr>
            <p:ph type="title"/>
          </p:nvPr>
        </p:nvSpPr>
        <p:spPr>
          <a:xfrm>
            <a:off x="213049" y="2773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Image representation</a:t>
            </a:r>
            <a:endParaRPr>
              <a:latin typeface="Bookman Old Style"/>
              <a:ea typeface="Bookman Old Style"/>
              <a:cs typeface="Bookman Old Style"/>
              <a:sym typeface="Bookman Old Style"/>
            </a:endParaRPr>
          </a:p>
        </p:txBody>
      </p:sp>
      <p:sp>
        <p:nvSpPr>
          <p:cNvPr id="150" name="Google Shape;150;p6"/>
          <p:cNvSpPr/>
          <p:nvPr/>
        </p:nvSpPr>
        <p:spPr>
          <a:xfrm>
            <a:off x="838200" y="1346855"/>
            <a:ext cx="69012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An image is a grid of </a:t>
            </a:r>
            <a:r>
              <a:rPr b="1" lang="en-IN" sz="1800">
                <a:solidFill>
                  <a:schemeClr val="dk1"/>
                </a:solidFill>
                <a:latin typeface="Bookman Old Style"/>
                <a:ea typeface="Bookman Old Style"/>
                <a:cs typeface="Bookman Old Style"/>
                <a:sym typeface="Bookman Old Style"/>
              </a:rPr>
              <a:t>pixel values</a:t>
            </a:r>
            <a:r>
              <a:rPr lang="en-IN" sz="1800">
                <a:solidFill>
                  <a:schemeClr val="dk1"/>
                </a:solidFill>
                <a:latin typeface="Bookman Old Style"/>
                <a:ea typeface="Bookman Old Style"/>
                <a:cs typeface="Bookman Old Style"/>
                <a:sym typeface="Bookman Old Style"/>
              </a:rPr>
              <a:t>, which are just numbers.</a:t>
            </a:r>
            <a:endParaRPr sz="1800">
              <a:solidFill>
                <a:schemeClr val="dk1"/>
              </a:solidFill>
              <a:latin typeface="Bookman Old Style"/>
              <a:ea typeface="Bookman Old Style"/>
              <a:cs typeface="Bookman Old Style"/>
              <a:sym typeface="Bookman Old Style"/>
            </a:endParaRPr>
          </a:p>
        </p:txBody>
      </p:sp>
      <p:pic>
        <p:nvPicPr>
          <p:cNvPr id="151" name="Google Shape;151;p6"/>
          <p:cNvPicPr preferRelativeResize="0"/>
          <p:nvPr/>
        </p:nvPicPr>
        <p:blipFill rotWithShape="1">
          <a:blip r:embed="rId3">
            <a:alphaModFix/>
          </a:blip>
          <a:srcRect b="0" l="0" r="0" t="0"/>
          <a:stretch/>
        </p:blipFill>
        <p:spPr>
          <a:xfrm>
            <a:off x="1173145" y="1858969"/>
            <a:ext cx="8939682" cy="3682540"/>
          </a:xfrm>
          <a:prstGeom prst="rect">
            <a:avLst/>
          </a:prstGeom>
          <a:noFill/>
          <a:ln>
            <a:noFill/>
          </a:ln>
        </p:spPr>
      </p:pic>
      <p:sp>
        <p:nvSpPr>
          <p:cNvPr id="152" name="Google Shape;152;p6"/>
          <p:cNvSpPr/>
          <p:nvPr/>
        </p:nvSpPr>
        <p:spPr>
          <a:xfrm>
            <a:off x="8750837" y="5948951"/>
            <a:ext cx="241444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u="sng">
                <a:solidFill>
                  <a:schemeClr val="dk1"/>
                </a:solidFill>
                <a:latin typeface="Bookman Old Style"/>
                <a:ea typeface="Bookman Old Style"/>
                <a:cs typeface="Bookman Old Style"/>
                <a:sym typeface="Bookman Old Style"/>
                <a:hlinkClick r:id="rId4">
                  <a:extLst>
                    <a:ext uri="{A12FA001-AC4F-418D-AE19-62706E023703}">
                      <ahyp:hlinkClr val="tx"/>
                    </a:ext>
                  </a:extLst>
                </a:hlinkClick>
              </a:rPr>
              <a:t>https://ai.stanford.edu/</a:t>
            </a:r>
            <a:r>
              <a:rPr lang="en-IN" sz="1400">
                <a:solidFill>
                  <a:schemeClr val="dk1"/>
                </a:solidFill>
                <a:latin typeface="Bookman Old Style"/>
                <a:ea typeface="Bookman Old Style"/>
                <a:cs typeface="Bookman Old Style"/>
                <a:sym typeface="Bookman Old Style"/>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213049" y="2773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Number of channels</a:t>
            </a:r>
            <a:endParaRPr>
              <a:latin typeface="Bookman Old Style"/>
              <a:ea typeface="Bookman Old Style"/>
              <a:cs typeface="Bookman Old Style"/>
              <a:sym typeface="Bookman Old Style"/>
            </a:endParaRPr>
          </a:p>
        </p:txBody>
      </p:sp>
      <p:sp>
        <p:nvSpPr>
          <p:cNvPr id="158" name="Google Shape;15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59" name="Google Shape;15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60" name="Google Shape;16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61" name="Google Shape;161;p7"/>
          <p:cNvPicPr preferRelativeResize="0"/>
          <p:nvPr/>
        </p:nvPicPr>
        <p:blipFill rotWithShape="1">
          <a:blip r:embed="rId3">
            <a:alphaModFix/>
          </a:blip>
          <a:srcRect b="0" l="0" r="0" t="0"/>
          <a:stretch/>
        </p:blipFill>
        <p:spPr>
          <a:xfrm>
            <a:off x="36614" y="2149367"/>
            <a:ext cx="6054824" cy="2933393"/>
          </a:xfrm>
          <a:prstGeom prst="rect">
            <a:avLst/>
          </a:prstGeom>
          <a:noFill/>
          <a:ln>
            <a:noFill/>
          </a:ln>
        </p:spPr>
      </p:pic>
      <p:grpSp>
        <p:nvGrpSpPr>
          <p:cNvPr id="162" name="Google Shape;162;p7"/>
          <p:cNvGrpSpPr/>
          <p:nvPr/>
        </p:nvGrpSpPr>
        <p:grpSpPr>
          <a:xfrm>
            <a:off x="6137176" y="2154862"/>
            <a:ext cx="6054824" cy="3630855"/>
            <a:chOff x="6137176" y="2154862"/>
            <a:chExt cx="6054824" cy="3630855"/>
          </a:xfrm>
        </p:grpSpPr>
        <p:sp>
          <p:nvSpPr>
            <p:cNvPr id="163" name="Google Shape;163;p7"/>
            <p:cNvSpPr/>
            <p:nvPr/>
          </p:nvSpPr>
          <p:spPr>
            <a:xfrm>
              <a:off x="8610600" y="5477940"/>
              <a:ext cx="34018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u="sng">
                  <a:solidFill>
                    <a:schemeClr val="dk1"/>
                  </a:solidFill>
                  <a:latin typeface="Bookman Old Style"/>
                  <a:ea typeface="Bookman Old Style"/>
                  <a:cs typeface="Bookman Old Style"/>
                  <a:sym typeface="Bookman Old Style"/>
                  <a:hlinkClick r:id="rId4">
                    <a:extLst>
                      <a:ext uri="{A12FA001-AC4F-418D-AE19-62706E023703}">
                        <ahyp:hlinkClr val="tx"/>
                      </a:ext>
                    </a:extLst>
                  </a:hlinkClick>
                </a:rPr>
                <a:t>https://giventofly.github.io/pixelit/</a:t>
              </a:r>
              <a:r>
                <a:rPr lang="en-IN" sz="1400">
                  <a:solidFill>
                    <a:schemeClr val="dk1"/>
                  </a:solidFill>
                  <a:latin typeface="Bookman Old Style"/>
                  <a:ea typeface="Bookman Old Style"/>
                  <a:cs typeface="Bookman Old Style"/>
                  <a:sym typeface="Bookman Old Style"/>
                </a:rPr>
                <a:t> </a:t>
              </a:r>
              <a:endParaRPr/>
            </a:p>
          </p:txBody>
        </p:sp>
        <p:pic>
          <p:nvPicPr>
            <p:cNvPr id="164" name="Google Shape;164;p7"/>
            <p:cNvPicPr preferRelativeResize="0"/>
            <p:nvPr/>
          </p:nvPicPr>
          <p:blipFill rotWithShape="1">
            <a:blip r:embed="rId5">
              <a:alphaModFix/>
            </a:blip>
            <a:srcRect b="0" l="0" r="0" t="0"/>
            <a:stretch/>
          </p:blipFill>
          <p:spPr>
            <a:xfrm>
              <a:off x="6137176" y="2154862"/>
              <a:ext cx="6054824" cy="2933393"/>
            </a:xfrm>
            <a:prstGeom prst="rect">
              <a:avLst/>
            </a:prstGeom>
            <a:noFill/>
            <a:ln>
              <a:noFill/>
            </a:ln>
          </p:spPr>
        </p:pic>
      </p:grpSp>
      <p:sp>
        <p:nvSpPr>
          <p:cNvPr id="165" name="Google Shape;165;p7"/>
          <p:cNvSpPr/>
          <p:nvPr/>
        </p:nvSpPr>
        <p:spPr>
          <a:xfrm>
            <a:off x="323064" y="5257299"/>
            <a:ext cx="676819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757070"/>
                </a:solidFill>
                <a:latin typeface="Bookman Old Style"/>
                <a:ea typeface="Bookman Old Style"/>
                <a:cs typeface="Bookman Old Style"/>
                <a:sym typeface="Bookman Old Style"/>
              </a:rPr>
              <a:t>Only shades of gray</a:t>
            </a:r>
            <a:r>
              <a:rPr lang="en-IN" sz="1800">
                <a:solidFill>
                  <a:srgbClr val="757070"/>
                </a:solidFill>
                <a:latin typeface="Bookman Old Style"/>
                <a:ea typeface="Bookman Old Style"/>
                <a:cs typeface="Bookman Old Style"/>
                <a:sym typeface="Bookman Old Style"/>
              </a:rPr>
              <a:t> — from </a:t>
            </a:r>
            <a:r>
              <a:rPr b="1" lang="en-IN" sz="1800">
                <a:solidFill>
                  <a:srgbClr val="757070"/>
                </a:solidFill>
                <a:latin typeface="Bookman Old Style"/>
                <a:ea typeface="Bookman Old Style"/>
                <a:cs typeface="Bookman Old Style"/>
                <a:sym typeface="Bookman Old Style"/>
              </a:rPr>
              <a:t>black</a:t>
            </a:r>
            <a:r>
              <a:rPr lang="en-IN" sz="1800">
                <a:solidFill>
                  <a:srgbClr val="757070"/>
                </a:solidFill>
                <a:latin typeface="Bookman Old Style"/>
                <a:ea typeface="Bookman Old Style"/>
                <a:cs typeface="Bookman Old Style"/>
                <a:sym typeface="Bookman Old Style"/>
              </a:rPr>
              <a:t> to </a:t>
            </a:r>
            <a:r>
              <a:rPr b="1" lang="en-IN" sz="1800">
                <a:solidFill>
                  <a:srgbClr val="757070"/>
                </a:solidFill>
                <a:latin typeface="Bookman Old Style"/>
                <a:ea typeface="Bookman Old Style"/>
                <a:cs typeface="Bookman Old Style"/>
                <a:sym typeface="Bookman Old Style"/>
              </a:rPr>
              <a:t>white</a:t>
            </a:r>
            <a:endParaRPr b="1" sz="1800">
              <a:solidFill>
                <a:srgbClr val="757070"/>
              </a:solidFill>
              <a:latin typeface="Bookman Old Style"/>
              <a:ea typeface="Bookman Old Style"/>
              <a:cs typeface="Bookman Old Style"/>
              <a:sym typeface="Bookman Old Style"/>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Each pixel needs </a:t>
            </a:r>
            <a:r>
              <a:rPr b="1" lang="en-IN" sz="1800">
                <a:solidFill>
                  <a:schemeClr val="dk1"/>
                </a:solidFill>
                <a:latin typeface="Bookman Old Style"/>
                <a:ea typeface="Bookman Old Style"/>
                <a:cs typeface="Bookman Old Style"/>
                <a:sym typeface="Bookman Old Style"/>
              </a:rPr>
              <a:t>1 number</a:t>
            </a:r>
            <a:r>
              <a:rPr lang="en-IN" sz="1800">
                <a:solidFill>
                  <a:schemeClr val="dk1"/>
                </a:solidFill>
                <a:latin typeface="Bookman Old Style"/>
                <a:ea typeface="Bookman Old Style"/>
                <a:cs typeface="Bookman Old Style"/>
                <a:sym typeface="Bookman Old Style"/>
              </a:rPr>
              <a:t> to show how light or dark it is</a:t>
            </a:r>
            <a:endParaRPr/>
          </a:p>
          <a:p>
            <a:pPr indent="0" lvl="0" marL="0" marR="0" rtl="0" algn="l">
              <a:spcBef>
                <a:spcPts val="0"/>
              </a:spcBef>
              <a:spcAft>
                <a:spcPts val="0"/>
              </a:spcAft>
              <a:buNone/>
            </a:pPr>
            <a:r>
              <a:rPr lang="en-IN" sz="1800">
                <a:solidFill>
                  <a:srgbClr val="757070"/>
                </a:solidFill>
                <a:latin typeface="Bookman Old Style"/>
                <a:ea typeface="Bookman Old Style"/>
                <a:cs typeface="Bookman Old Style"/>
                <a:sym typeface="Bookman Old Style"/>
              </a:rPr>
              <a:t>Example: 0 = black, 255 = white, 128 = medium gray</a:t>
            </a:r>
            <a:endParaRPr/>
          </a:p>
          <a:p>
            <a:pPr indent="0" lvl="0" marL="0" marR="0" rtl="0" algn="l">
              <a:spcBef>
                <a:spcPts val="0"/>
              </a:spcBef>
              <a:spcAft>
                <a:spcPts val="0"/>
              </a:spcAft>
              <a:buNone/>
            </a:pPr>
            <a:r>
              <a:rPr lang="en-IN" sz="1800">
                <a:solidFill>
                  <a:srgbClr val="757070"/>
                </a:solidFill>
                <a:latin typeface="Bookman Old Style"/>
                <a:ea typeface="Bookman Old Style"/>
                <a:cs typeface="Bookman Old Style"/>
                <a:sym typeface="Bookman Old Style"/>
              </a:rPr>
              <a:t>So, only 1 channel is needed</a:t>
            </a:r>
            <a:endParaRPr sz="1800">
              <a:solidFill>
                <a:srgbClr val="757070"/>
              </a:solidFill>
              <a:latin typeface="Bookman Old Style"/>
              <a:ea typeface="Bookman Old Style"/>
              <a:cs typeface="Bookman Old Style"/>
              <a:sym typeface="Bookman Old Style"/>
            </a:endParaRPr>
          </a:p>
        </p:txBody>
      </p:sp>
      <p:pic>
        <p:nvPicPr>
          <p:cNvPr id="166" name="Google Shape;166;p7"/>
          <p:cNvPicPr preferRelativeResize="0"/>
          <p:nvPr/>
        </p:nvPicPr>
        <p:blipFill rotWithShape="1">
          <a:blip r:embed="rId6">
            <a:alphaModFix/>
          </a:blip>
          <a:srcRect b="0" l="0" r="0" t="0"/>
          <a:stretch/>
        </p:blipFill>
        <p:spPr>
          <a:xfrm>
            <a:off x="1173145" y="1487490"/>
            <a:ext cx="8939682" cy="36825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213049" y="2773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Number of channels</a:t>
            </a:r>
            <a:endParaRPr>
              <a:latin typeface="Bookman Old Style"/>
              <a:ea typeface="Bookman Old Style"/>
              <a:cs typeface="Bookman Old Style"/>
              <a:sym typeface="Bookman Old Style"/>
            </a:endParaRPr>
          </a:p>
        </p:txBody>
      </p:sp>
      <p:sp>
        <p:nvSpPr>
          <p:cNvPr id="172" name="Google Shape;17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73" name="Google Shape;17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74" name="Google Shape;17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75" name="Google Shape;175;p8"/>
          <p:cNvSpPr/>
          <p:nvPr/>
        </p:nvSpPr>
        <p:spPr>
          <a:xfrm>
            <a:off x="4624182" y="5017950"/>
            <a:ext cx="795590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Binary means only 2 colors: </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black or white.</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Each pixel is either 0 or 255 or</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0 (black) or 1 (white)</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Again, just 1 number per pixel is still 1 channel.</a:t>
            </a:r>
            <a:endParaRPr/>
          </a:p>
        </p:txBody>
      </p:sp>
      <p:pic>
        <p:nvPicPr>
          <p:cNvPr id="176" name="Google Shape;176;p8"/>
          <p:cNvPicPr preferRelativeResize="0"/>
          <p:nvPr/>
        </p:nvPicPr>
        <p:blipFill rotWithShape="1">
          <a:blip r:embed="rId3">
            <a:alphaModFix/>
          </a:blip>
          <a:srcRect b="0" l="0" r="0" t="0"/>
          <a:stretch/>
        </p:blipFill>
        <p:spPr>
          <a:xfrm>
            <a:off x="427715" y="1613267"/>
            <a:ext cx="4313617" cy="3387074"/>
          </a:xfrm>
          <a:prstGeom prst="rect">
            <a:avLst/>
          </a:prstGeom>
          <a:noFill/>
          <a:ln>
            <a:noFill/>
          </a:ln>
        </p:spPr>
      </p:pic>
      <p:grpSp>
        <p:nvGrpSpPr>
          <p:cNvPr id="177" name="Google Shape;177;p8"/>
          <p:cNvGrpSpPr/>
          <p:nvPr/>
        </p:nvGrpSpPr>
        <p:grpSpPr>
          <a:xfrm>
            <a:off x="4944056" y="1602891"/>
            <a:ext cx="7068437" cy="3672035"/>
            <a:chOff x="4944056" y="1602891"/>
            <a:chExt cx="7068437" cy="3672035"/>
          </a:xfrm>
        </p:grpSpPr>
        <p:sp>
          <p:nvSpPr>
            <p:cNvPr id="178" name="Google Shape;178;p8"/>
            <p:cNvSpPr/>
            <p:nvPr/>
          </p:nvSpPr>
          <p:spPr>
            <a:xfrm>
              <a:off x="8610600" y="4967149"/>
              <a:ext cx="34018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u="sng">
                  <a:solidFill>
                    <a:schemeClr val="dk1"/>
                  </a:solidFill>
                  <a:latin typeface="Bookman Old Style"/>
                  <a:ea typeface="Bookman Old Style"/>
                  <a:cs typeface="Bookman Old Style"/>
                  <a:sym typeface="Bookman Old Style"/>
                  <a:hlinkClick r:id="rId4">
                    <a:extLst>
                      <a:ext uri="{A12FA001-AC4F-418D-AE19-62706E023703}">
                        <ahyp:hlinkClr val="tx"/>
                      </a:ext>
                    </a:extLst>
                  </a:hlinkClick>
                </a:rPr>
                <a:t>https://giventofly.github.io/pixelit/</a:t>
              </a:r>
              <a:r>
                <a:rPr lang="en-IN" sz="1400">
                  <a:solidFill>
                    <a:schemeClr val="dk1"/>
                  </a:solidFill>
                  <a:latin typeface="Bookman Old Style"/>
                  <a:ea typeface="Bookman Old Style"/>
                  <a:cs typeface="Bookman Old Style"/>
                  <a:sym typeface="Bookman Old Style"/>
                </a:rPr>
                <a:t> </a:t>
              </a:r>
              <a:endParaRPr/>
            </a:p>
          </p:txBody>
        </p:sp>
        <p:pic>
          <p:nvPicPr>
            <p:cNvPr id="179" name="Google Shape;179;p8"/>
            <p:cNvPicPr preferRelativeResize="0"/>
            <p:nvPr/>
          </p:nvPicPr>
          <p:blipFill rotWithShape="1">
            <a:blip r:embed="rId5">
              <a:alphaModFix/>
            </a:blip>
            <a:srcRect b="0" l="0" r="0" t="0"/>
            <a:stretch/>
          </p:blipFill>
          <p:spPr>
            <a:xfrm>
              <a:off x="4944056" y="1602891"/>
              <a:ext cx="5962650" cy="334350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213049" y="27732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Number of channels</a:t>
            </a:r>
            <a:endParaRPr>
              <a:latin typeface="Bookman Old Style"/>
              <a:ea typeface="Bookman Old Style"/>
              <a:cs typeface="Bookman Old Style"/>
              <a:sym typeface="Bookman Old Style"/>
            </a:endParaRPr>
          </a:p>
        </p:txBody>
      </p:sp>
      <p:sp>
        <p:nvSpPr>
          <p:cNvPr id="185" name="Google Shape;18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86" name="Google Shape;18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87" name="Google Shape;18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88" name="Google Shape;188;p9"/>
          <p:cNvPicPr preferRelativeResize="0"/>
          <p:nvPr/>
        </p:nvPicPr>
        <p:blipFill rotWithShape="1">
          <a:blip r:embed="rId3">
            <a:alphaModFix/>
          </a:blip>
          <a:srcRect b="0" l="0" r="0" t="0"/>
          <a:stretch/>
        </p:blipFill>
        <p:spPr>
          <a:xfrm>
            <a:off x="220825" y="1758674"/>
            <a:ext cx="5595061" cy="3730041"/>
          </a:xfrm>
          <a:prstGeom prst="rect">
            <a:avLst/>
          </a:prstGeom>
          <a:noFill/>
          <a:ln>
            <a:noFill/>
          </a:ln>
        </p:spPr>
      </p:pic>
      <p:grpSp>
        <p:nvGrpSpPr>
          <p:cNvPr id="189" name="Google Shape;189;p9"/>
          <p:cNvGrpSpPr/>
          <p:nvPr/>
        </p:nvGrpSpPr>
        <p:grpSpPr>
          <a:xfrm>
            <a:off x="5988697" y="1758674"/>
            <a:ext cx="6023796" cy="4027043"/>
            <a:chOff x="5988697" y="1758674"/>
            <a:chExt cx="6023796" cy="4027043"/>
          </a:xfrm>
        </p:grpSpPr>
        <p:sp>
          <p:nvSpPr>
            <p:cNvPr id="190" name="Google Shape;190;p9"/>
            <p:cNvSpPr/>
            <p:nvPr/>
          </p:nvSpPr>
          <p:spPr>
            <a:xfrm>
              <a:off x="8610600" y="5477940"/>
              <a:ext cx="34018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400" u="sng">
                  <a:solidFill>
                    <a:schemeClr val="dk1"/>
                  </a:solidFill>
                  <a:latin typeface="Bookman Old Style"/>
                  <a:ea typeface="Bookman Old Style"/>
                  <a:cs typeface="Bookman Old Style"/>
                  <a:sym typeface="Bookman Old Style"/>
                  <a:hlinkClick r:id="rId4">
                    <a:extLst>
                      <a:ext uri="{A12FA001-AC4F-418D-AE19-62706E023703}">
                        <ahyp:hlinkClr val="tx"/>
                      </a:ext>
                    </a:extLst>
                  </a:hlinkClick>
                </a:rPr>
                <a:t>https://giventofly.github.io/pixelit/</a:t>
              </a:r>
              <a:r>
                <a:rPr lang="en-IN" sz="1400">
                  <a:solidFill>
                    <a:schemeClr val="dk1"/>
                  </a:solidFill>
                  <a:latin typeface="Bookman Old Style"/>
                  <a:ea typeface="Bookman Old Style"/>
                  <a:cs typeface="Bookman Old Style"/>
                  <a:sym typeface="Bookman Old Style"/>
                </a:rPr>
                <a:t> </a:t>
              </a:r>
              <a:endParaRPr/>
            </a:p>
          </p:txBody>
        </p:sp>
        <p:pic>
          <p:nvPicPr>
            <p:cNvPr id="191" name="Google Shape;191;p9"/>
            <p:cNvPicPr preferRelativeResize="0"/>
            <p:nvPr/>
          </p:nvPicPr>
          <p:blipFill rotWithShape="1">
            <a:blip r:embed="rId5">
              <a:alphaModFix/>
            </a:blip>
            <a:srcRect b="0" l="0" r="0" t="0"/>
            <a:stretch/>
          </p:blipFill>
          <p:spPr>
            <a:xfrm>
              <a:off x="5988697" y="1758674"/>
              <a:ext cx="5578899" cy="3719266"/>
            </a:xfrm>
            <a:prstGeom prst="rect">
              <a:avLst/>
            </a:prstGeom>
            <a:noFill/>
            <a:ln>
              <a:noFill/>
            </a:ln>
          </p:spPr>
        </p:pic>
      </p:grpSp>
      <p:sp>
        <p:nvSpPr>
          <p:cNvPr id="192" name="Google Shape;192;p9"/>
          <p:cNvSpPr/>
          <p:nvPr/>
        </p:nvSpPr>
        <p:spPr>
          <a:xfrm>
            <a:off x="1870000" y="5477940"/>
            <a:ext cx="7891771"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Bookman Old Style"/>
                <a:ea typeface="Bookman Old Style"/>
                <a:cs typeface="Bookman Old Style"/>
                <a:sym typeface="Bookman Old Style"/>
              </a:rPr>
              <a:t>Red</a:t>
            </a:r>
            <a:r>
              <a:rPr lang="en-IN" sz="1800">
                <a:solidFill>
                  <a:schemeClr val="dk1"/>
                </a:solidFill>
                <a:latin typeface="Bookman Old Style"/>
                <a:ea typeface="Bookman Old Style"/>
                <a:cs typeface="Bookman Old Style"/>
                <a:sym typeface="Bookman Old Style"/>
              </a:rPr>
              <a:t>, </a:t>
            </a:r>
            <a:r>
              <a:rPr b="1" lang="en-IN" sz="1800">
                <a:solidFill>
                  <a:srgbClr val="385623"/>
                </a:solidFill>
                <a:latin typeface="Bookman Old Style"/>
                <a:ea typeface="Bookman Old Style"/>
                <a:cs typeface="Bookman Old Style"/>
                <a:sym typeface="Bookman Old Style"/>
              </a:rPr>
              <a:t>Green</a:t>
            </a:r>
            <a:r>
              <a:rPr lang="en-IN" sz="1800">
                <a:solidFill>
                  <a:schemeClr val="dk1"/>
                </a:solidFill>
                <a:latin typeface="Bookman Old Style"/>
                <a:ea typeface="Bookman Old Style"/>
                <a:cs typeface="Bookman Old Style"/>
                <a:sym typeface="Bookman Old Style"/>
              </a:rPr>
              <a:t>, </a:t>
            </a:r>
            <a:r>
              <a:rPr b="1" lang="en-IN" sz="1800">
                <a:solidFill>
                  <a:srgbClr val="0070C0"/>
                </a:solidFill>
                <a:latin typeface="Bookman Old Style"/>
                <a:ea typeface="Bookman Old Style"/>
                <a:cs typeface="Bookman Old Style"/>
                <a:sym typeface="Bookman Old Style"/>
              </a:rPr>
              <a:t>Blue</a:t>
            </a:r>
            <a:r>
              <a:rPr lang="en-IN" sz="1800">
                <a:solidFill>
                  <a:schemeClr val="dk1"/>
                </a:solidFill>
                <a:latin typeface="Bookman Old Style"/>
                <a:ea typeface="Bookman Old Style"/>
                <a:cs typeface="Bookman Old Style"/>
                <a:sym typeface="Bookman Old Style"/>
              </a:rPr>
              <a:t> to create any color.</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Each pixel needs 3 numbers: </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One for Red, One for Green, One for Blue</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Example: (255, 0, 0) = pure red</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3 channels</a:t>
            </a:r>
            <a:endParaRPr/>
          </a:p>
        </p:txBody>
      </p:sp>
      <p:pic>
        <p:nvPicPr>
          <p:cNvPr id="193" name="Google Shape;193;p9"/>
          <p:cNvPicPr preferRelativeResize="0"/>
          <p:nvPr/>
        </p:nvPicPr>
        <p:blipFill rotWithShape="1">
          <a:blip r:embed="rId6">
            <a:alphaModFix/>
          </a:blip>
          <a:srcRect b="0" l="0" r="0" t="0"/>
          <a:stretch/>
        </p:blipFill>
        <p:spPr>
          <a:xfrm>
            <a:off x="116784" y="1758674"/>
            <a:ext cx="5803141" cy="3719265"/>
          </a:xfrm>
          <a:prstGeom prst="rect">
            <a:avLst/>
          </a:prstGeom>
          <a:noFill/>
          <a:ln>
            <a:noFill/>
          </a:ln>
        </p:spPr>
      </p:pic>
      <p:pic>
        <p:nvPicPr>
          <p:cNvPr id="194" name="Google Shape;194;p9"/>
          <p:cNvPicPr preferRelativeResize="0"/>
          <p:nvPr/>
        </p:nvPicPr>
        <p:blipFill rotWithShape="1">
          <a:blip r:embed="rId7">
            <a:alphaModFix/>
          </a:blip>
          <a:srcRect b="0" l="0" r="0" t="0"/>
          <a:stretch/>
        </p:blipFill>
        <p:spPr>
          <a:xfrm>
            <a:off x="1227117" y="1139069"/>
            <a:ext cx="8755083" cy="49834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type="title"/>
          </p:nvPr>
        </p:nvSpPr>
        <p:spPr>
          <a:xfrm>
            <a:off x="287694" y="39426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Why not fully connected networks? (ANN)</a:t>
            </a:r>
            <a:endParaRPr>
              <a:latin typeface="Bookman Old Style"/>
              <a:ea typeface="Bookman Old Style"/>
              <a:cs typeface="Bookman Old Style"/>
              <a:sym typeface="Bookman Old Style"/>
            </a:endParaRPr>
          </a:p>
        </p:txBody>
      </p:sp>
      <p:sp>
        <p:nvSpPr>
          <p:cNvPr id="200" name="Google Shape;20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01" name="Google Shape;20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02" name="Google Shape;20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pSp>
        <p:nvGrpSpPr>
          <p:cNvPr id="203" name="Google Shape;203;p10"/>
          <p:cNvGrpSpPr/>
          <p:nvPr/>
        </p:nvGrpSpPr>
        <p:grpSpPr>
          <a:xfrm>
            <a:off x="492968" y="1810170"/>
            <a:ext cx="8724639" cy="4412683"/>
            <a:chOff x="602097" y="1582616"/>
            <a:chExt cx="8724639" cy="4412683"/>
          </a:xfrm>
        </p:grpSpPr>
        <p:pic>
          <p:nvPicPr>
            <p:cNvPr id="204" name="Google Shape;204;p10"/>
            <p:cNvPicPr preferRelativeResize="0"/>
            <p:nvPr/>
          </p:nvPicPr>
          <p:blipFill rotWithShape="1">
            <a:blip r:embed="rId3">
              <a:alphaModFix/>
            </a:blip>
            <a:srcRect b="0" l="0" r="0" t="0"/>
            <a:stretch/>
          </p:blipFill>
          <p:spPr>
            <a:xfrm>
              <a:off x="602097" y="3639926"/>
              <a:ext cx="8724639" cy="2355373"/>
            </a:xfrm>
            <a:prstGeom prst="rect">
              <a:avLst/>
            </a:prstGeom>
            <a:noFill/>
            <a:ln>
              <a:noFill/>
            </a:ln>
          </p:spPr>
        </p:pic>
        <p:pic>
          <p:nvPicPr>
            <p:cNvPr id="205" name="Google Shape;205;p10"/>
            <p:cNvPicPr preferRelativeResize="0"/>
            <p:nvPr/>
          </p:nvPicPr>
          <p:blipFill rotWithShape="1">
            <a:blip r:embed="rId4">
              <a:alphaModFix/>
            </a:blip>
            <a:srcRect b="0" l="0" r="0" t="0"/>
            <a:stretch/>
          </p:blipFill>
          <p:spPr>
            <a:xfrm>
              <a:off x="602097" y="1582616"/>
              <a:ext cx="8724639" cy="1966970"/>
            </a:xfrm>
            <a:prstGeom prst="rect">
              <a:avLst/>
            </a:prstGeom>
            <a:noFill/>
            <a:ln>
              <a:noFill/>
            </a:ln>
          </p:spPr>
        </p:pic>
      </p:grpSp>
      <p:sp>
        <p:nvSpPr>
          <p:cNvPr id="206" name="Google Shape;206;p10"/>
          <p:cNvSpPr/>
          <p:nvPr/>
        </p:nvSpPr>
        <p:spPr>
          <a:xfrm>
            <a:off x="9198873" y="1962657"/>
            <a:ext cx="2840842" cy="11585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IN" sz="1600">
                <a:solidFill>
                  <a:srgbClr val="001D35"/>
                </a:solidFill>
                <a:latin typeface="Bookman Old Style"/>
                <a:ea typeface="Bookman Old Style"/>
                <a:cs typeface="Bookman Old Style"/>
                <a:sym typeface="Bookman Old Style"/>
              </a:rPr>
              <a:t>Full HD (1920 x 1080 × 1)</a:t>
            </a:r>
            <a:endParaRPr/>
          </a:p>
          <a:p>
            <a:pPr indent="0" lvl="0" marL="0" marR="0" rtl="0" algn="l">
              <a:lnSpc>
                <a:spcPct val="150000"/>
              </a:lnSpc>
              <a:spcBef>
                <a:spcPts val="0"/>
              </a:spcBef>
              <a:spcAft>
                <a:spcPts val="0"/>
              </a:spcAft>
              <a:buNone/>
            </a:pPr>
            <a:r>
              <a:rPr lang="en-IN" sz="1600">
                <a:solidFill>
                  <a:schemeClr val="dk1"/>
                </a:solidFill>
                <a:latin typeface="Bookman Old Style"/>
                <a:ea typeface="Bookman Old Style"/>
                <a:cs typeface="Bookman Old Style"/>
                <a:sym typeface="Bookman Old Style"/>
              </a:rPr>
              <a:t>QHD (2560 x 1440 × 3)</a:t>
            </a:r>
            <a:endParaRPr/>
          </a:p>
          <a:p>
            <a:pPr indent="0" lvl="0" marL="0" marR="0" rtl="0" algn="l">
              <a:lnSpc>
                <a:spcPct val="150000"/>
              </a:lnSpc>
              <a:spcBef>
                <a:spcPts val="0"/>
              </a:spcBef>
              <a:spcAft>
                <a:spcPts val="0"/>
              </a:spcAft>
              <a:buNone/>
            </a:pPr>
            <a:r>
              <a:rPr lang="en-IN" sz="1600">
                <a:solidFill>
                  <a:schemeClr val="dk1"/>
                </a:solidFill>
                <a:latin typeface="Bookman Old Style"/>
                <a:ea typeface="Bookman Old Style"/>
                <a:cs typeface="Bookman Old Style"/>
                <a:sym typeface="Bookman Old Style"/>
              </a:rPr>
              <a:t>4K UHD (3840 x 2160 ×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241041" y="26941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Example</a:t>
            </a:r>
            <a:endParaRPr>
              <a:latin typeface="Bookman Old Style"/>
              <a:ea typeface="Bookman Old Style"/>
              <a:cs typeface="Bookman Old Style"/>
              <a:sym typeface="Bookman Old Style"/>
            </a:endParaRPr>
          </a:p>
        </p:txBody>
      </p:sp>
      <p:sp>
        <p:nvSpPr>
          <p:cNvPr id="212" name="Google Shape;2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13" name="Google Shape;2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14" name="Google Shape;2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15" name="Google Shape;215;p11"/>
          <p:cNvPicPr preferRelativeResize="0"/>
          <p:nvPr/>
        </p:nvPicPr>
        <p:blipFill rotWithShape="1">
          <a:blip r:embed="rId3">
            <a:alphaModFix/>
          </a:blip>
          <a:srcRect b="0" l="0" r="0" t="0"/>
          <a:stretch/>
        </p:blipFill>
        <p:spPr>
          <a:xfrm>
            <a:off x="838200" y="1395991"/>
            <a:ext cx="9563878" cy="5210606"/>
          </a:xfrm>
          <a:prstGeom prst="rect">
            <a:avLst/>
          </a:prstGeom>
          <a:noFill/>
          <a:ln>
            <a:noFill/>
          </a:ln>
        </p:spPr>
      </p:pic>
      <p:sp>
        <p:nvSpPr>
          <p:cNvPr id="216" name="Google Shape;216;p11"/>
          <p:cNvSpPr txBox="1"/>
          <p:nvPr/>
        </p:nvSpPr>
        <p:spPr>
          <a:xfrm>
            <a:off x="3337982" y="257218"/>
            <a:ext cx="8430683" cy="11387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700">
                <a:solidFill>
                  <a:schemeClr val="dk1"/>
                </a:solidFill>
                <a:latin typeface="Bookman Old Style"/>
                <a:ea typeface="Bookman Old Style"/>
                <a:cs typeface="Bookman Old Style"/>
                <a:sym typeface="Bookman Old Style"/>
              </a:rPr>
              <a:t>Loss of Spatial Structure:</a:t>
            </a:r>
            <a:endParaRPr sz="1700">
              <a:solidFill>
                <a:schemeClr val="dk1"/>
              </a:solidFill>
              <a:latin typeface="Bookman Old Style"/>
              <a:ea typeface="Bookman Old Style"/>
              <a:cs typeface="Bookman Old Style"/>
              <a:sym typeface="Bookman Old Style"/>
            </a:endParaRPr>
          </a:p>
          <a:p>
            <a:pPr indent="-400050" lvl="1" marL="857250" marR="0" rtl="0" algn="l">
              <a:spcBef>
                <a:spcPts val="0"/>
              </a:spcBef>
              <a:spcAft>
                <a:spcPts val="0"/>
              </a:spcAft>
              <a:buClr>
                <a:schemeClr val="dk1"/>
              </a:buClr>
              <a:buSzPts val="1700"/>
              <a:buFont typeface="Calibri"/>
              <a:buAutoNum type="romanLcPeriod"/>
            </a:pPr>
            <a:r>
              <a:rPr b="0" i="0" lang="en-IN" sz="1700" u="none" cap="none" strike="noStrike">
                <a:solidFill>
                  <a:schemeClr val="dk1"/>
                </a:solidFill>
                <a:latin typeface="Bookman Old Style"/>
                <a:ea typeface="Bookman Old Style"/>
                <a:cs typeface="Bookman Old Style"/>
                <a:sym typeface="Bookman Old Style"/>
              </a:rPr>
              <a:t>Flattening images into 1D input vectors </a:t>
            </a:r>
            <a:r>
              <a:rPr b="1" i="0" lang="en-IN" sz="1700" u="none" cap="none" strike="noStrike">
                <a:solidFill>
                  <a:schemeClr val="dk1"/>
                </a:solidFill>
                <a:latin typeface="Bookman Old Style"/>
                <a:ea typeface="Bookman Old Style"/>
                <a:cs typeface="Bookman Old Style"/>
                <a:sym typeface="Bookman Old Style"/>
              </a:rPr>
              <a:t>destroys spatial relationships</a:t>
            </a:r>
            <a:r>
              <a:rPr b="0" i="0" lang="en-IN" sz="1700" u="none" cap="none" strike="noStrike">
                <a:solidFill>
                  <a:schemeClr val="dk1"/>
                </a:solidFill>
                <a:latin typeface="Bookman Old Style"/>
                <a:ea typeface="Bookman Old Style"/>
                <a:cs typeface="Bookman Old Style"/>
                <a:sym typeface="Bookman Old Style"/>
              </a:rPr>
              <a:t> between pixels.</a:t>
            </a:r>
            <a:endParaRPr/>
          </a:p>
          <a:p>
            <a:pPr indent="-400050" lvl="1" marL="857250" marR="0" rtl="0" algn="l">
              <a:spcBef>
                <a:spcPts val="0"/>
              </a:spcBef>
              <a:spcAft>
                <a:spcPts val="0"/>
              </a:spcAft>
              <a:buClr>
                <a:schemeClr val="dk1"/>
              </a:buClr>
              <a:buSzPts val="1700"/>
              <a:buFont typeface="Calibri"/>
              <a:buAutoNum type="romanLcPeriod"/>
            </a:pPr>
            <a:r>
              <a:rPr b="0" i="0" lang="en-IN" sz="1700" u="none" cap="none" strike="noStrike">
                <a:solidFill>
                  <a:schemeClr val="dk1"/>
                </a:solidFill>
                <a:latin typeface="Bookman Old Style"/>
                <a:ea typeface="Bookman Old Style"/>
                <a:cs typeface="Bookman Old Style"/>
                <a:sym typeface="Bookman Old Style"/>
              </a:rPr>
              <a:t>FCNNs </a:t>
            </a:r>
            <a:r>
              <a:rPr b="1" i="0" lang="en-IN" sz="1700" u="none" cap="none" strike="noStrike">
                <a:solidFill>
                  <a:schemeClr val="dk1"/>
                </a:solidFill>
                <a:latin typeface="Bookman Old Style"/>
                <a:ea typeface="Bookman Old Style"/>
                <a:cs typeface="Bookman Old Style"/>
                <a:sym typeface="Bookman Old Style"/>
              </a:rPr>
              <a:t>don’t leverage local patterns</a:t>
            </a:r>
            <a:r>
              <a:rPr b="0" i="0" lang="en-IN" sz="1700" u="none" cap="none" strike="noStrike">
                <a:solidFill>
                  <a:schemeClr val="dk1"/>
                </a:solidFill>
                <a:latin typeface="Bookman Old Style"/>
                <a:ea typeface="Bookman Old Style"/>
                <a:cs typeface="Bookman Old Style"/>
                <a:sym typeface="Bookman Old Style"/>
              </a:rPr>
              <a:t> like edges, textures, or shapes.</a:t>
            </a:r>
            <a:endParaRPr/>
          </a:p>
        </p:txBody>
      </p:sp>
      <p:sp>
        <p:nvSpPr>
          <p:cNvPr id="217" name="Google Shape;217;p11"/>
          <p:cNvSpPr txBox="1"/>
          <p:nvPr/>
        </p:nvSpPr>
        <p:spPr>
          <a:xfrm>
            <a:off x="87172" y="5740706"/>
            <a:ext cx="150205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[[ 1, 2, 3 ],</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[ 4, 5, 6 ],</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[ 7, 8, 9 ]]</a:t>
            </a:r>
            <a:endParaRPr/>
          </a:p>
        </p:txBody>
      </p:sp>
      <p:sp>
        <p:nvSpPr>
          <p:cNvPr id="218" name="Google Shape;218;p11"/>
          <p:cNvSpPr txBox="1"/>
          <p:nvPr/>
        </p:nvSpPr>
        <p:spPr>
          <a:xfrm>
            <a:off x="1282312" y="5798145"/>
            <a:ext cx="610023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Bookman Old Style"/>
              <a:ea typeface="Bookman Old Style"/>
              <a:cs typeface="Bookman Old Style"/>
              <a:sym typeface="Bookman Old Style"/>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Bookman Old Style"/>
                <a:ea typeface="Bookman Old Style"/>
                <a:cs typeface="Bookman Old Style"/>
                <a:sym typeface="Bookman Old Style"/>
              </a:rPr>
              <a:t>Horizontal neighbors: 1–2–3, 4–5–6, 7–8–9</a:t>
            </a:r>
            <a:endParaRPr/>
          </a:p>
          <a:p>
            <a:pPr indent="-114300" lvl="0" marL="0" marR="0" rtl="0" algn="l">
              <a:spcBef>
                <a:spcPts val="0"/>
              </a:spcBef>
              <a:spcAft>
                <a:spcPts val="0"/>
              </a:spcAft>
              <a:buClr>
                <a:schemeClr val="dk1"/>
              </a:buClr>
              <a:buSzPts val="1800"/>
              <a:buFont typeface="Arial"/>
              <a:buChar char="•"/>
            </a:pPr>
            <a:r>
              <a:rPr lang="en-IN" sz="1800">
                <a:solidFill>
                  <a:schemeClr val="dk1"/>
                </a:solidFill>
                <a:latin typeface="Bookman Old Style"/>
                <a:ea typeface="Bookman Old Style"/>
                <a:cs typeface="Bookman Old Style"/>
                <a:sym typeface="Bookman Old Style"/>
              </a:rPr>
              <a:t>Vertical neighbors: 1–4–7, 2–5–8, 3–6–9</a:t>
            </a:r>
            <a:endParaRPr/>
          </a:p>
        </p:txBody>
      </p:sp>
      <p:sp>
        <p:nvSpPr>
          <p:cNvPr id="219" name="Google Shape;219;p11"/>
          <p:cNvSpPr txBox="1"/>
          <p:nvPr/>
        </p:nvSpPr>
        <p:spPr>
          <a:xfrm>
            <a:off x="87172" y="5277343"/>
            <a:ext cx="28761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[1, </a:t>
            </a:r>
            <a:r>
              <a:rPr b="1" lang="en-IN" sz="1800">
                <a:solidFill>
                  <a:srgbClr val="C00000"/>
                </a:solidFill>
                <a:latin typeface="Bookman Old Style"/>
                <a:ea typeface="Bookman Old Style"/>
                <a:cs typeface="Bookman Old Style"/>
                <a:sym typeface="Bookman Old Style"/>
              </a:rPr>
              <a:t>2</a:t>
            </a:r>
            <a:r>
              <a:rPr lang="en-IN" sz="1800">
                <a:solidFill>
                  <a:schemeClr val="dk1"/>
                </a:solidFill>
                <a:latin typeface="Bookman Old Style"/>
                <a:ea typeface="Bookman Old Style"/>
                <a:cs typeface="Bookman Old Style"/>
                <a:sym typeface="Bookman Old Style"/>
              </a:rPr>
              <a:t>, </a:t>
            </a:r>
            <a:r>
              <a:rPr b="1" i="1" lang="en-IN" sz="1800">
                <a:solidFill>
                  <a:srgbClr val="385623"/>
                </a:solidFill>
                <a:latin typeface="Bookman Old Style"/>
                <a:ea typeface="Bookman Old Style"/>
                <a:cs typeface="Bookman Old Style"/>
                <a:sym typeface="Bookman Old Style"/>
              </a:rPr>
              <a:t>3, 4, </a:t>
            </a:r>
            <a:r>
              <a:rPr b="1" lang="en-IN" sz="1800">
                <a:solidFill>
                  <a:srgbClr val="C00000"/>
                </a:solidFill>
                <a:latin typeface="Bookman Old Style"/>
                <a:ea typeface="Bookman Old Style"/>
                <a:cs typeface="Bookman Old Style"/>
                <a:sym typeface="Bookman Old Style"/>
              </a:rPr>
              <a:t>5,</a:t>
            </a:r>
            <a:r>
              <a:rPr lang="en-IN" sz="1800">
                <a:solidFill>
                  <a:schemeClr val="dk1"/>
                </a:solidFill>
                <a:latin typeface="Bookman Old Style"/>
                <a:ea typeface="Bookman Old Style"/>
                <a:cs typeface="Bookman Old Style"/>
                <a:sym typeface="Bookman Old Style"/>
              </a:rPr>
              <a:t> 6, 7, 8, 9]</a:t>
            </a:r>
            <a:endParaRPr/>
          </a:p>
        </p:txBody>
      </p:sp>
      <p:grpSp>
        <p:nvGrpSpPr>
          <p:cNvPr id="220" name="Google Shape;220;p11"/>
          <p:cNvGrpSpPr/>
          <p:nvPr/>
        </p:nvGrpSpPr>
        <p:grpSpPr>
          <a:xfrm>
            <a:off x="6874933" y="6488668"/>
            <a:ext cx="3308068" cy="369332"/>
            <a:chOff x="6874933" y="6488668"/>
            <a:chExt cx="3308068" cy="369332"/>
          </a:xfrm>
        </p:grpSpPr>
        <p:cxnSp>
          <p:nvCxnSpPr>
            <p:cNvPr id="221" name="Google Shape;221;p11"/>
            <p:cNvCxnSpPr/>
            <p:nvPr/>
          </p:nvCxnSpPr>
          <p:spPr>
            <a:xfrm rot="10800000">
              <a:off x="6874933" y="6519333"/>
              <a:ext cx="694267" cy="202142"/>
            </a:xfrm>
            <a:prstGeom prst="straightConnector1">
              <a:avLst/>
            </a:prstGeom>
            <a:noFill/>
            <a:ln cap="flat" cmpd="sng" w="28575">
              <a:solidFill>
                <a:srgbClr val="0C0C0C"/>
              </a:solidFill>
              <a:prstDash val="solid"/>
              <a:miter lim="800000"/>
              <a:headEnd len="sm" w="sm" type="none"/>
              <a:tailEnd len="med" w="med" type="triangle"/>
            </a:ln>
          </p:spPr>
        </p:cxnSp>
        <p:sp>
          <p:nvSpPr>
            <p:cNvPr id="222" name="Google Shape;222;p11"/>
            <p:cNvSpPr txBox="1"/>
            <p:nvPr/>
          </p:nvSpPr>
          <p:spPr>
            <a:xfrm>
              <a:off x="7553323" y="6488668"/>
              <a:ext cx="26296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Parameter Explosion</a:t>
              </a:r>
              <a:endParaRPr sz="1800">
                <a:solidFill>
                  <a:schemeClr val="dk1"/>
                </a:solidFill>
                <a:latin typeface="Bookman Old Style"/>
                <a:ea typeface="Bookman Old Style"/>
                <a:cs typeface="Bookman Old Style"/>
                <a:sym typeface="Bookman Old Style"/>
              </a:endParaRPr>
            </a:p>
          </p:txBody>
        </p:sp>
      </p:grpSp>
      <p:sp>
        <p:nvSpPr>
          <p:cNvPr id="223" name="Google Shape;223;p11"/>
          <p:cNvSpPr txBox="1"/>
          <p:nvPr/>
        </p:nvSpPr>
        <p:spPr>
          <a:xfrm>
            <a:off x="9993561" y="5934670"/>
            <a:ext cx="219843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Training slow and increases overfitting risk</a:t>
            </a:r>
            <a:endParaRPr sz="1800">
              <a:solidFill>
                <a:schemeClr val="dk1"/>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type="title"/>
          </p:nvPr>
        </p:nvSpPr>
        <p:spPr>
          <a:xfrm>
            <a:off x="381000" y="25315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Preprocessing</a:t>
            </a:r>
            <a:endParaRPr>
              <a:latin typeface="Bookman Old Style"/>
              <a:ea typeface="Bookman Old Style"/>
              <a:cs typeface="Bookman Old Style"/>
              <a:sym typeface="Bookman Old Style"/>
            </a:endParaRPr>
          </a:p>
        </p:txBody>
      </p:sp>
      <p:sp>
        <p:nvSpPr>
          <p:cNvPr id="229" name="Google Shape;229;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30" name="Google Shape;230;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31" name="Google Shape;23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pSp>
        <p:nvGrpSpPr>
          <p:cNvPr id="232" name="Google Shape;232;p12"/>
          <p:cNvGrpSpPr/>
          <p:nvPr/>
        </p:nvGrpSpPr>
        <p:grpSpPr>
          <a:xfrm>
            <a:off x="494116" y="1578721"/>
            <a:ext cx="8740080" cy="3814170"/>
            <a:chOff x="251520" y="1776412"/>
            <a:chExt cx="8740080" cy="3814170"/>
          </a:xfrm>
        </p:grpSpPr>
        <p:sp>
          <p:nvSpPr>
            <p:cNvPr id="233" name="Google Shape;233;p12"/>
            <p:cNvSpPr txBox="1"/>
            <p:nvPr/>
          </p:nvSpPr>
          <p:spPr>
            <a:xfrm>
              <a:off x="2051720" y="1776412"/>
              <a:ext cx="10668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Scaling</a:t>
              </a:r>
              <a:endParaRPr/>
            </a:p>
          </p:txBody>
        </p:sp>
        <p:sp>
          <p:nvSpPr>
            <p:cNvPr id="234" name="Google Shape;234;p12"/>
            <p:cNvSpPr txBox="1"/>
            <p:nvPr/>
          </p:nvSpPr>
          <p:spPr>
            <a:xfrm>
              <a:off x="3962400" y="1805380"/>
              <a:ext cx="1219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Weight</a:t>
              </a:r>
              <a:endParaRPr/>
            </a:p>
          </p:txBody>
        </p:sp>
        <p:sp>
          <p:nvSpPr>
            <p:cNvPr id="235" name="Google Shape;235;p12"/>
            <p:cNvSpPr txBox="1"/>
            <p:nvPr/>
          </p:nvSpPr>
          <p:spPr>
            <a:xfrm>
              <a:off x="5556920" y="1811892"/>
              <a:ext cx="152028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Translation</a:t>
              </a:r>
              <a:endParaRPr/>
            </a:p>
          </p:txBody>
        </p:sp>
        <p:sp>
          <p:nvSpPr>
            <p:cNvPr id="236" name="Google Shape;236;p12"/>
            <p:cNvSpPr txBox="1"/>
            <p:nvPr/>
          </p:nvSpPr>
          <p:spPr>
            <a:xfrm>
              <a:off x="7620000" y="1799546"/>
              <a:ext cx="1371600" cy="38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Rotation</a:t>
              </a:r>
              <a:endParaRPr/>
            </a:p>
          </p:txBody>
        </p:sp>
        <p:sp>
          <p:nvSpPr>
            <p:cNvPr id="237" name="Google Shape;237;p12"/>
            <p:cNvSpPr txBox="1"/>
            <p:nvPr/>
          </p:nvSpPr>
          <p:spPr>
            <a:xfrm>
              <a:off x="4050060" y="5190148"/>
              <a:ext cx="10668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Scaling</a:t>
              </a:r>
              <a:endParaRPr/>
            </a:p>
          </p:txBody>
        </p:sp>
        <p:sp>
          <p:nvSpPr>
            <p:cNvPr id="238" name="Google Shape;238;p12"/>
            <p:cNvSpPr txBox="1"/>
            <p:nvPr/>
          </p:nvSpPr>
          <p:spPr>
            <a:xfrm>
              <a:off x="5800801" y="5209582"/>
              <a:ext cx="1371600" cy="38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Rotation</a:t>
              </a:r>
              <a:endParaRPr/>
            </a:p>
          </p:txBody>
        </p:sp>
        <p:sp>
          <p:nvSpPr>
            <p:cNvPr id="239" name="Google Shape;239;p12"/>
            <p:cNvSpPr txBox="1"/>
            <p:nvPr/>
          </p:nvSpPr>
          <p:spPr>
            <a:xfrm>
              <a:off x="7696200" y="5221250"/>
              <a:ext cx="12192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Weight</a:t>
              </a:r>
              <a:endParaRPr/>
            </a:p>
          </p:txBody>
        </p:sp>
        <p:sp>
          <p:nvSpPr>
            <p:cNvPr id="240" name="Google Shape;240;p12"/>
            <p:cNvSpPr txBox="1"/>
            <p:nvPr/>
          </p:nvSpPr>
          <p:spPr>
            <a:xfrm>
              <a:off x="1735494" y="5181600"/>
              <a:ext cx="149732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N" sz="1800">
                  <a:solidFill>
                    <a:schemeClr val="dk1"/>
                  </a:solidFill>
                  <a:latin typeface="Bookman Old Style"/>
                  <a:ea typeface="Bookman Old Style"/>
                  <a:cs typeface="Bookman Old Style"/>
                  <a:sym typeface="Bookman Old Style"/>
                </a:rPr>
                <a:t>Translation</a:t>
              </a:r>
              <a:endParaRPr/>
            </a:p>
          </p:txBody>
        </p:sp>
        <p:pic>
          <p:nvPicPr>
            <p:cNvPr id="241" name="Google Shape;241;p12"/>
            <p:cNvPicPr preferRelativeResize="0"/>
            <p:nvPr/>
          </p:nvPicPr>
          <p:blipFill rotWithShape="1">
            <a:blip r:embed="rId3">
              <a:alphaModFix/>
            </a:blip>
            <a:srcRect b="0" l="0" r="0" t="0"/>
            <a:stretch/>
          </p:blipFill>
          <p:spPr>
            <a:xfrm>
              <a:off x="251520" y="2181224"/>
              <a:ext cx="8663880" cy="2955647"/>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ph type="title"/>
          </p:nvPr>
        </p:nvSpPr>
        <p:spPr>
          <a:xfrm>
            <a:off x="381000" y="25315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Preprocessing</a:t>
            </a:r>
            <a:endParaRPr>
              <a:latin typeface="Bookman Old Style"/>
              <a:ea typeface="Bookman Old Style"/>
              <a:cs typeface="Bookman Old Style"/>
              <a:sym typeface="Bookman Old Style"/>
            </a:endParaRPr>
          </a:p>
        </p:txBody>
      </p:sp>
      <p:sp>
        <p:nvSpPr>
          <p:cNvPr id="247" name="Google Shape;24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48" name="Google Shape;24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49" name="Google Shape;24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50" name="Google Shape;250;p13"/>
          <p:cNvPicPr preferRelativeResize="0"/>
          <p:nvPr/>
        </p:nvPicPr>
        <p:blipFill rotWithShape="1">
          <a:blip r:embed="rId3">
            <a:alphaModFix/>
          </a:blip>
          <a:srcRect b="0" l="0" r="0" t="0"/>
          <a:stretch/>
        </p:blipFill>
        <p:spPr>
          <a:xfrm>
            <a:off x="101859" y="2727037"/>
            <a:ext cx="5892021" cy="2759430"/>
          </a:xfrm>
          <a:prstGeom prst="rect">
            <a:avLst/>
          </a:prstGeom>
          <a:noFill/>
          <a:ln>
            <a:noFill/>
          </a:ln>
        </p:spPr>
      </p:pic>
      <p:pic>
        <p:nvPicPr>
          <p:cNvPr id="251" name="Google Shape;251;p13"/>
          <p:cNvPicPr preferRelativeResize="0"/>
          <p:nvPr/>
        </p:nvPicPr>
        <p:blipFill rotWithShape="1">
          <a:blip r:embed="rId4">
            <a:alphaModFix/>
          </a:blip>
          <a:srcRect b="0" l="0" r="0" t="0"/>
          <a:stretch/>
        </p:blipFill>
        <p:spPr>
          <a:xfrm>
            <a:off x="6013580" y="2662204"/>
            <a:ext cx="5448300" cy="2796540"/>
          </a:xfrm>
          <a:prstGeom prst="rect">
            <a:avLst/>
          </a:prstGeom>
          <a:noFill/>
          <a:ln>
            <a:noFill/>
          </a:ln>
        </p:spPr>
      </p:pic>
      <p:sp>
        <p:nvSpPr>
          <p:cNvPr id="252" name="Google Shape;252;p13"/>
          <p:cNvSpPr/>
          <p:nvPr/>
        </p:nvSpPr>
        <p:spPr>
          <a:xfrm>
            <a:off x="101859" y="5375907"/>
            <a:ext cx="1182344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AF00DB"/>
                </a:solidFill>
                <a:latin typeface="Bookman Old Style"/>
                <a:ea typeface="Bookman Old Style"/>
                <a:cs typeface="Bookman Old Style"/>
                <a:sym typeface="Bookman Old Style"/>
              </a:rPr>
              <a:t>from</a:t>
            </a:r>
            <a:r>
              <a:rPr lang="en-IN" sz="1800">
                <a:solidFill>
                  <a:srgbClr val="000000"/>
                </a:solidFill>
                <a:latin typeface="Bookman Old Style"/>
                <a:ea typeface="Bookman Old Style"/>
                <a:cs typeface="Bookman Old Style"/>
                <a:sym typeface="Bookman Old Style"/>
              </a:rPr>
              <a:t> tensorflow.keras.preprocessing.image </a:t>
            </a:r>
            <a:r>
              <a:rPr lang="en-IN" sz="1800">
                <a:solidFill>
                  <a:srgbClr val="AF00DB"/>
                </a:solidFill>
                <a:latin typeface="Bookman Old Style"/>
                <a:ea typeface="Bookman Old Style"/>
                <a:cs typeface="Bookman Old Style"/>
                <a:sym typeface="Bookman Old Style"/>
              </a:rPr>
              <a:t>import</a:t>
            </a:r>
            <a:r>
              <a:rPr lang="en-IN" sz="1800">
                <a:solidFill>
                  <a:srgbClr val="000000"/>
                </a:solidFill>
                <a:latin typeface="Bookman Old Style"/>
                <a:ea typeface="Bookman Old Style"/>
                <a:cs typeface="Bookman Old Style"/>
                <a:sym typeface="Bookman Old Style"/>
              </a:rPr>
              <a:t> </a:t>
            </a:r>
            <a:r>
              <a:rPr b="1" lang="en-IN" sz="1800">
                <a:solidFill>
                  <a:srgbClr val="000000"/>
                </a:solidFill>
                <a:latin typeface="Bookman Old Style"/>
                <a:ea typeface="Bookman Old Style"/>
                <a:cs typeface="Bookman Old Style"/>
                <a:sym typeface="Bookman Old Style"/>
              </a:rPr>
              <a:t>ImageDataGenerator</a:t>
            </a:r>
            <a:endParaRPr b="1" sz="1800">
              <a:solidFill>
                <a:srgbClr val="000000"/>
              </a:solidFill>
              <a:latin typeface="Bookman Old Style"/>
              <a:ea typeface="Bookman Old Style"/>
              <a:cs typeface="Bookman Old Style"/>
              <a:sym typeface="Bookman Old Style"/>
            </a:endParaRPr>
          </a:p>
          <a:p>
            <a:pPr indent="0" lvl="0" marL="0" marR="0" rtl="0" algn="l">
              <a:spcBef>
                <a:spcPts val="0"/>
              </a:spcBef>
              <a:spcAft>
                <a:spcPts val="0"/>
              </a:spcAft>
              <a:buNone/>
            </a:pPr>
            <a:r>
              <a:rPr lang="en-IN" sz="1800">
                <a:solidFill>
                  <a:srgbClr val="000000"/>
                </a:solidFill>
                <a:latin typeface="Bookman Old Style"/>
                <a:ea typeface="Bookman Old Style"/>
                <a:cs typeface="Bookman Old Style"/>
                <a:sym typeface="Bookman Old Style"/>
              </a:rPr>
              <a:t>train_datagen = ImageDataGenerator(rescale = </a:t>
            </a:r>
            <a:r>
              <a:rPr lang="en-IN" sz="1800">
                <a:solidFill>
                  <a:srgbClr val="116644"/>
                </a:solidFill>
                <a:latin typeface="Bookman Old Style"/>
                <a:ea typeface="Bookman Old Style"/>
                <a:cs typeface="Bookman Old Style"/>
                <a:sym typeface="Bookman Old Style"/>
              </a:rPr>
              <a:t>1</a:t>
            </a:r>
            <a:r>
              <a:rPr lang="en-IN" sz="1800">
                <a:solidFill>
                  <a:srgbClr val="000000"/>
                </a:solidFill>
                <a:latin typeface="Bookman Old Style"/>
                <a:ea typeface="Bookman Old Style"/>
                <a:cs typeface="Bookman Old Style"/>
                <a:sym typeface="Bookman Old Style"/>
              </a:rPr>
              <a:t>./</a:t>
            </a:r>
            <a:r>
              <a:rPr lang="en-IN" sz="1800">
                <a:solidFill>
                  <a:srgbClr val="116644"/>
                </a:solidFill>
                <a:latin typeface="Bookman Old Style"/>
                <a:ea typeface="Bookman Old Style"/>
                <a:cs typeface="Bookman Old Style"/>
                <a:sym typeface="Bookman Old Style"/>
              </a:rPr>
              <a:t>255</a:t>
            </a:r>
            <a:r>
              <a:rPr lang="en-IN" sz="1800">
                <a:solidFill>
                  <a:srgbClr val="000000"/>
                </a:solidFill>
                <a:latin typeface="Bookman Old Style"/>
                <a:ea typeface="Bookman Old Style"/>
                <a:cs typeface="Bookman Old Style"/>
                <a:sym typeface="Bookman Old Style"/>
              </a:rPr>
              <a:t>, shear_range = </a:t>
            </a:r>
            <a:r>
              <a:rPr lang="en-IN" sz="1800">
                <a:solidFill>
                  <a:srgbClr val="116644"/>
                </a:solidFill>
                <a:latin typeface="Bookman Old Style"/>
                <a:ea typeface="Bookman Old Style"/>
                <a:cs typeface="Bookman Old Style"/>
                <a:sym typeface="Bookman Old Style"/>
              </a:rPr>
              <a:t>0.2</a:t>
            </a:r>
            <a:r>
              <a:rPr lang="en-IN" sz="1800">
                <a:solidFill>
                  <a:srgbClr val="000000"/>
                </a:solidFill>
                <a:latin typeface="Bookman Old Style"/>
                <a:ea typeface="Bookman Old Style"/>
                <a:cs typeface="Bookman Old Style"/>
                <a:sym typeface="Bookman Old Style"/>
              </a:rPr>
              <a:t>, zoom_range = </a:t>
            </a:r>
            <a:r>
              <a:rPr lang="en-IN" sz="1800">
                <a:solidFill>
                  <a:srgbClr val="116644"/>
                </a:solidFill>
                <a:latin typeface="Bookman Old Style"/>
                <a:ea typeface="Bookman Old Style"/>
                <a:cs typeface="Bookman Old Style"/>
                <a:sym typeface="Bookman Old Style"/>
              </a:rPr>
              <a:t>0.4</a:t>
            </a:r>
            <a:r>
              <a:rPr lang="en-IN" sz="1800">
                <a:solidFill>
                  <a:srgbClr val="000000"/>
                </a:solidFill>
                <a:latin typeface="Bookman Old Style"/>
                <a:ea typeface="Bookman Old Style"/>
                <a:cs typeface="Bookman Old Style"/>
                <a:sym typeface="Bookman Old Style"/>
              </a:rPr>
              <a:t>, vertical_flip=</a:t>
            </a:r>
            <a:r>
              <a:rPr lang="en-IN" sz="1800">
                <a:solidFill>
                  <a:srgbClr val="0000FF"/>
                </a:solidFill>
                <a:latin typeface="Bookman Old Style"/>
                <a:ea typeface="Bookman Old Style"/>
                <a:cs typeface="Bookman Old Style"/>
                <a:sym typeface="Bookman Old Style"/>
              </a:rPr>
              <a:t>True, </a:t>
            </a:r>
            <a:r>
              <a:rPr lang="en-IN" sz="1800">
                <a:solidFill>
                  <a:srgbClr val="000000"/>
                </a:solidFill>
                <a:latin typeface="Bookman Old Style"/>
                <a:ea typeface="Bookman Old Style"/>
                <a:cs typeface="Bookman Old Style"/>
                <a:sym typeface="Bookman Old Style"/>
              </a:rPr>
              <a:t>horizontal_flip = </a:t>
            </a:r>
            <a:r>
              <a:rPr lang="en-IN" sz="1800">
                <a:solidFill>
                  <a:srgbClr val="0000FF"/>
                </a:solidFill>
                <a:latin typeface="Bookman Old Style"/>
                <a:ea typeface="Bookman Old Style"/>
                <a:cs typeface="Bookman Old Style"/>
                <a:sym typeface="Bookman Old Style"/>
              </a:rPr>
              <a:t>True</a:t>
            </a:r>
            <a:r>
              <a:rPr lang="en-IN" sz="1800">
                <a:solidFill>
                  <a:srgbClr val="000000"/>
                </a:solidFill>
                <a:latin typeface="Bookman Old Style"/>
                <a:ea typeface="Bookman Old Style"/>
                <a:cs typeface="Bookman Old Style"/>
                <a:sym typeface="Bookman Old Style"/>
              </a:rPr>
              <a:t>)</a:t>
            </a:r>
            <a:endParaRPr/>
          </a:p>
          <a:p>
            <a:pPr indent="0" lvl="0" marL="0" marR="0" rtl="0" algn="l">
              <a:spcBef>
                <a:spcPts val="0"/>
              </a:spcBef>
              <a:spcAft>
                <a:spcPts val="0"/>
              </a:spcAft>
              <a:buNone/>
            </a:pPr>
            <a:r>
              <a:rPr lang="en-IN" sz="1800">
                <a:solidFill>
                  <a:srgbClr val="000000"/>
                </a:solidFill>
                <a:latin typeface="Bookman Old Style"/>
                <a:ea typeface="Bookman Old Style"/>
                <a:cs typeface="Bookman Old Style"/>
                <a:sym typeface="Bookman Old Style"/>
              </a:rPr>
              <a:t>test_datagen = ImageDataGenerator(rescale = </a:t>
            </a:r>
            <a:r>
              <a:rPr lang="en-IN" sz="1800">
                <a:solidFill>
                  <a:srgbClr val="116644"/>
                </a:solidFill>
                <a:latin typeface="Bookman Old Style"/>
                <a:ea typeface="Bookman Old Style"/>
                <a:cs typeface="Bookman Old Style"/>
                <a:sym typeface="Bookman Old Style"/>
              </a:rPr>
              <a:t>1</a:t>
            </a:r>
            <a:r>
              <a:rPr lang="en-IN" sz="1800">
                <a:solidFill>
                  <a:srgbClr val="000000"/>
                </a:solidFill>
                <a:latin typeface="Bookman Old Style"/>
                <a:ea typeface="Bookman Old Style"/>
                <a:cs typeface="Bookman Old Style"/>
                <a:sym typeface="Bookman Old Style"/>
              </a:rPr>
              <a:t>./</a:t>
            </a:r>
            <a:r>
              <a:rPr lang="en-IN" sz="1800">
                <a:solidFill>
                  <a:srgbClr val="116644"/>
                </a:solidFill>
                <a:latin typeface="Bookman Old Style"/>
                <a:ea typeface="Bookman Old Style"/>
                <a:cs typeface="Bookman Old Style"/>
                <a:sym typeface="Bookman Old Style"/>
              </a:rPr>
              <a:t>255</a:t>
            </a:r>
            <a:r>
              <a:rPr lang="en-IN" sz="1800">
                <a:solidFill>
                  <a:srgbClr val="000000"/>
                </a:solidFill>
                <a:latin typeface="Bookman Old Style"/>
                <a:ea typeface="Bookman Old Style"/>
                <a:cs typeface="Bookman Old Style"/>
                <a:sym typeface="Bookman Old Style"/>
              </a:rPr>
              <a:t>)</a:t>
            </a:r>
            <a:endParaRPr b="0" sz="1800">
              <a:solidFill>
                <a:srgbClr val="000000"/>
              </a:solidFill>
              <a:latin typeface="Bookman Old Style"/>
              <a:ea typeface="Bookman Old Style"/>
              <a:cs typeface="Bookman Old Style"/>
              <a:sym typeface="Bookman Old Style"/>
            </a:endParaRPr>
          </a:p>
        </p:txBody>
      </p:sp>
      <p:grpSp>
        <p:nvGrpSpPr>
          <p:cNvPr id="253" name="Google Shape;253;p13"/>
          <p:cNvGrpSpPr/>
          <p:nvPr/>
        </p:nvGrpSpPr>
        <p:grpSpPr>
          <a:xfrm>
            <a:off x="586469" y="1271723"/>
            <a:ext cx="6487302" cy="1510373"/>
            <a:chOff x="586469" y="1271723"/>
            <a:chExt cx="6487302" cy="1510373"/>
          </a:xfrm>
        </p:grpSpPr>
        <p:pic>
          <p:nvPicPr>
            <p:cNvPr id="254" name="Google Shape;254;p13"/>
            <p:cNvPicPr preferRelativeResize="0"/>
            <p:nvPr/>
          </p:nvPicPr>
          <p:blipFill rotWithShape="1">
            <a:blip r:embed="rId5">
              <a:alphaModFix/>
            </a:blip>
            <a:srcRect b="0" l="0" r="0" t="0"/>
            <a:stretch/>
          </p:blipFill>
          <p:spPr>
            <a:xfrm>
              <a:off x="586469" y="1271723"/>
              <a:ext cx="3657600" cy="1510373"/>
            </a:xfrm>
            <a:prstGeom prst="rect">
              <a:avLst/>
            </a:prstGeom>
            <a:noFill/>
            <a:ln>
              <a:noFill/>
            </a:ln>
          </p:spPr>
        </p:pic>
        <p:sp>
          <p:nvSpPr>
            <p:cNvPr id="255" name="Google Shape;255;p13"/>
            <p:cNvSpPr/>
            <p:nvPr/>
          </p:nvSpPr>
          <p:spPr>
            <a:xfrm>
              <a:off x="4354636" y="1691931"/>
              <a:ext cx="271913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Slants the shape of an image along one axis. </a:t>
              </a:r>
              <a:endParaRPr sz="1800">
                <a:solidFill>
                  <a:schemeClr val="dk1"/>
                </a:solidFill>
                <a:latin typeface="Bookman Old Style"/>
                <a:ea typeface="Bookman Old Style"/>
                <a:cs typeface="Bookman Old Style"/>
                <a:sym typeface="Bookman Old Style"/>
              </a:endParaRPr>
            </a:p>
          </p:txBody>
        </p:sp>
      </p:grpSp>
      <p:grpSp>
        <p:nvGrpSpPr>
          <p:cNvPr id="256" name="Google Shape;256;p13"/>
          <p:cNvGrpSpPr/>
          <p:nvPr/>
        </p:nvGrpSpPr>
        <p:grpSpPr>
          <a:xfrm>
            <a:off x="4432042" y="121819"/>
            <a:ext cx="7029838" cy="2578539"/>
            <a:chOff x="4432042" y="149811"/>
            <a:chExt cx="7029838" cy="2578539"/>
          </a:xfrm>
        </p:grpSpPr>
        <p:pic>
          <p:nvPicPr>
            <p:cNvPr id="257" name="Google Shape;257;p13"/>
            <p:cNvPicPr preferRelativeResize="0"/>
            <p:nvPr/>
          </p:nvPicPr>
          <p:blipFill rotWithShape="1">
            <a:blip r:embed="rId6">
              <a:alphaModFix/>
            </a:blip>
            <a:srcRect b="3401" l="3195" r="19810" t="22585"/>
            <a:stretch/>
          </p:blipFill>
          <p:spPr>
            <a:xfrm>
              <a:off x="7537191" y="149811"/>
              <a:ext cx="3924689" cy="2578539"/>
            </a:xfrm>
            <a:prstGeom prst="rect">
              <a:avLst/>
            </a:prstGeom>
            <a:noFill/>
            <a:ln>
              <a:noFill/>
            </a:ln>
          </p:spPr>
        </p:pic>
        <p:sp>
          <p:nvSpPr>
            <p:cNvPr id="258" name="Google Shape;258;p13"/>
            <p:cNvSpPr/>
            <p:nvPr/>
          </p:nvSpPr>
          <p:spPr>
            <a:xfrm>
              <a:off x="4432042" y="368549"/>
              <a:ext cx="315753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Helps the model learn to recognize objects at different scales.</a:t>
              </a:r>
              <a:endParaRPr sz="1800">
                <a:solidFill>
                  <a:schemeClr val="dk1"/>
                </a:solidFill>
                <a:latin typeface="Bookman Old Style"/>
                <a:ea typeface="Bookman Old Style"/>
                <a:cs typeface="Bookman Old Style"/>
                <a:sym typeface="Bookman Old Style"/>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306355"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How to store the data</a:t>
            </a:r>
            <a:endParaRPr>
              <a:latin typeface="Bookman Old Style"/>
              <a:ea typeface="Bookman Old Style"/>
              <a:cs typeface="Bookman Old Style"/>
              <a:sym typeface="Bookman Old Style"/>
            </a:endParaRPr>
          </a:p>
        </p:txBody>
      </p:sp>
      <p:sp>
        <p:nvSpPr>
          <p:cNvPr id="264" name="Google Shape;26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65" name="Google Shape;26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66" name="Google Shape;26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267" name="Google Shape;267;p14"/>
          <p:cNvPicPr preferRelativeResize="0"/>
          <p:nvPr/>
        </p:nvPicPr>
        <p:blipFill rotWithShape="1">
          <a:blip r:embed="rId3">
            <a:alphaModFix/>
          </a:blip>
          <a:srcRect b="0" l="8141" r="41595" t="0"/>
          <a:stretch/>
        </p:blipFill>
        <p:spPr>
          <a:xfrm>
            <a:off x="209939" y="1699961"/>
            <a:ext cx="2687216" cy="1313482"/>
          </a:xfrm>
          <a:prstGeom prst="rect">
            <a:avLst/>
          </a:prstGeom>
          <a:noFill/>
          <a:ln>
            <a:noFill/>
          </a:ln>
        </p:spPr>
      </p:pic>
      <p:pic>
        <p:nvPicPr>
          <p:cNvPr id="268" name="Google Shape;268;p14"/>
          <p:cNvPicPr preferRelativeResize="0"/>
          <p:nvPr/>
        </p:nvPicPr>
        <p:blipFill rotWithShape="1">
          <a:blip r:embed="rId4">
            <a:alphaModFix/>
          </a:blip>
          <a:srcRect b="0" l="0" r="0" t="0"/>
          <a:stretch/>
        </p:blipFill>
        <p:spPr>
          <a:xfrm>
            <a:off x="3023119" y="1715545"/>
            <a:ext cx="5520165" cy="3014702"/>
          </a:xfrm>
          <a:prstGeom prst="rect">
            <a:avLst/>
          </a:prstGeom>
          <a:noFill/>
          <a:ln>
            <a:noFill/>
          </a:ln>
        </p:spPr>
      </p:pic>
      <p:sp>
        <p:nvSpPr>
          <p:cNvPr id="269" name="Google Shape;269;p14"/>
          <p:cNvSpPr/>
          <p:nvPr/>
        </p:nvSpPr>
        <p:spPr>
          <a:xfrm>
            <a:off x="141513" y="4858545"/>
            <a:ext cx="631527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training_set = train_datagen.flow_from_directory(</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'path/to/your/data',</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target_size=(height, width),</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batch_size= 8 or 16 or 32,</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    class_mode='binary' or 'categorical'</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a:t>
            </a:r>
            <a:endParaRPr/>
          </a:p>
        </p:txBody>
      </p:sp>
      <p:sp>
        <p:nvSpPr>
          <p:cNvPr id="270" name="Google Shape;270;p14"/>
          <p:cNvSpPr/>
          <p:nvPr/>
        </p:nvSpPr>
        <p:spPr>
          <a:xfrm>
            <a:off x="1828796" y="4858545"/>
            <a:ext cx="1576874" cy="375928"/>
          </a:xfrm>
          <a:prstGeom prst="rect">
            <a:avLst/>
          </a:prstGeom>
          <a:noFill/>
          <a:ln cap="flat" cmpd="sng" w="190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Calibri"/>
              <a:ea typeface="Calibri"/>
              <a:cs typeface="Calibri"/>
              <a:sym typeface="Calibri"/>
            </a:endParaRPr>
          </a:p>
        </p:txBody>
      </p:sp>
      <p:sp>
        <p:nvSpPr>
          <p:cNvPr id="271" name="Google Shape;271;p14"/>
          <p:cNvSpPr/>
          <p:nvPr/>
        </p:nvSpPr>
        <p:spPr>
          <a:xfrm>
            <a:off x="5812972" y="1281163"/>
            <a:ext cx="625906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This is an instance of ImageDataGenerator, It handles image preprocessing and augmentation.</a:t>
            </a:r>
            <a:endParaRPr/>
          </a:p>
        </p:txBody>
      </p:sp>
      <p:sp>
        <p:nvSpPr>
          <p:cNvPr id="272" name="Google Shape;272;p14"/>
          <p:cNvSpPr/>
          <p:nvPr/>
        </p:nvSpPr>
        <p:spPr>
          <a:xfrm rot="5400000">
            <a:off x="4547822" y="4221256"/>
            <a:ext cx="122995" cy="2108719"/>
          </a:xfrm>
          <a:prstGeom prst="rightBrace">
            <a:avLst>
              <a:gd fmla="val 8333" name="adj1"/>
              <a:gd fmla="val 50000" name="adj2"/>
            </a:avLst>
          </a:prstGeom>
          <a:noFill/>
          <a:ln cap="flat" cmpd="sng" w="190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73" name="Google Shape;273;p14"/>
          <p:cNvGrpSpPr/>
          <p:nvPr/>
        </p:nvGrpSpPr>
        <p:grpSpPr>
          <a:xfrm>
            <a:off x="5872066" y="1890630"/>
            <a:ext cx="6319934" cy="3139321"/>
            <a:chOff x="5872066" y="2413144"/>
            <a:chExt cx="6319934" cy="3139321"/>
          </a:xfrm>
        </p:grpSpPr>
        <p:sp>
          <p:nvSpPr>
            <p:cNvPr id="274" name="Google Shape;274;p14"/>
            <p:cNvSpPr/>
            <p:nvPr/>
          </p:nvSpPr>
          <p:spPr>
            <a:xfrm>
              <a:off x="5872066" y="2413144"/>
              <a:ext cx="6319934"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Expect the folder at 'path'. Each subfolder is treated as a class label, and all images in that folder are labeled accordingly.</a:t>
              </a:r>
              <a:endParaRPr/>
            </a:p>
            <a:p>
              <a:pPr indent="0" lvl="0" marL="0" marR="0" rtl="0" algn="l">
                <a:spcBef>
                  <a:spcPts val="0"/>
                </a:spcBef>
                <a:spcAft>
                  <a:spcPts val="0"/>
                </a:spcAft>
                <a:buNone/>
              </a:pPr>
              <a:r>
                <a:t/>
              </a:r>
              <a:endParaRPr sz="1800">
                <a:solidFill>
                  <a:schemeClr val="dk1"/>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sz="1800">
                <a:solidFill>
                  <a:schemeClr val="dk1"/>
                </a:solidFill>
                <a:latin typeface="Bookman Old Style"/>
                <a:ea typeface="Bookman Old Style"/>
                <a:cs typeface="Bookman Old Style"/>
                <a:sym typeface="Bookman Old Style"/>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Keras automatically labels the images based on the subfolder names:</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Example:</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Bookman Old Style"/>
                  <a:ea typeface="Bookman Old Style"/>
                  <a:cs typeface="Bookman Old Style"/>
                  <a:sym typeface="Bookman Old Style"/>
                </a:rPr>
                <a:t>All images in Covid/ get label 0</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Bookman Old Style"/>
                  <a:ea typeface="Bookman Old Style"/>
                  <a:cs typeface="Bookman Old Style"/>
                  <a:sym typeface="Bookman Old Style"/>
                </a:rPr>
                <a:t>All in Non Covid/ get label 1 (or vice versa, depending on alphabetical order)</a:t>
              </a:r>
              <a:endParaRPr/>
            </a:p>
          </p:txBody>
        </p:sp>
        <p:pic>
          <p:nvPicPr>
            <p:cNvPr id="275" name="Google Shape;275;p14"/>
            <p:cNvPicPr preferRelativeResize="0"/>
            <p:nvPr/>
          </p:nvPicPr>
          <p:blipFill rotWithShape="1">
            <a:blip r:embed="rId5">
              <a:alphaModFix/>
            </a:blip>
            <a:srcRect b="0" l="0" r="0" t="0"/>
            <a:stretch/>
          </p:blipFill>
          <p:spPr>
            <a:xfrm>
              <a:off x="8610600" y="3130853"/>
              <a:ext cx="1394581" cy="624894"/>
            </a:xfrm>
            <a:prstGeom prst="rect">
              <a:avLst/>
            </a:prstGeom>
            <a:noFill/>
            <a:ln>
              <a:noFill/>
            </a:ln>
          </p:spPr>
        </p:pic>
      </p:grpSp>
      <p:sp>
        <p:nvSpPr>
          <p:cNvPr id="276" name="Google Shape;276;p14"/>
          <p:cNvSpPr/>
          <p:nvPr/>
        </p:nvSpPr>
        <p:spPr>
          <a:xfrm>
            <a:off x="4477139" y="5534132"/>
            <a:ext cx="780972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This function resizes all input images to height and width (e.g., 64×64 or 32×32 or 512×512 pixels), regardless of their original size.</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This is required because CNNs need a consistent input shape.</a:t>
            </a:r>
            <a:endParaRPr/>
          </a:p>
        </p:txBody>
      </p:sp>
      <p:sp>
        <p:nvSpPr>
          <p:cNvPr id="277" name="Google Shape;277;p14"/>
          <p:cNvSpPr/>
          <p:nvPr/>
        </p:nvSpPr>
        <p:spPr>
          <a:xfrm>
            <a:off x="5783201" y="4998559"/>
            <a:ext cx="648607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600">
                <a:solidFill>
                  <a:schemeClr val="dk1"/>
                </a:solidFill>
                <a:latin typeface="Bookman Old Style"/>
                <a:ea typeface="Bookman Old Style"/>
                <a:cs typeface="Bookman Old Style"/>
                <a:sym typeface="Bookman Old Style"/>
              </a:rPr>
              <a:t>Loads 8 /16 /32 images at a time into memory during training</a:t>
            </a:r>
            <a:endParaRPr/>
          </a:p>
        </p:txBody>
      </p:sp>
      <p:sp>
        <p:nvSpPr>
          <p:cNvPr id="278" name="Google Shape;278;p14"/>
          <p:cNvSpPr/>
          <p:nvPr/>
        </p:nvSpPr>
        <p:spPr>
          <a:xfrm>
            <a:off x="503853" y="5458407"/>
            <a:ext cx="1231641" cy="327673"/>
          </a:xfrm>
          <a:prstGeom prst="rect">
            <a:avLst/>
          </a:prstGeom>
          <a:noFill/>
          <a:ln cap="flat" cmpd="sng" w="1905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279" name="Google Shape;279;p14"/>
          <p:cNvPicPr preferRelativeResize="0"/>
          <p:nvPr/>
        </p:nvPicPr>
        <p:blipFill rotWithShape="1">
          <a:blip r:embed="rId6">
            <a:alphaModFix/>
          </a:blip>
          <a:srcRect b="0" l="0" r="0" t="0"/>
          <a:stretch/>
        </p:blipFill>
        <p:spPr>
          <a:xfrm>
            <a:off x="322683" y="5797230"/>
            <a:ext cx="151708" cy="17351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5"/>
          <p:cNvSpPr txBox="1"/>
          <p:nvPr>
            <p:ph type="title"/>
          </p:nvPr>
        </p:nvSpPr>
        <p:spPr>
          <a:xfrm>
            <a:off x="482600" y="4103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Session 2</a:t>
            </a:r>
            <a:endParaRPr>
              <a:latin typeface="Bookman Old Style"/>
              <a:ea typeface="Bookman Old Style"/>
              <a:cs typeface="Bookman Old Style"/>
              <a:sym typeface="Bookman Old Style"/>
            </a:endParaRPr>
          </a:p>
        </p:txBody>
      </p:sp>
      <p:sp>
        <p:nvSpPr>
          <p:cNvPr id="285" name="Google Shape;285;p15"/>
          <p:cNvSpPr txBox="1"/>
          <p:nvPr>
            <p:ph idx="1" type="body"/>
          </p:nvPr>
        </p:nvSpPr>
        <p:spPr>
          <a:xfrm>
            <a:off x="482600" y="1735931"/>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rgbClr val="C00000"/>
              </a:buClr>
              <a:buSzPts val="2700"/>
              <a:buFont typeface="Noto Sans Symbols"/>
              <a:buChar char="⮚"/>
            </a:pPr>
            <a:r>
              <a:rPr b="1" lang="en-IN" sz="2700">
                <a:solidFill>
                  <a:srgbClr val="C00000"/>
                </a:solidFill>
                <a:latin typeface="Bookman Old Style"/>
                <a:ea typeface="Bookman Old Style"/>
                <a:cs typeface="Bookman Old Style"/>
                <a:sym typeface="Bookman Old Style"/>
              </a:rPr>
              <a:t> Introduction to Convolutional Neural Networks</a:t>
            </a:r>
            <a:endParaRPr/>
          </a:p>
          <a:p>
            <a:pPr indent="-228600" lvl="1" marL="685800" rtl="0" algn="l">
              <a:lnSpc>
                <a:spcPct val="150000"/>
              </a:lnSpc>
              <a:spcBef>
                <a:spcPts val="500"/>
              </a:spcBef>
              <a:spcAft>
                <a:spcPts val="0"/>
              </a:spcAft>
              <a:buClr>
                <a:schemeClr val="dk1"/>
              </a:buClr>
              <a:buSzPts val="2300"/>
              <a:buFont typeface="Noto Sans Symbols"/>
              <a:buChar char="✔"/>
            </a:pPr>
            <a:r>
              <a:rPr lang="en-IN" sz="2300">
                <a:latin typeface="Bookman Old Style"/>
                <a:ea typeface="Bookman Old Style"/>
                <a:cs typeface="Bookman Old Style"/>
                <a:sym typeface="Bookman Old Style"/>
              </a:rPr>
              <a:t> </a:t>
            </a:r>
            <a:r>
              <a:rPr lang="en-IN" sz="2700">
                <a:solidFill>
                  <a:srgbClr val="7030A0"/>
                </a:solidFill>
                <a:latin typeface="Bookman Old Style"/>
                <a:ea typeface="Bookman Old Style"/>
                <a:cs typeface="Bookman Old Style"/>
                <a:sym typeface="Bookman Old Style"/>
              </a:rPr>
              <a:t>Layers in CNN </a:t>
            </a:r>
            <a:endParaRPr/>
          </a:p>
          <a:p>
            <a:pPr indent="-228600" lvl="1" marL="685800" rtl="0" algn="l">
              <a:lnSpc>
                <a:spcPct val="150000"/>
              </a:lnSpc>
              <a:spcBef>
                <a:spcPts val="500"/>
              </a:spcBef>
              <a:spcAft>
                <a:spcPts val="0"/>
              </a:spcAft>
              <a:buClr>
                <a:srgbClr val="7030A0"/>
              </a:buClr>
              <a:buSzPts val="2700"/>
              <a:buFont typeface="Noto Sans Symbols"/>
              <a:buChar char="✔"/>
            </a:pPr>
            <a:r>
              <a:rPr lang="en-IN" sz="2700">
                <a:solidFill>
                  <a:srgbClr val="7030A0"/>
                </a:solidFill>
                <a:latin typeface="Bookman Old Style"/>
                <a:ea typeface="Bookman Old Style"/>
                <a:cs typeface="Bookman Old Style"/>
                <a:sym typeface="Bookman Old Style"/>
              </a:rPr>
              <a:t> Types of convolutions</a:t>
            </a:r>
            <a:endParaRPr/>
          </a:p>
          <a:p>
            <a:pPr indent="0" lvl="0" marL="0" rtl="0" algn="l">
              <a:lnSpc>
                <a:spcPct val="90000"/>
              </a:lnSpc>
              <a:spcBef>
                <a:spcPts val="1000"/>
              </a:spcBef>
              <a:spcAft>
                <a:spcPts val="0"/>
              </a:spcAft>
              <a:buClr>
                <a:schemeClr val="dk1"/>
              </a:buClr>
              <a:buSzPts val="2800"/>
              <a:buNone/>
            </a:pPr>
            <a:r>
              <a:t/>
            </a:r>
            <a:endParaRPr/>
          </a:p>
        </p:txBody>
      </p:sp>
      <p:sp>
        <p:nvSpPr>
          <p:cNvPr id="286" name="Google Shape;28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87" name="Google Shape;28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88" name="Google Shape;28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6"/>
          <p:cNvSpPr txBox="1"/>
          <p:nvPr>
            <p:ph type="title"/>
          </p:nvPr>
        </p:nvSpPr>
        <p:spPr>
          <a:xfrm>
            <a:off x="414867" y="4103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Introduction to CNN</a:t>
            </a:r>
            <a:endParaRPr>
              <a:latin typeface="Bookman Old Style"/>
              <a:ea typeface="Bookman Old Style"/>
              <a:cs typeface="Bookman Old Style"/>
              <a:sym typeface="Bookman Old Style"/>
            </a:endParaRPr>
          </a:p>
        </p:txBody>
      </p:sp>
      <p:sp>
        <p:nvSpPr>
          <p:cNvPr id="294" name="Google Shape;294;p16"/>
          <p:cNvSpPr txBox="1"/>
          <p:nvPr>
            <p:ph idx="1" type="body"/>
          </p:nvPr>
        </p:nvSpPr>
        <p:spPr>
          <a:xfrm>
            <a:off x="414867" y="1825625"/>
            <a:ext cx="11387665"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sz="2400">
                <a:latin typeface="Bookman Old Style"/>
                <a:ea typeface="Bookman Old Style"/>
                <a:cs typeface="Bookman Old Style"/>
                <a:sym typeface="Bookman Old Style"/>
              </a:rPr>
              <a:t>A convolutional neural network (CNN or ConvNet) is a type of deep learning neural network, and it has been applied successfully in various computer vision tasks, such as image classification, object detection, and image segmentation.</a:t>
            </a:r>
            <a:endParaRPr/>
          </a:p>
          <a:p>
            <a:pPr indent="0" lvl="0" marL="0" rtl="0" algn="l">
              <a:lnSpc>
                <a:spcPct val="90000"/>
              </a:lnSpc>
              <a:spcBef>
                <a:spcPts val="1000"/>
              </a:spcBef>
              <a:spcAft>
                <a:spcPts val="0"/>
              </a:spcAft>
              <a:buClr>
                <a:srgbClr val="C00000"/>
              </a:buClr>
              <a:buSzPts val="2400"/>
              <a:buNone/>
            </a:pPr>
            <a:r>
              <a:rPr b="1" lang="en-IN" sz="2400">
                <a:solidFill>
                  <a:srgbClr val="C00000"/>
                </a:solidFill>
                <a:latin typeface="Bookman Old Style"/>
                <a:ea typeface="Bookman Old Style"/>
                <a:cs typeface="Bookman Old Style"/>
                <a:sym typeface="Bookman Old Style"/>
              </a:rPr>
              <a:t>Spatial Feature Learning:</a:t>
            </a:r>
            <a:endParaRPr sz="2400">
              <a:solidFill>
                <a:srgbClr val="C00000"/>
              </a:solidFill>
              <a:latin typeface="Bookman Old Style"/>
              <a:ea typeface="Bookman Old Style"/>
              <a:cs typeface="Bookman Old Style"/>
              <a:sym typeface="Bookman Old Style"/>
            </a:endParaRPr>
          </a:p>
          <a:p>
            <a:pPr indent="-228600" lvl="0" marL="228600" rtl="0" algn="just">
              <a:lnSpc>
                <a:spcPct val="90000"/>
              </a:lnSpc>
              <a:spcBef>
                <a:spcPts val="1000"/>
              </a:spcBef>
              <a:spcAft>
                <a:spcPts val="0"/>
              </a:spcAft>
              <a:buClr>
                <a:schemeClr val="dk1"/>
              </a:buClr>
              <a:buSzPts val="2400"/>
              <a:buFont typeface="Noto Sans Symbols"/>
              <a:buChar char="⮚"/>
            </a:pPr>
            <a:r>
              <a:rPr lang="en-IN" sz="2400">
                <a:latin typeface="Bookman Old Style"/>
                <a:ea typeface="Bookman Old Style"/>
                <a:cs typeface="Bookman Old Style"/>
                <a:sym typeface="Bookman Old Style"/>
              </a:rPr>
              <a:t> CNNs </a:t>
            </a:r>
            <a:r>
              <a:rPr b="1" lang="en-IN" sz="2400">
                <a:latin typeface="Bookman Old Style"/>
                <a:ea typeface="Bookman Old Style"/>
                <a:cs typeface="Bookman Old Style"/>
                <a:sym typeface="Bookman Old Style"/>
              </a:rPr>
              <a:t>automatically detect patterns</a:t>
            </a:r>
            <a:r>
              <a:rPr lang="en-IN" sz="2400">
                <a:latin typeface="Bookman Old Style"/>
                <a:ea typeface="Bookman Old Style"/>
                <a:cs typeface="Bookman Old Style"/>
                <a:sym typeface="Bookman Old Style"/>
              </a:rPr>
              <a:t> like edges, textures, and objects.</a:t>
            </a:r>
            <a:endParaRPr/>
          </a:p>
          <a:p>
            <a:pPr indent="-228600" lvl="0" marL="228600" rtl="0" algn="just">
              <a:lnSpc>
                <a:spcPct val="90000"/>
              </a:lnSpc>
              <a:spcBef>
                <a:spcPts val="1000"/>
              </a:spcBef>
              <a:spcAft>
                <a:spcPts val="0"/>
              </a:spcAft>
              <a:buClr>
                <a:schemeClr val="dk1"/>
              </a:buClr>
              <a:buSzPts val="2400"/>
              <a:buFont typeface="Noto Sans Symbols"/>
              <a:buChar char="⮚"/>
            </a:pPr>
            <a:r>
              <a:rPr lang="en-IN" sz="2400">
                <a:latin typeface="Bookman Old Style"/>
                <a:ea typeface="Bookman Old Style"/>
                <a:cs typeface="Bookman Old Style"/>
                <a:sym typeface="Bookman Old Style"/>
              </a:rPr>
              <a:t> Filters learn </a:t>
            </a:r>
            <a:r>
              <a:rPr b="1" lang="en-IN" sz="2400">
                <a:latin typeface="Bookman Old Style"/>
                <a:ea typeface="Bookman Old Style"/>
                <a:cs typeface="Bookman Old Style"/>
                <a:sym typeface="Bookman Old Style"/>
              </a:rPr>
              <a:t>localized features</a:t>
            </a:r>
            <a:r>
              <a:rPr lang="en-IN" sz="2400">
                <a:latin typeface="Bookman Old Style"/>
                <a:ea typeface="Bookman Old Style"/>
                <a:cs typeface="Bookman Old Style"/>
                <a:sym typeface="Bookman Old Style"/>
              </a:rPr>
              <a:t> that are position-invariant and scale well.</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95" name="Google Shape;29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296" name="Google Shape;29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297" name="Google Shape;29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title"/>
          </p:nvPr>
        </p:nvSpPr>
        <p:spPr>
          <a:xfrm>
            <a:off x="174112" y="365125"/>
            <a:ext cx="1117968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Inspiration Behind CNN and Parallels With The Human Visual System</a:t>
            </a:r>
            <a:endParaRPr>
              <a:latin typeface="Bookman Old Style"/>
              <a:ea typeface="Bookman Old Style"/>
              <a:cs typeface="Bookman Old Style"/>
              <a:sym typeface="Bookman Old Style"/>
            </a:endParaRPr>
          </a:p>
        </p:txBody>
      </p:sp>
      <p:sp>
        <p:nvSpPr>
          <p:cNvPr id="303" name="Google Shape;30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304" name="Google Shape;30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305" name="Google Shape;30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306" name="Google Shape;306;p17"/>
          <p:cNvPicPr preferRelativeResize="0"/>
          <p:nvPr/>
        </p:nvPicPr>
        <p:blipFill rotWithShape="1">
          <a:blip r:embed="rId3">
            <a:alphaModFix/>
          </a:blip>
          <a:srcRect b="0" l="0" r="0" t="0"/>
          <a:stretch/>
        </p:blipFill>
        <p:spPr>
          <a:xfrm>
            <a:off x="174112" y="1690688"/>
            <a:ext cx="7905036" cy="3397779"/>
          </a:xfrm>
          <a:prstGeom prst="rect">
            <a:avLst/>
          </a:prstGeom>
          <a:noFill/>
          <a:ln>
            <a:noFill/>
          </a:ln>
        </p:spPr>
      </p:pic>
      <p:sp>
        <p:nvSpPr>
          <p:cNvPr id="307" name="Google Shape;307;p17"/>
          <p:cNvSpPr txBox="1"/>
          <p:nvPr/>
        </p:nvSpPr>
        <p:spPr>
          <a:xfrm>
            <a:off x="5031148" y="5088467"/>
            <a:ext cx="60960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00000"/>
              </a:buClr>
              <a:buSzPts val="1400"/>
              <a:buFont typeface="Bookman Old Style"/>
              <a:buNone/>
            </a:pPr>
            <a:r>
              <a:rPr b="1" lang="en-IN" sz="1400">
                <a:solidFill>
                  <a:srgbClr val="C00000"/>
                </a:solidFill>
                <a:latin typeface="Bookman Old Style"/>
                <a:ea typeface="Bookman Old Style"/>
                <a:cs typeface="Bookman Old Style"/>
                <a:sym typeface="Bookman Old Style"/>
              </a:rPr>
              <a:t>V1 (Primary Visual Cortex)</a:t>
            </a:r>
            <a:r>
              <a:rPr lang="en-IN" sz="1400">
                <a:solidFill>
                  <a:srgbClr val="C00000"/>
                </a:solidFill>
                <a:latin typeface="Bookman Old Style"/>
                <a:ea typeface="Bookman Old Style"/>
                <a:cs typeface="Bookman Old Style"/>
                <a:sym typeface="Bookman Old Style"/>
              </a:rPr>
              <a:t>:</a:t>
            </a:r>
            <a:endParaRPr/>
          </a:p>
          <a:p>
            <a:pPr indent="-88900" lvl="1" marL="457200" marR="0" rtl="0" algn="l">
              <a:spcBef>
                <a:spcPts val="0"/>
              </a:spcBef>
              <a:spcAft>
                <a:spcPts val="0"/>
              </a:spcAft>
              <a:buClr>
                <a:schemeClr val="dk1"/>
              </a:buClr>
              <a:buSzPts val="1400"/>
              <a:buFont typeface="Arial"/>
              <a:buChar char="•"/>
            </a:pPr>
            <a:r>
              <a:rPr b="0" i="0" lang="en-IN" sz="1400" u="none" cap="none" strike="noStrike">
                <a:solidFill>
                  <a:schemeClr val="dk1"/>
                </a:solidFill>
                <a:latin typeface="Bookman Old Style"/>
                <a:ea typeface="Bookman Old Style"/>
                <a:cs typeface="Bookman Old Style"/>
                <a:sym typeface="Bookman Old Style"/>
              </a:rPr>
              <a:t> Detects </a:t>
            </a:r>
            <a:r>
              <a:rPr b="1" i="0" lang="en-IN" sz="1400" u="none" cap="none" strike="noStrike">
                <a:solidFill>
                  <a:schemeClr val="dk1"/>
                </a:solidFill>
                <a:latin typeface="Bookman Old Style"/>
                <a:ea typeface="Bookman Old Style"/>
                <a:cs typeface="Bookman Old Style"/>
                <a:sym typeface="Bookman Old Style"/>
              </a:rPr>
              <a:t>basic visual features</a:t>
            </a:r>
            <a:r>
              <a:rPr b="0" i="0" lang="en-IN" sz="1400" u="none" cap="none" strike="noStrike">
                <a:solidFill>
                  <a:schemeClr val="dk1"/>
                </a:solidFill>
                <a:latin typeface="Bookman Old Style"/>
                <a:ea typeface="Bookman Old Style"/>
                <a:cs typeface="Bookman Old Style"/>
                <a:sym typeface="Bookman Old Style"/>
              </a:rPr>
              <a:t> like </a:t>
            </a:r>
            <a:r>
              <a:rPr b="1" i="0" lang="en-IN" sz="1400" u="none" cap="none" strike="noStrike">
                <a:solidFill>
                  <a:schemeClr val="dk1"/>
                </a:solidFill>
                <a:latin typeface="Bookman Old Style"/>
                <a:ea typeface="Bookman Old Style"/>
                <a:cs typeface="Bookman Old Style"/>
                <a:sym typeface="Bookman Old Style"/>
              </a:rPr>
              <a:t>edges</a:t>
            </a:r>
            <a:r>
              <a:rPr b="0" i="0" lang="en-IN" sz="1400" u="none" cap="none" strike="noStrike">
                <a:solidFill>
                  <a:schemeClr val="dk1"/>
                </a:solidFill>
                <a:latin typeface="Bookman Old Style"/>
                <a:ea typeface="Bookman Old Style"/>
                <a:cs typeface="Bookman Old Style"/>
                <a:sym typeface="Bookman Old Style"/>
              </a:rPr>
              <a:t> and </a:t>
            </a:r>
            <a:r>
              <a:rPr b="1" i="0" lang="en-IN" sz="1400" u="none" cap="none" strike="noStrike">
                <a:solidFill>
                  <a:schemeClr val="dk1"/>
                </a:solidFill>
                <a:latin typeface="Bookman Old Style"/>
                <a:ea typeface="Bookman Old Style"/>
                <a:cs typeface="Bookman Old Style"/>
                <a:sym typeface="Bookman Old Style"/>
              </a:rPr>
              <a:t>lines</a:t>
            </a:r>
            <a:r>
              <a:rPr b="0" i="0" lang="en-IN" sz="1400" u="none" cap="none" strike="noStrike">
                <a:solidFill>
                  <a:schemeClr val="dk1"/>
                </a:solidFill>
                <a:latin typeface="Bookman Old Style"/>
                <a:ea typeface="Bookman Old Style"/>
                <a:cs typeface="Bookman Old Style"/>
                <a:sym typeface="Bookman Old Style"/>
              </a:rPr>
              <a:t>.</a:t>
            </a:r>
            <a:endParaRPr/>
          </a:p>
          <a:p>
            <a:pPr indent="-88900" lvl="1" marL="457200" marR="0" rtl="0" algn="l">
              <a:spcBef>
                <a:spcPts val="0"/>
              </a:spcBef>
              <a:spcAft>
                <a:spcPts val="0"/>
              </a:spcAft>
              <a:buClr>
                <a:schemeClr val="dk1"/>
              </a:buClr>
              <a:buSzPts val="1400"/>
              <a:buFont typeface="Arial"/>
              <a:buChar char="•"/>
            </a:pPr>
            <a:r>
              <a:rPr b="0" i="0" lang="en-IN" sz="1400" u="none" cap="none" strike="noStrike">
                <a:solidFill>
                  <a:schemeClr val="dk1"/>
                </a:solidFill>
                <a:latin typeface="Bookman Old Style"/>
                <a:ea typeface="Bookman Old Style"/>
                <a:cs typeface="Bookman Old Style"/>
                <a:sym typeface="Bookman Old Style"/>
              </a:rPr>
              <a:t> These are the lowest-level features in the visual hierarchy.</a:t>
            </a:r>
            <a:endParaRPr/>
          </a:p>
        </p:txBody>
      </p:sp>
      <p:sp>
        <p:nvSpPr>
          <p:cNvPr id="308" name="Google Shape;308;p17"/>
          <p:cNvSpPr txBox="1"/>
          <p:nvPr/>
        </p:nvSpPr>
        <p:spPr>
          <a:xfrm>
            <a:off x="8079148" y="3241807"/>
            <a:ext cx="4106333"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00000"/>
              </a:buClr>
              <a:buSzPts val="1400"/>
              <a:buFont typeface="Bookman Old Style"/>
              <a:buNone/>
            </a:pPr>
            <a:r>
              <a:rPr b="1" lang="en-IN" sz="1400">
                <a:solidFill>
                  <a:srgbClr val="C00000"/>
                </a:solidFill>
                <a:latin typeface="Bookman Old Style"/>
                <a:ea typeface="Bookman Old Style"/>
                <a:cs typeface="Bookman Old Style"/>
                <a:sym typeface="Bookman Old Style"/>
              </a:rPr>
              <a:t>V2, V4 (Secondary and Tertiary Visual Areas)</a:t>
            </a:r>
            <a:r>
              <a:rPr lang="en-IN" sz="1400">
                <a:solidFill>
                  <a:srgbClr val="C00000"/>
                </a:solidFill>
                <a:latin typeface="Bookman Old Style"/>
                <a:ea typeface="Bookman Old Style"/>
                <a:cs typeface="Bookman Old Style"/>
                <a:sym typeface="Bookman Old Style"/>
              </a:rPr>
              <a:t>:</a:t>
            </a:r>
            <a:endParaRPr/>
          </a:p>
          <a:p>
            <a:pPr indent="-88900" lvl="1" marL="457200" marR="0" rtl="0" algn="l">
              <a:spcBef>
                <a:spcPts val="0"/>
              </a:spcBef>
              <a:spcAft>
                <a:spcPts val="0"/>
              </a:spcAft>
              <a:buClr>
                <a:schemeClr val="dk1"/>
              </a:buClr>
              <a:buSzPts val="1400"/>
              <a:buFont typeface="Arial"/>
              <a:buChar char="•"/>
            </a:pPr>
            <a:r>
              <a:rPr b="0" i="0" lang="en-IN" sz="1400" u="none" cap="none" strike="noStrike">
                <a:solidFill>
                  <a:schemeClr val="dk1"/>
                </a:solidFill>
                <a:latin typeface="Bookman Old Style"/>
                <a:ea typeface="Bookman Old Style"/>
                <a:cs typeface="Bookman Old Style"/>
                <a:sym typeface="Bookman Old Style"/>
              </a:rPr>
              <a:t> V2 integrates basic features into </a:t>
            </a:r>
            <a:r>
              <a:rPr b="1" i="0" lang="en-IN" sz="1400" u="none" cap="none" strike="noStrike">
                <a:solidFill>
                  <a:schemeClr val="dk1"/>
                </a:solidFill>
                <a:latin typeface="Bookman Old Style"/>
                <a:ea typeface="Bookman Old Style"/>
                <a:cs typeface="Bookman Old Style"/>
                <a:sym typeface="Bookman Old Style"/>
              </a:rPr>
              <a:t>shapes</a:t>
            </a:r>
            <a:r>
              <a:rPr b="0" i="0" lang="en-IN" sz="1400" u="none" cap="none" strike="noStrike">
                <a:solidFill>
                  <a:schemeClr val="dk1"/>
                </a:solidFill>
                <a:latin typeface="Bookman Old Style"/>
                <a:ea typeface="Bookman Old Style"/>
                <a:cs typeface="Bookman Old Style"/>
                <a:sym typeface="Bookman Old Style"/>
              </a:rPr>
              <a:t>.</a:t>
            </a:r>
            <a:endParaRPr/>
          </a:p>
          <a:p>
            <a:pPr indent="-88900" lvl="1" marL="457200" marR="0" rtl="0" algn="l">
              <a:spcBef>
                <a:spcPts val="0"/>
              </a:spcBef>
              <a:spcAft>
                <a:spcPts val="0"/>
              </a:spcAft>
              <a:buClr>
                <a:schemeClr val="dk1"/>
              </a:buClr>
              <a:buSzPts val="1400"/>
              <a:buFont typeface="Arial"/>
              <a:buChar char="•"/>
            </a:pPr>
            <a:r>
              <a:rPr b="0" i="0" lang="en-IN" sz="1400" u="none" cap="none" strike="noStrike">
                <a:solidFill>
                  <a:schemeClr val="dk1"/>
                </a:solidFill>
                <a:latin typeface="Bookman Old Style"/>
                <a:ea typeface="Bookman Old Style"/>
                <a:cs typeface="Bookman Old Style"/>
                <a:sym typeface="Bookman Old Style"/>
              </a:rPr>
              <a:t> V4 is involved in detecting </a:t>
            </a:r>
            <a:r>
              <a:rPr b="1" i="0" lang="en-IN" sz="1400" u="none" cap="none" strike="noStrike">
                <a:solidFill>
                  <a:schemeClr val="dk1"/>
                </a:solidFill>
                <a:latin typeface="Bookman Old Style"/>
                <a:ea typeface="Bookman Old Style"/>
                <a:cs typeface="Bookman Old Style"/>
                <a:sym typeface="Bookman Old Style"/>
              </a:rPr>
              <a:t>color</a:t>
            </a:r>
            <a:r>
              <a:rPr b="0" i="0" lang="en-IN" sz="1400" u="none" cap="none" strike="noStrike">
                <a:solidFill>
                  <a:schemeClr val="dk1"/>
                </a:solidFill>
                <a:latin typeface="Bookman Old Style"/>
                <a:ea typeface="Bookman Old Style"/>
                <a:cs typeface="Bookman Old Style"/>
                <a:sym typeface="Bookman Old Style"/>
              </a:rPr>
              <a:t> and more complex </a:t>
            </a:r>
            <a:r>
              <a:rPr b="1" i="0" lang="en-IN" sz="1400" u="none" cap="none" strike="noStrike">
                <a:solidFill>
                  <a:schemeClr val="dk1"/>
                </a:solidFill>
                <a:latin typeface="Bookman Old Style"/>
                <a:ea typeface="Bookman Old Style"/>
                <a:cs typeface="Bookman Old Style"/>
                <a:sym typeface="Bookman Old Style"/>
              </a:rPr>
              <a:t>object parts</a:t>
            </a:r>
            <a:r>
              <a:rPr b="0" i="0" lang="en-IN" sz="1400" u="none" cap="none" strike="noStrike">
                <a:solidFill>
                  <a:schemeClr val="dk1"/>
                </a:solidFill>
                <a:latin typeface="Bookman Old Style"/>
                <a:ea typeface="Bookman Old Style"/>
                <a:cs typeface="Bookman Old Style"/>
                <a:sym typeface="Bookman Old Style"/>
              </a:rPr>
              <a:t>.</a:t>
            </a:r>
            <a:endParaRPr/>
          </a:p>
        </p:txBody>
      </p:sp>
      <p:sp>
        <p:nvSpPr>
          <p:cNvPr id="309" name="Google Shape;309;p17"/>
          <p:cNvSpPr txBox="1"/>
          <p:nvPr/>
        </p:nvSpPr>
        <p:spPr>
          <a:xfrm>
            <a:off x="8079148" y="1918367"/>
            <a:ext cx="4045119"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00000"/>
              </a:buClr>
              <a:buSzPts val="1400"/>
              <a:buFont typeface="Bookman Old Style"/>
              <a:buNone/>
            </a:pPr>
            <a:r>
              <a:rPr b="1" lang="en-IN" sz="1400">
                <a:solidFill>
                  <a:srgbClr val="C00000"/>
                </a:solidFill>
                <a:latin typeface="Bookman Old Style"/>
                <a:ea typeface="Bookman Old Style"/>
                <a:cs typeface="Bookman Old Style"/>
                <a:sym typeface="Bookman Old Style"/>
              </a:rPr>
              <a:t>IT (Infero-temporal Cortex)</a:t>
            </a:r>
            <a:r>
              <a:rPr lang="en-IN" sz="1400">
                <a:solidFill>
                  <a:srgbClr val="C00000"/>
                </a:solidFill>
                <a:latin typeface="Bookman Old Style"/>
                <a:ea typeface="Bookman Old Style"/>
                <a:cs typeface="Bookman Old Style"/>
                <a:sym typeface="Bookman Old Style"/>
              </a:rPr>
              <a:t>:</a:t>
            </a:r>
            <a:endParaRPr/>
          </a:p>
          <a:p>
            <a:pPr indent="-88900" lvl="1" marL="457200" marR="0" rtl="0" algn="l">
              <a:spcBef>
                <a:spcPts val="0"/>
              </a:spcBef>
              <a:spcAft>
                <a:spcPts val="0"/>
              </a:spcAft>
              <a:buClr>
                <a:schemeClr val="dk1"/>
              </a:buClr>
              <a:buSzPts val="1400"/>
              <a:buFont typeface="Arial"/>
              <a:buChar char="•"/>
            </a:pPr>
            <a:r>
              <a:rPr b="0" i="0" lang="en-IN" sz="1400" u="none" cap="none" strike="noStrike">
                <a:solidFill>
                  <a:schemeClr val="dk1"/>
                </a:solidFill>
                <a:latin typeface="Bookman Old Style"/>
                <a:ea typeface="Bookman Old Style"/>
                <a:cs typeface="Bookman Old Style"/>
                <a:sym typeface="Bookman Old Style"/>
              </a:rPr>
              <a:t> High-level visual area responsible for recognizing </a:t>
            </a:r>
            <a:r>
              <a:rPr b="1" i="0" lang="en-IN" sz="1400" u="none" cap="none" strike="noStrike">
                <a:solidFill>
                  <a:schemeClr val="dk1"/>
                </a:solidFill>
                <a:latin typeface="Bookman Old Style"/>
                <a:ea typeface="Bookman Old Style"/>
                <a:cs typeface="Bookman Old Style"/>
                <a:sym typeface="Bookman Old Style"/>
              </a:rPr>
              <a:t>faces</a:t>
            </a:r>
            <a:r>
              <a:rPr b="0" i="0" lang="en-IN" sz="1400" u="none" cap="none" strike="noStrike">
                <a:solidFill>
                  <a:schemeClr val="dk1"/>
                </a:solidFill>
                <a:latin typeface="Bookman Old Style"/>
                <a:ea typeface="Bookman Old Style"/>
                <a:cs typeface="Bookman Old Style"/>
                <a:sym typeface="Bookman Old Style"/>
              </a:rPr>
              <a:t>, </a:t>
            </a:r>
            <a:r>
              <a:rPr b="1" i="0" lang="en-IN" sz="1400" u="none" cap="none" strike="noStrike">
                <a:solidFill>
                  <a:schemeClr val="dk1"/>
                </a:solidFill>
                <a:latin typeface="Bookman Old Style"/>
                <a:ea typeface="Bookman Old Style"/>
                <a:cs typeface="Bookman Old Style"/>
                <a:sym typeface="Bookman Old Style"/>
              </a:rPr>
              <a:t>objects</a:t>
            </a:r>
            <a:r>
              <a:rPr b="0" i="0" lang="en-IN" sz="1400" u="none" cap="none" strike="noStrike">
                <a:solidFill>
                  <a:schemeClr val="dk1"/>
                </a:solidFill>
                <a:latin typeface="Bookman Old Style"/>
                <a:ea typeface="Bookman Old Style"/>
                <a:cs typeface="Bookman Old Style"/>
                <a:sym typeface="Bookman Old Style"/>
              </a:rPr>
              <a:t>, and complex patterns.</a:t>
            </a:r>
            <a:endParaRPr/>
          </a:p>
          <a:p>
            <a:pPr indent="-88900" lvl="1" marL="457200" marR="0" rtl="0" algn="l">
              <a:spcBef>
                <a:spcPts val="0"/>
              </a:spcBef>
              <a:spcAft>
                <a:spcPts val="0"/>
              </a:spcAft>
              <a:buClr>
                <a:schemeClr val="dk1"/>
              </a:buClr>
              <a:buSzPts val="1400"/>
              <a:buFont typeface="Arial"/>
              <a:buChar char="•"/>
            </a:pPr>
            <a:r>
              <a:rPr b="0" i="0" lang="en-IN" sz="1400" u="none" cap="none" strike="noStrike">
                <a:solidFill>
                  <a:schemeClr val="dk1"/>
                </a:solidFill>
                <a:latin typeface="Bookman Old Style"/>
                <a:ea typeface="Bookman Old Style"/>
                <a:cs typeface="Bookman Old Style"/>
                <a:sym typeface="Bookman Old Style"/>
              </a:rPr>
              <a:t> Final stages of object recognition.</a:t>
            </a:r>
            <a:endParaRPr/>
          </a:p>
        </p:txBody>
      </p:sp>
      <p:sp>
        <p:nvSpPr>
          <p:cNvPr id="310" name="Google Shape;310;p17"/>
          <p:cNvSpPr txBox="1"/>
          <p:nvPr/>
        </p:nvSpPr>
        <p:spPr>
          <a:xfrm>
            <a:off x="364067" y="4982646"/>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a:solidFill>
                  <a:schemeClr val="dk1"/>
                </a:solidFill>
                <a:latin typeface="Bookman Old Style"/>
                <a:ea typeface="Bookman Old Style"/>
                <a:cs typeface="Bookman Old Style"/>
                <a:sym typeface="Bookman Old Style"/>
              </a:rPr>
              <a:t>Human Visual Cortex Ventral Pathway </a:t>
            </a:r>
            <a:endParaRPr sz="180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graphicFrame>
        <p:nvGraphicFramePr>
          <p:cNvPr id="316" name="Google Shape;316;p18"/>
          <p:cNvGraphicFramePr/>
          <p:nvPr/>
        </p:nvGraphicFramePr>
        <p:xfrm>
          <a:off x="660400" y="2169108"/>
          <a:ext cx="3000000" cy="3000000"/>
        </p:xfrm>
        <a:graphic>
          <a:graphicData uri="http://schemas.openxmlformats.org/drawingml/2006/table">
            <a:tbl>
              <a:tblPr>
                <a:noFill/>
                <a:tableStyleId>{98DBD131-C402-4C9B-BBDB-2C38213BF561}</a:tableStyleId>
              </a:tblPr>
              <a:tblGrid>
                <a:gridCol w="1476300"/>
                <a:gridCol w="5159825"/>
                <a:gridCol w="4387450"/>
              </a:tblGrid>
              <a:tr h="228600">
                <a:tc>
                  <a:txBody>
                    <a:bodyPr/>
                    <a:lstStyle/>
                    <a:p>
                      <a:pPr indent="0" lvl="0" marL="0" marR="0" rtl="0" algn="ctr">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Brain Area</a:t>
                      </a:r>
                      <a:endParaRPr/>
                    </a:p>
                  </a:txBody>
                  <a:tcPr marT="45725" marB="45725" marR="91450" marL="91450" anchor="ctr"/>
                </a:tc>
                <a:tc>
                  <a:txBody>
                    <a:bodyPr/>
                    <a:lstStyle/>
                    <a:p>
                      <a:pPr indent="0" lvl="0" marL="0" marR="0" rtl="0" algn="ctr">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Function</a:t>
                      </a:r>
                      <a:endParaRPr/>
                    </a:p>
                  </a:txBody>
                  <a:tcPr marT="45725" marB="45725" marR="91450" marL="91450" anchor="ctr"/>
                </a:tc>
                <a:tc>
                  <a:txBody>
                    <a:bodyPr/>
                    <a:lstStyle/>
                    <a:p>
                      <a:pPr indent="0" lvl="0" marL="0" marR="0" rtl="0" algn="ctr">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CNN Equivalent</a:t>
                      </a:r>
                      <a:endParaRPr/>
                    </a:p>
                  </a:txBody>
                  <a:tcPr marT="45725" marB="45725" marR="91450" marL="91450" anchor="ctr"/>
                </a:tc>
              </a:tr>
              <a:tr h="228600">
                <a:tc>
                  <a:txBody>
                    <a:bodyPr/>
                    <a:lstStyle/>
                    <a:p>
                      <a:pPr indent="0" lvl="0" marL="0" marR="0" rtl="0" algn="l">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V1</a:t>
                      </a:r>
                      <a:endParaRPr sz="1800" u="none" cap="none" strike="noStrike">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Detects edges and lines</a:t>
                      </a:r>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Early convolutional layers</a:t>
                      </a:r>
                      <a:endParaRPr/>
                    </a:p>
                  </a:txBody>
                  <a:tcPr marT="45725" marB="45725" marR="91450" marL="91450" anchor="ctr"/>
                </a:tc>
              </a:tr>
              <a:tr h="228600">
                <a:tc>
                  <a:txBody>
                    <a:bodyPr/>
                    <a:lstStyle/>
                    <a:p>
                      <a:pPr indent="0" lvl="0" marL="0" marR="0" rtl="0" algn="l">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V2</a:t>
                      </a:r>
                      <a:endParaRPr sz="1800" u="none" cap="none" strike="noStrike">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Detects basic shapes</a:t>
                      </a:r>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Middle conv layers</a:t>
                      </a:r>
                      <a:endParaRPr/>
                    </a:p>
                  </a:txBody>
                  <a:tcPr marT="45725" marB="45725" marR="91450" marL="91450" anchor="ctr"/>
                </a:tc>
              </a:tr>
              <a:tr h="228600">
                <a:tc>
                  <a:txBody>
                    <a:bodyPr/>
                    <a:lstStyle/>
                    <a:p>
                      <a:pPr indent="0" lvl="0" marL="0" marR="0" rtl="0" algn="l">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V4</a:t>
                      </a:r>
                      <a:endParaRPr sz="1800" u="none" cap="none" strike="noStrike">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Detects object parts, intermediate complexity</a:t>
                      </a:r>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Deeper conv layers</a:t>
                      </a:r>
                      <a:endParaRPr/>
                    </a:p>
                  </a:txBody>
                  <a:tcPr marT="45725" marB="45725" marR="91450" marL="91450" anchor="ctr"/>
                </a:tc>
              </a:tr>
              <a:tr h="228600">
                <a:tc>
                  <a:txBody>
                    <a:bodyPr/>
                    <a:lstStyle/>
                    <a:p>
                      <a:pPr indent="0" lvl="0" marL="0" marR="0" rtl="0" algn="l">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IT</a:t>
                      </a:r>
                      <a:endParaRPr sz="1800" u="none" cap="none" strike="noStrike">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l">
                        <a:lnSpc>
                          <a:spcPct val="150000"/>
                        </a:lnSpc>
                        <a:spcBef>
                          <a:spcPts val="0"/>
                        </a:spcBef>
                        <a:spcAft>
                          <a:spcPts val="0"/>
                        </a:spcAft>
                        <a:buNone/>
                      </a:pPr>
                      <a:r>
                        <a:rPr lang="en-IN" sz="1800" u="none" cap="none" strike="noStrike">
                          <a:latin typeface="Bookman Old Style"/>
                          <a:ea typeface="Bookman Old Style"/>
                          <a:cs typeface="Bookman Old Style"/>
                          <a:sym typeface="Bookman Old Style"/>
                        </a:rPr>
                        <a:t>Recognizes complete objects and faces (abstract concept recognition)</a:t>
                      </a:r>
                      <a:endParaRPr/>
                    </a:p>
                  </a:txBody>
                  <a:tcPr marT="45725" marB="45725" marR="91450" marL="91450" anchor="ctr"/>
                </a:tc>
                <a:tc>
                  <a:txBody>
                    <a:bodyPr/>
                    <a:lstStyle/>
                    <a:p>
                      <a:pPr indent="0" lvl="0" marL="0" marR="0" rtl="0" algn="l">
                        <a:lnSpc>
                          <a:spcPct val="150000"/>
                        </a:lnSpc>
                        <a:spcBef>
                          <a:spcPts val="0"/>
                        </a:spcBef>
                        <a:spcAft>
                          <a:spcPts val="0"/>
                        </a:spcAft>
                        <a:buNone/>
                      </a:pPr>
                      <a:r>
                        <a:rPr b="1" lang="en-IN" sz="1800" u="none" cap="none" strike="noStrike">
                          <a:latin typeface="Bookman Old Style"/>
                          <a:ea typeface="Bookman Old Style"/>
                          <a:cs typeface="Bookman Old Style"/>
                          <a:sym typeface="Bookman Old Style"/>
                        </a:rPr>
                        <a:t>Fully Connected Layers</a:t>
                      </a:r>
                      <a:r>
                        <a:rPr lang="en-IN" sz="1800" u="none" cap="none" strike="noStrike">
                          <a:latin typeface="Bookman Old Style"/>
                          <a:ea typeface="Bookman Old Style"/>
                          <a:cs typeface="Bookman Old Style"/>
                          <a:sym typeface="Bookman Old Style"/>
                        </a:rPr>
                        <a:t> (after flattening)</a:t>
                      </a:r>
                      <a:endParaRPr/>
                    </a:p>
                  </a:txBody>
                  <a:tcPr marT="45725" marB="45725" marR="91450" marL="91450" anchor="ctr"/>
                </a:tc>
              </a:tr>
            </a:tbl>
          </a:graphicData>
        </a:graphic>
      </p:graphicFrame>
      <p:sp>
        <p:nvSpPr>
          <p:cNvPr id="317" name="Google Shape;31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318" name="Google Shape;31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319" name="Google Shape;31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9"/>
          <p:cNvSpPr txBox="1"/>
          <p:nvPr>
            <p:ph type="title"/>
          </p:nvPr>
        </p:nvSpPr>
        <p:spPr>
          <a:xfrm>
            <a:off x="129074" y="22151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Key Components of a CNN</a:t>
            </a:r>
            <a:endParaRPr>
              <a:latin typeface="Bookman Old Style"/>
              <a:ea typeface="Bookman Old Style"/>
              <a:cs typeface="Bookman Old Style"/>
              <a:sym typeface="Bookman Old Style"/>
            </a:endParaRPr>
          </a:p>
        </p:txBody>
      </p:sp>
      <p:sp>
        <p:nvSpPr>
          <p:cNvPr id="325" name="Google Shape;32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326" name="Google Shape;32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327" name="Google Shape;32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A diagram of a network&#10;&#10;AI-generated content may be incorrect." id="328" name="Google Shape;328;p19"/>
          <p:cNvPicPr preferRelativeResize="0"/>
          <p:nvPr/>
        </p:nvPicPr>
        <p:blipFill rotWithShape="1">
          <a:blip r:embed="rId3">
            <a:alphaModFix/>
          </a:blip>
          <a:srcRect b="1989" l="0" r="0" t="13247"/>
          <a:stretch/>
        </p:blipFill>
        <p:spPr>
          <a:xfrm>
            <a:off x="548054" y="1639929"/>
            <a:ext cx="10515600" cy="3962400"/>
          </a:xfrm>
          <a:prstGeom prst="rect">
            <a:avLst/>
          </a:prstGeom>
          <a:noFill/>
          <a:ln>
            <a:noFill/>
          </a:ln>
        </p:spPr>
      </p:pic>
      <p:sp>
        <p:nvSpPr>
          <p:cNvPr id="329" name="Google Shape;329;p19"/>
          <p:cNvSpPr txBox="1"/>
          <p:nvPr/>
        </p:nvSpPr>
        <p:spPr>
          <a:xfrm>
            <a:off x="7503094" y="5725489"/>
            <a:ext cx="50038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1400" u="sng">
                <a:solidFill>
                  <a:srgbClr val="4F5671"/>
                </a:solidFill>
                <a:latin typeface="Bookman Old Style"/>
                <a:ea typeface="Bookman Old Style"/>
                <a:cs typeface="Bookman Old Style"/>
                <a:sym typeface="Bookman Old Style"/>
                <a:hlinkClick r:id="rId4">
                  <a:extLst>
                    <a:ext uri="{A12FA001-AC4F-418D-AE19-62706E023703}">
                      <ahyp:hlinkClr val="tx"/>
                    </a:ext>
                  </a:extLst>
                </a:hlinkClick>
              </a:rPr>
              <a:t>https://doi.org/10.3390/electronics11111775</a:t>
            </a:r>
            <a:endParaRPr sz="1400">
              <a:solidFill>
                <a:schemeClr val="dk1"/>
              </a:solidFill>
              <a:latin typeface="Bookman Old Style"/>
              <a:ea typeface="Bookman Old Style"/>
              <a:cs typeface="Bookman Old Style"/>
              <a:sym typeface="Bookman Old Style"/>
            </a:endParaRPr>
          </a:p>
        </p:txBody>
      </p:sp>
      <p:sp>
        <p:nvSpPr>
          <p:cNvPr id="330" name="Google Shape;330;p19"/>
          <p:cNvSpPr txBox="1"/>
          <p:nvPr/>
        </p:nvSpPr>
        <p:spPr>
          <a:xfrm>
            <a:off x="742870" y="1565383"/>
            <a:ext cx="12751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rgbClr val="C00000"/>
                </a:solidFill>
                <a:latin typeface="Bookman Old Style"/>
                <a:ea typeface="Bookman Old Style"/>
                <a:cs typeface="Bookman Old Style"/>
                <a:sym typeface="Bookman Old Style"/>
              </a:rPr>
              <a:t>(1) Input</a:t>
            </a:r>
            <a:endParaRPr b="1" i="1" sz="1800">
              <a:solidFill>
                <a:srgbClr val="C00000"/>
              </a:solidFill>
              <a:latin typeface="Bookman Old Style"/>
              <a:ea typeface="Bookman Old Style"/>
              <a:cs typeface="Bookman Old Style"/>
              <a:sym typeface="Bookman Old Style"/>
            </a:endParaRPr>
          </a:p>
        </p:txBody>
      </p:sp>
      <p:sp>
        <p:nvSpPr>
          <p:cNvPr id="331" name="Google Shape;331;p19"/>
          <p:cNvSpPr txBox="1"/>
          <p:nvPr/>
        </p:nvSpPr>
        <p:spPr>
          <a:xfrm>
            <a:off x="2005912" y="1554759"/>
            <a:ext cx="30523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rgbClr val="C00000"/>
                </a:solidFill>
                <a:latin typeface="Bookman Old Style"/>
                <a:ea typeface="Bookman Old Style"/>
                <a:cs typeface="Bookman Old Style"/>
                <a:sym typeface="Bookman Old Style"/>
              </a:rPr>
              <a:t>(2) Convolutional Layer</a:t>
            </a:r>
            <a:endParaRPr b="1" i="1" sz="1800">
              <a:solidFill>
                <a:srgbClr val="C00000"/>
              </a:solidFill>
              <a:latin typeface="Bookman Old Style"/>
              <a:ea typeface="Bookman Old Style"/>
              <a:cs typeface="Bookman Old Style"/>
              <a:sym typeface="Bookman Old Style"/>
            </a:endParaRPr>
          </a:p>
        </p:txBody>
      </p:sp>
      <p:sp>
        <p:nvSpPr>
          <p:cNvPr id="332" name="Google Shape;332;p19"/>
          <p:cNvSpPr txBox="1"/>
          <p:nvPr/>
        </p:nvSpPr>
        <p:spPr>
          <a:xfrm>
            <a:off x="1937102" y="1870165"/>
            <a:ext cx="29835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rgbClr val="385623"/>
                </a:solidFill>
                <a:latin typeface="Bookman Old Style"/>
                <a:ea typeface="Bookman Old Style"/>
                <a:cs typeface="Bookman Old Style"/>
                <a:sym typeface="Bookman Old Style"/>
              </a:rPr>
              <a:t>(3) Activation Function</a:t>
            </a:r>
            <a:endParaRPr b="1" i="1" sz="1800">
              <a:solidFill>
                <a:srgbClr val="385623"/>
              </a:solidFill>
              <a:latin typeface="Bookman Old Style"/>
              <a:ea typeface="Bookman Old Style"/>
              <a:cs typeface="Bookman Old Style"/>
              <a:sym typeface="Bookman Old Style"/>
            </a:endParaRPr>
          </a:p>
        </p:txBody>
      </p:sp>
      <p:sp>
        <p:nvSpPr>
          <p:cNvPr id="333" name="Google Shape;333;p19"/>
          <p:cNvSpPr txBox="1"/>
          <p:nvPr/>
        </p:nvSpPr>
        <p:spPr>
          <a:xfrm>
            <a:off x="4815584" y="1870165"/>
            <a:ext cx="2247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rgbClr val="1E4E79"/>
                </a:solidFill>
                <a:latin typeface="Bookman Old Style"/>
                <a:ea typeface="Bookman Old Style"/>
                <a:cs typeface="Bookman Old Style"/>
                <a:sym typeface="Bookman Old Style"/>
              </a:rPr>
              <a:t>(4) Pooling Layer</a:t>
            </a:r>
            <a:endParaRPr b="1" i="1" sz="1800">
              <a:solidFill>
                <a:srgbClr val="1E4E79"/>
              </a:solidFill>
              <a:latin typeface="Bookman Old Style"/>
              <a:ea typeface="Bookman Old Style"/>
              <a:cs typeface="Bookman Old Style"/>
              <a:sym typeface="Bookman Old Style"/>
            </a:endParaRPr>
          </a:p>
        </p:txBody>
      </p:sp>
      <p:sp>
        <p:nvSpPr>
          <p:cNvPr id="334" name="Google Shape;334;p19"/>
          <p:cNvSpPr txBox="1"/>
          <p:nvPr/>
        </p:nvSpPr>
        <p:spPr>
          <a:xfrm>
            <a:off x="6004008" y="1316845"/>
            <a:ext cx="32923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rgbClr val="FF0000"/>
                </a:solidFill>
                <a:latin typeface="Bookman Old Style"/>
                <a:ea typeface="Bookman Old Style"/>
                <a:cs typeface="Bookman Old Style"/>
                <a:sym typeface="Bookman Old Style"/>
              </a:rPr>
              <a:t>(5) Fully Connected Layer</a:t>
            </a:r>
            <a:endParaRPr b="1" i="1" sz="1800">
              <a:solidFill>
                <a:srgbClr val="FF0000"/>
              </a:solidFill>
              <a:latin typeface="Bookman Old Style"/>
              <a:ea typeface="Bookman Old Style"/>
              <a:cs typeface="Bookman Old Style"/>
              <a:sym typeface="Bookman Old Style"/>
            </a:endParaRPr>
          </a:p>
        </p:txBody>
      </p:sp>
      <p:sp>
        <p:nvSpPr>
          <p:cNvPr id="335" name="Google Shape;335;p19"/>
          <p:cNvSpPr txBox="1"/>
          <p:nvPr/>
        </p:nvSpPr>
        <p:spPr>
          <a:xfrm>
            <a:off x="9206487" y="1554759"/>
            <a:ext cx="21473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rgbClr val="FFC000"/>
                </a:solidFill>
                <a:latin typeface="Bookman Old Style"/>
                <a:ea typeface="Bookman Old Style"/>
                <a:cs typeface="Bookman Old Style"/>
                <a:sym typeface="Bookman Old Style"/>
              </a:rPr>
              <a:t>(5) Output Layer</a:t>
            </a:r>
            <a:endParaRPr b="1" i="1" sz="1800">
              <a:solidFill>
                <a:srgbClr val="FFC000"/>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descr="Remarkably blurry video captures live 'woolly mammoth' - CSMonitor.com" id="340" name="Google Shape;340;p20"/>
          <p:cNvPicPr preferRelativeResize="0"/>
          <p:nvPr/>
        </p:nvPicPr>
        <p:blipFill rotWithShape="1">
          <a:blip r:embed="rId3">
            <a:alphaModFix/>
          </a:blip>
          <a:srcRect b="0" l="0" r="0" t="0"/>
          <a:stretch/>
        </p:blipFill>
        <p:spPr>
          <a:xfrm>
            <a:off x="298580" y="2032851"/>
            <a:ext cx="5492621" cy="3661747"/>
          </a:xfrm>
          <a:prstGeom prst="rect">
            <a:avLst/>
          </a:prstGeom>
          <a:noFill/>
          <a:ln>
            <a:noFill/>
          </a:ln>
        </p:spPr>
      </p:pic>
      <p:pic>
        <p:nvPicPr>
          <p:cNvPr descr="Grey Kangaroo (Macropus giganteus), Australia" id="341" name="Google Shape;341;p20"/>
          <p:cNvPicPr preferRelativeResize="0"/>
          <p:nvPr/>
        </p:nvPicPr>
        <p:blipFill rotWithShape="1">
          <a:blip r:embed="rId4">
            <a:alphaModFix/>
          </a:blip>
          <a:srcRect b="0" l="0" r="0" t="0"/>
          <a:stretch/>
        </p:blipFill>
        <p:spPr>
          <a:xfrm>
            <a:off x="5915480" y="2032851"/>
            <a:ext cx="5492621" cy="3661747"/>
          </a:xfrm>
          <a:prstGeom prst="rect">
            <a:avLst/>
          </a:prstGeom>
          <a:noFill/>
          <a:ln>
            <a:noFill/>
          </a:ln>
        </p:spPr>
      </p:pic>
      <p:pic>
        <p:nvPicPr>
          <p:cNvPr descr="15 Amazing Camouflaged Animals" id="342" name="Google Shape;342;p20"/>
          <p:cNvPicPr preferRelativeResize="0"/>
          <p:nvPr/>
        </p:nvPicPr>
        <p:blipFill rotWithShape="1">
          <a:blip r:embed="rId5">
            <a:alphaModFix/>
          </a:blip>
          <a:srcRect b="0" l="0" r="0" t="0"/>
          <a:stretch/>
        </p:blipFill>
        <p:spPr>
          <a:xfrm>
            <a:off x="298580" y="2032850"/>
            <a:ext cx="5470736" cy="3661747"/>
          </a:xfrm>
          <a:prstGeom prst="rect">
            <a:avLst/>
          </a:prstGeom>
          <a:noFill/>
          <a:ln>
            <a:noFill/>
          </a:ln>
        </p:spPr>
      </p:pic>
      <p:pic>
        <p:nvPicPr>
          <p:cNvPr descr="Camouflaged Animal Challenge: 23 Photos of Hidden Animals | Always Pets" id="343" name="Google Shape;343;p20"/>
          <p:cNvPicPr preferRelativeResize="0"/>
          <p:nvPr/>
        </p:nvPicPr>
        <p:blipFill rotWithShape="1">
          <a:blip r:embed="rId6">
            <a:alphaModFix/>
          </a:blip>
          <a:srcRect b="0" l="0" r="0" t="0"/>
          <a:stretch/>
        </p:blipFill>
        <p:spPr>
          <a:xfrm>
            <a:off x="5915479" y="2032849"/>
            <a:ext cx="3676389" cy="3676389"/>
          </a:xfrm>
          <a:prstGeom prst="rect">
            <a:avLst/>
          </a:prstGeom>
          <a:noFill/>
          <a:ln>
            <a:noFill/>
          </a:ln>
        </p:spPr>
      </p:pic>
      <p:sp>
        <p:nvSpPr>
          <p:cNvPr id="344" name="Google Shape;34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345" name="Google Shape;34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346" name="Google Shape;34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325016"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Convolution Layer </a:t>
            </a:r>
            <a:endParaRPr>
              <a:latin typeface="Bookman Old Style"/>
              <a:ea typeface="Bookman Old Style"/>
              <a:cs typeface="Bookman Old Style"/>
              <a:sym typeface="Bookman Old Style"/>
            </a:endParaRPr>
          </a:p>
        </p:txBody>
      </p:sp>
      <p:sp>
        <p:nvSpPr>
          <p:cNvPr id="352" name="Google Shape;35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353" name="Google Shape;35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354" name="Google Shape;35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Convolution | NVIDIA Developer" id="355" name="Google Shape;355;p21"/>
          <p:cNvPicPr preferRelativeResize="0"/>
          <p:nvPr/>
        </p:nvPicPr>
        <p:blipFill rotWithShape="1">
          <a:blip r:embed="rId3">
            <a:alphaModFix/>
          </a:blip>
          <a:srcRect b="0" l="0" r="0" t="0"/>
          <a:stretch/>
        </p:blipFill>
        <p:spPr>
          <a:xfrm>
            <a:off x="190932" y="2620169"/>
            <a:ext cx="7145020" cy="2762250"/>
          </a:xfrm>
          <a:prstGeom prst="rect">
            <a:avLst/>
          </a:prstGeom>
          <a:noFill/>
          <a:ln>
            <a:noFill/>
          </a:ln>
        </p:spPr>
      </p:pic>
      <p:sp>
        <p:nvSpPr>
          <p:cNvPr id="356" name="Google Shape;356;p21"/>
          <p:cNvSpPr txBox="1"/>
          <p:nvPr/>
        </p:nvSpPr>
        <p:spPr>
          <a:xfrm>
            <a:off x="414865" y="1572972"/>
            <a:ext cx="11176001"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000000"/>
              </a:buClr>
              <a:buSzPts val="1800"/>
              <a:buFont typeface="Bookman Old Style"/>
              <a:buNone/>
            </a:pPr>
            <a:r>
              <a:rPr b="0" i="0" lang="en-IN" sz="1800">
                <a:solidFill>
                  <a:srgbClr val="000000"/>
                </a:solidFill>
                <a:latin typeface="Bookman Old Style"/>
                <a:ea typeface="Bookman Old Style"/>
                <a:cs typeface="Bookman Old Style"/>
                <a:sym typeface="Bookman Old Style"/>
              </a:rPr>
              <a:t>Convolutional layers scan the input data using filters (kernels) to detect patterns like edges, textures, or shapes.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2"/>
          <p:cNvSpPr txBox="1"/>
          <p:nvPr>
            <p:ph type="title"/>
          </p:nvPr>
        </p:nvSpPr>
        <p:spPr>
          <a:xfrm>
            <a:off x="105301" y="33378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CNN: Edge detection</a:t>
            </a:r>
            <a:endParaRPr>
              <a:latin typeface="Bookman Old Style"/>
              <a:ea typeface="Bookman Old Style"/>
              <a:cs typeface="Bookman Old Style"/>
              <a:sym typeface="Bookman Old Style"/>
            </a:endParaRPr>
          </a:p>
        </p:txBody>
      </p:sp>
      <p:sp>
        <p:nvSpPr>
          <p:cNvPr id="362" name="Google Shape;3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363" name="Google Shape;3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364" name="Google Shape;3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pSp>
        <p:nvGrpSpPr>
          <p:cNvPr id="365" name="Google Shape;365;p22"/>
          <p:cNvGrpSpPr/>
          <p:nvPr/>
        </p:nvGrpSpPr>
        <p:grpSpPr>
          <a:xfrm>
            <a:off x="592667" y="2467219"/>
            <a:ext cx="5638800" cy="3657600"/>
            <a:chOff x="671170" y="2635108"/>
            <a:chExt cx="4906060" cy="2857856"/>
          </a:xfrm>
        </p:grpSpPr>
        <p:pic>
          <p:nvPicPr>
            <p:cNvPr id="366" name="Google Shape;366;p22"/>
            <p:cNvPicPr preferRelativeResize="0"/>
            <p:nvPr/>
          </p:nvPicPr>
          <p:blipFill rotWithShape="1">
            <a:blip r:embed="rId3">
              <a:alphaModFix/>
            </a:blip>
            <a:srcRect b="0" l="0" r="0" t="0"/>
            <a:stretch/>
          </p:blipFill>
          <p:spPr>
            <a:xfrm>
              <a:off x="671170" y="2635108"/>
              <a:ext cx="4906060" cy="1886213"/>
            </a:xfrm>
            <a:prstGeom prst="rect">
              <a:avLst/>
            </a:prstGeom>
            <a:noFill/>
            <a:ln>
              <a:noFill/>
            </a:ln>
          </p:spPr>
        </p:pic>
        <p:pic>
          <p:nvPicPr>
            <p:cNvPr id="367" name="Google Shape;367;p22"/>
            <p:cNvPicPr preferRelativeResize="0"/>
            <p:nvPr/>
          </p:nvPicPr>
          <p:blipFill rotWithShape="1">
            <a:blip r:embed="rId4">
              <a:alphaModFix/>
            </a:blip>
            <a:srcRect b="0" l="0" r="0" t="0"/>
            <a:stretch/>
          </p:blipFill>
          <p:spPr>
            <a:xfrm>
              <a:off x="3684463" y="4159278"/>
              <a:ext cx="1781424" cy="1333686"/>
            </a:xfrm>
            <a:prstGeom prst="rect">
              <a:avLst/>
            </a:prstGeom>
            <a:noFill/>
            <a:ln>
              <a:noFill/>
            </a:ln>
          </p:spPr>
        </p:pic>
        <p:cxnSp>
          <p:nvCxnSpPr>
            <p:cNvPr id="368" name="Google Shape;368;p22"/>
            <p:cNvCxnSpPr/>
            <p:nvPr/>
          </p:nvCxnSpPr>
          <p:spPr>
            <a:xfrm>
              <a:off x="2286000" y="3930678"/>
              <a:ext cx="1295400" cy="946122"/>
            </a:xfrm>
            <a:prstGeom prst="straightConnector1">
              <a:avLst/>
            </a:prstGeom>
            <a:solidFill>
              <a:schemeClr val="accent1"/>
            </a:solidFill>
            <a:ln cap="flat" cmpd="sng" w="28575">
              <a:solidFill>
                <a:schemeClr val="dk1"/>
              </a:solidFill>
              <a:prstDash val="solid"/>
              <a:round/>
              <a:headEnd len="sm" w="sm" type="none"/>
              <a:tailEnd len="med" w="med" type="triangle"/>
            </a:ln>
          </p:spPr>
        </p:cxnSp>
      </p:grpSp>
      <p:pic>
        <p:nvPicPr>
          <p:cNvPr id="369" name="Google Shape;369;p22"/>
          <p:cNvPicPr preferRelativeResize="0"/>
          <p:nvPr/>
        </p:nvPicPr>
        <p:blipFill rotWithShape="1">
          <a:blip r:embed="rId5">
            <a:alphaModFix/>
          </a:blip>
          <a:srcRect b="5572" l="6234" r="4999" t="5573"/>
          <a:stretch/>
        </p:blipFill>
        <p:spPr>
          <a:xfrm>
            <a:off x="6377442" y="567268"/>
            <a:ext cx="5815093" cy="3275542"/>
          </a:xfrm>
          <a:prstGeom prst="rect">
            <a:avLst/>
          </a:prstGeom>
          <a:noFill/>
          <a:ln>
            <a:noFill/>
          </a:ln>
        </p:spPr>
      </p:pic>
      <p:pic>
        <p:nvPicPr>
          <p:cNvPr id="370" name="Google Shape;370;p22"/>
          <p:cNvPicPr preferRelativeResize="0"/>
          <p:nvPr/>
        </p:nvPicPr>
        <p:blipFill rotWithShape="1">
          <a:blip r:embed="rId6">
            <a:alphaModFix/>
          </a:blip>
          <a:srcRect b="0" l="0" r="0" t="0"/>
          <a:stretch/>
        </p:blipFill>
        <p:spPr>
          <a:xfrm>
            <a:off x="6327253" y="3442513"/>
            <a:ext cx="5864747" cy="3278962"/>
          </a:xfrm>
          <a:prstGeom prst="rect">
            <a:avLst/>
          </a:prstGeom>
          <a:noFill/>
          <a:ln>
            <a:noFill/>
          </a:ln>
        </p:spPr>
      </p:pic>
      <p:pic>
        <p:nvPicPr>
          <p:cNvPr descr="A screenshot of a video game&#10;&#10;AI-generated content may be incorrect." id="371" name="Google Shape;371;p22"/>
          <p:cNvPicPr preferRelativeResize="0"/>
          <p:nvPr/>
        </p:nvPicPr>
        <p:blipFill rotWithShape="1">
          <a:blip r:embed="rId7">
            <a:alphaModFix/>
          </a:blip>
          <a:srcRect b="25580" l="5247" r="5441" t="25350"/>
          <a:stretch/>
        </p:blipFill>
        <p:spPr>
          <a:xfrm>
            <a:off x="6326718" y="333782"/>
            <a:ext cx="5608820" cy="3081705"/>
          </a:xfrm>
          <a:prstGeom prst="rect">
            <a:avLst/>
          </a:prstGeom>
          <a:noFill/>
          <a:ln>
            <a:noFill/>
          </a:ln>
        </p:spPr>
      </p:pic>
      <p:sp>
        <p:nvSpPr>
          <p:cNvPr id="372" name="Google Shape;372;p22"/>
          <p:cNvSpPr txBox="1"/>
          <p:nvPr/>
        </p:nvSpPr>
        <p:spPr>
          <a:xfrm>
            <a:off x="6231468" y="6185635"/>
            <a:ext cx="5704070" cy="523220"/>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0" i="0" lang="en-IN" sz="1400" u="none" cap="none" strike="noStrike">
                <a:solidFill>
                  <a:schemeClr val="dk1"/>
                </a:solidFill>
                <a:latin typeface="Bookman Old Style"/>
                <a:ea typeface="Bookman Old Style"/>
                <a:cs typeface="Bookman Old Style"/>
                <a:sym typeface="Bookman Old Style"/>
              </a:rPr>
              <a:t>At each location, the filter performs an </a:t>
            </a:r>
            <a:r>
              <a:rPr b="1" i="0" lang="en-IN" sz="1400" u="none" cap="none" strike="noStrike">
                <a:solidFill>
                  <a:schemeClr val="dk1"/>
                </a:solidFill>
                <a:latin typeface="Bookman Old Style"/>
                <a:ea typeface="Bookman Old Style"/>
                <a:cs typeface="Bookman Old Style"/>
                <a:sym typeface="Bookman Old Style"/>
              </a:rPr>
              <a:t>element-wise multiplication</a:t>
            </a:r>
            <a:r>
              <a:rPr b="0" i="0" lang="en-IN" sz="1400" u="none" cap="none" strike="noStrike">
                <a:solidFill>
                  <a:schemeClr val="dk1"/>
                </a:solidFill>
                <a:latin typeface="Bookman Old Style"/>
                <a:ea typeface="Bookman Old Style"/>
                <a:cs typeface="Bookman Old Style"/>
                <a:sym typeface="Bookman Old Style"/>
              </a:rPr>
              <a:t> (dot product) and </a:t>
            </a:r>
            <a:r>
              <a:rPr b="1" i="0" lang="en-IN" sz="1400" u="none" cap="none" strike="noStrike">
                <a:solidFill>
                  <a:schemeClr val="dk1"/>
                </a:solidFill>
                <a:latin typeface="Bookman Old Style"/>
                <a:ea typeface="Bookman Old Style"/>
                <a:cs typeface="Bookman Old Style"/>
                <a:sym typeface="Bookman Old Style"/>
              </a:rPr>
              <a:t>sums the result</a:t>
            </a:r>
            <a:r>
              <a:rPr b="0" i="0" lang="en-IN" sz="1400" u="none" cap="none" strike="noStrike">
                <a:solidFill>
                  <a:schemeClr val="dk1"/>
                </a:solidFill>
                <a:latin typeface="Bookman Old Style"/>
                <a:ea typeface="Bookman Old Style"/>
                <a:cs typeface="Bookman Old Style"/>
                <a:sym typeface="Bookman Old Style"/>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bdc901c36c_0_23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378" name="Google Shape;378;g3bdc901c36c_0_236"/>
          <p:cNvPicPr preferRelativeResize="0"/>
          <p:nvPr/>
        </p:nvPicPr>
        <p:blipFill rotWithShape="1">
          <a:blip r:embed="rId3">
            <a:alphaModFix/>
          </a:blip>
          <a:srcRect b="0" l="0" r="0" t="0"/>
          <a:stretch/>
        </p:blipFill>
        <p:spPr>
          <a:xfrm>
            <a:off x="289096" y="823597"/>
            <a:ext cx="10894616" cy="521080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dc901c36c_0_241"/>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384" name="Google Shape;384;g3bdc901c36c_0_241"/>
          <p:cNvPicPr preferRelativeResize="0"/>
          <p:nvPr/>
        </p:nvPicPr>
        <p:blipFill rotWithShape="1">
          <a:blip r:embed="rId3">
            <a:alphaModFix/>
          </a:blip>
          <a:srcRect b="0" l="0" r="0" t="0"/>
          <a:stretch/>
        </p:blipFill>
        <p:spPr>
          <a:xfrm>
            <a:off x="303944" y="901970"/>
            <a:ext cx="9842118" cy="505406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id="389" name="Google Shape;389;g3bdc901c36c_0_246"/>
          <p:cNvPicPr preferRelativeResize="0"/>
          <p:nvPr/>
        </p:nvPicPr>
        <p:blipFill rotWithShape="1">
          <a:blip r:embed="rId3">
            <a:alphaModFix/>
          </a:blip>
          <a:srcRect b="0" l="0" r="0" t="0"/>
          <a:stretch/>
        </p:blipFill>
        <p:spPr>
          <a:xfrm>
            <a:off x="300598" y="521584"/>
            <a:ext cx="11053202" cy="5538835"/>
          </a:xfrm>
          <a:prstGeom prst="rect">
            <a:avLst/>
          </a:prstGeom>
          <a:noFill/>
          <a:ln>
            <a:noFill/>
          </a:ln>
        </p:spPr>
      </p:pic>
      <p:sp>
        <p:nvSpPr>
          <p:cNvPr id="390" name="Google Shape;390;g3bdc901c36c_0_24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391" name="Google Shape;391;g3bdc901c36c_0_246"/>
          <p:cNvSpPr/>
          <p:nvPr/>
        </p:nvSpPr>
        <p:spPr>
          <a:xfrm>
            <a:off x="5637300" y="225181"/>
            <a:ext cx="5946600" cy="1144800"/>
          </a:xfrm>
          <a:prstGeom prst="wedgeRoundRectCallout">
            <a:avLst>
              <a:gd fmla="val -54519" name="adj1"/>
              <a:gd fmla="val 70708"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350"/>
              <a:buFont typeface="Arial"/>
              <a:buNone/>
            </a:pPr>
            <a:r>
              <a:rPr b="0" i="0" lang="en-IN" sz="1350" u="none" cap="none" strike="noStrike">
                <a:solidFill>
                  <a:schemeClr val="dk1"/>
                </a:solidFill>
                <a:latin typeface="Arial"/>
                <a:ea typeface="Arial"/>
                <a:cs typeface="Arial"/>
                <a:sym typeface="Arial"/>
              </a:rPr>
              <a:t> Convolutions is a fundamental operation where a "filter" (or kernel) slides across the input data, performing a matrix multiplication and summing the results to create a feature map, highlighting specific patterns or features</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bdc901c36c_0_25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397" name="Google Shape;397;g3bdc901c36c_0_252"/>
          <p:cNvPicPr preferRelativeResize="0"/>
          <p:nvPr/>
        </p:nvPicPr>
        <p:blipFill rotWithShape="1">
          <a:blip r:embed="rId3">
            <a:alphaModFix/>
          </a:blip>
          <a:srcRect b="0" l="0" r="0" t="0"/>
          <a:stretch/>
        </p:blipFill>
        <p:spPr>
          <a:xfrm>
            <a:off x="164618" y="828413"/>
            <a:ext cx="10696023" cy="52011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bdc901c36c_0_25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03" name="Google Shape;403;g3bdc901c36c_0_257"/>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04" name="Google Shape;404;g3bdc901c36c_0_257"/>
          <p:cNvPicPr preferRelativeResize="0"/>
          <p:nvPr/>
        </p:nvPicPr>
        <p:blipFill rotWithShape="1">
          <a:blip r:embed="rId3">
            <a:alphaModFix/>
          </a:blip>
          <a:srcRect b="0" l="0" r="0" t="0"/>
          <a:stretch/>
        </p:blipFill>
        <p:spPr>
          <a:xfrm>
            <a:off x="0" y="542544"/>
            <a:ext cx="12192000" cy="57729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bdc901c36c_0_26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10" name="Google Shape;410;g3bdc901c36c_0_263"/>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11" name="Google Shape;411;g3bdc901c36c_0_263"/>
          <p:cNvPicPr preferRelativeResize="0"/>
          <p:nvPr/>
        </p:nvPicPr>
        <p:blipFill rotWithShape="1">
          <a:blip r:embed="rId3">
            <a:alphaModFix/>
          </a:blip>
          <a:srcRect b="0" l="0" r="0" t="0"/>
          <a:stretch/>
        </p:blipFill>
        <p:spPr>
          <a:xfrm>
            <a:off x="0" y="1027906"/>
            <a:ext cx="12191999" cy="566434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bdc901c36c_0_269"/>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17" name="Google Shape;417;g3bdc901c36c_0_269"/>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18" name="Google Shape;418;g3bdc901c36c_0_269"/>
          <p:cNvPicPr preferRelativeResize="0"/>
          <p:nvPr/>
        </p:nvPicPr>
        <p:blipFill rotWithShape="1">
          <a:blip r:embed="rId3">
            <a:alphaModFix/>
          </a:blip>
          <a:srcRect b="0" l="0" r="0" t="0"/>
          <a:stretch/>
        </p:blipFill>
        <p:spPr>
          <a:xfrm>
            <a:off x="0" y="1027906"/>
            <a:ext cx="12192000" cy="57588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bdc901c36c_0_275"/>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24" name="Google Shape;424;g3bdc901c36c_0_275"/>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25" name="Google Shape;425;g3bdc901c36c_0_275"/>
          <p:cNvPicPr preferRelativeResize="0"/>
          <p:nvPr/>
        </p:nvPicPr>
        <p:blipFill rotWithShape="1">
          <a:blip r:embed="rId3">
            <a:alphaModFix/>
          </a:blip>
          <a:srcRect b="0" l="0" r="0" t="0"/>
          <a:stretch/>
        </p:blipFill>
        <p:spPr>
          <a:xfrm>
            <a:off x="57337" y="1122311"/>
            <a:ext cx="12113497" cy="573568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bdc901c36c_0_281"/>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31" name="Google Shape;431;g3bdc901c36c_0_281"/>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32" name="Google Shape;432;g3bdc901c36c_0_281"/>
          <p:cNvPicPr preferRelativeResize="0"/>
          <p:nvPr/>
        </p:nvPicPr>
        <p:blipFill rotWithShape="1">
          <a:blip r:embed="rId3">
            <a:alphaModFix/>
          </a:blip>
          <a:srcRect b="0" l="0" r="0" t="0"/>
          <a:stretch/>
        </p:blipFill>
        <p:spPr>
          <a:xfrm>
            <a:off x="0" y="1027906"/>
            <a:ext cx="12192001" cy="593448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g3bdc901c36c_0_28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38" name="Google Shape;438;g3bdc901c36c_0_287"/>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39" name="Google Shape;439;g3bdc901c36c_0_287"/>
          <p:cNvPicPr preferRelativeResize="0"/>
          <p:nvPr/>
        </p:nvPicPr>
        <p:blipFill rotWithShape="1">
          <a:blip r:embed="rId3">
            <a:alphaModFix/>
          </a:blip>
          <a:srcRect b="0" l="0" r="0" t="0"/>
          <a:stretch/>
        </p:blipFill>
        <p:spPr>
          <a:xfrm>
            <a:off x="0" y="904126"/>
            <a:ext cx="12191999" cy="536253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bdc901c36c_0_29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445" name="Google Shape;445;g3bdc901c36c_0_293"/>
          <p:cNvPicPr preferRelativeResize="0"/>
          <p:nvPr/>
        </p:nvPicPr>
        <p:blipFill rotWithShape="1">
          <a:blip r:embed="rId3">
            <a:alphaModFix/>
          </a:blip>
          <a:srcRect b="0" l="0" r="0" t="0"/>
          <a:stretch/>
        </p:blipFill>
        <p:spPr>
          <a:xfrm>
            <a:off x="189186" y="1646237"/>
            <a:ext cx="9232216" cy="4530726"/>
          </a:xfrm>
          <a:prstGeom prst="rect">
            <a:avLst/>
          </a:prstGeom>
          <a:noFill/>
          <a:ln>
            <a:noFill/>
          </a:ln>
        </p:spPr>
      </p:pic>
      <p:sp>
        <p:nvSpPr>
          <p:cNvPr id="446" name="Google Shape;446;g3bdc901c36c_0_293"/>
          <p:cNvSpPr/>
          <p:nvPr/>
        </p:nvSpPr>
        <p:spPr>
          <a:xfrm>
            <a:off x="5398900" y="84350"/>
            <a:ext cx="4369500" cy="1378500"/>
          </a:xfrm>
          <a:prstGeom prst="wedgeRoundRectCallout">
            <a:avLst>
              <a:gd fmla="val -40349" name="adj1"/>
              <a:gd fmla="val 11169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IN" sz="1100" u="none" cap="none" strike="noStrike">
                <a:solidFill>
                  <a:schemeClr val="dk1"/>
                </a:solidFill>
                <a:latin typeface="Arial"/>
                <a:ea typeface="Arial"/>
                <a:cs typeface="Arial"/>
                <a:sym typeface="Arial"/>
              </a:rPr>
              <a:t>Stride in Convolutional Neural Networks (CNNs) defines how much the filter moves across the input image at each step. It directly affects feature extraction, output size, and computational efficiency.</a:t>
            </a:r>
            <a:endParaRPr b="1"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bdc901c36c_0_299"/>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52" name="Google Shape;452;g3bdc901c36c_0_299"/>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53" name="Google Shape;453;g3bdc901c36c_0_299"/>
          <p:cNvPicPr preferRelativeResize="0"/>
          <p:nvPr/>
        </p:nvPicPr>
        <p:blipFill rotWithShape="1">
          <a:blip r:embed="rId3">
            <a:alphaModFix/>
          </a:blip>
          <a:srcRect b="0" l="0" r="0" t="0"/>
          <a:stretch/>
        </p:blipFill>
        <p:spPr>
          <a:xfrm>
            <a:off x="0" y="1110099"/>
            <a:ext cx="12191999" cy="585040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bdc901c36c_0_305"/>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59" name="Google Shape;459;g3bdc901c36c_0_305"/>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60" name="Google Shape;460;g3bdc901c36c_0_305"/>
          <p:cNvPicPr preferRelativeResize="0"/>
          <p:nvPr/>
        </p:nvPicPr>
        <p:blipFill rotWithShape="1">
          <a:blip r:embed="rId3">
            <a:alphaModFix/>
          </a:blip>
          <a:srcRect b="0" l="0" r="0" t="0"/>
          <a:stretch/>
        </p:blipFill>
        <p:spPr>
          <a:xfrm>
            <a:off x="0" y="1059663"/>
            <a:ext cx="12191999" cy="5661812"/>
          </a:xfrm>
          <a:prstGeom prst="rect">
            <a:avLst/>
          </a:prstGeom>
          <a:noFill/>
          <a:ln>
            <a:noFill/>
          </a:ln>
        </p:spPr>
      </p:pic>
      <p:pic>
        <p:nvPicPr>
          <p:cNvPr id="461" name="Google Shape;461;g3bdc901c36c_0_305"/>
          <p:cNvPicPr preferRelativeResize="0"/>
          <p:nvPr/>
        </p:nvPicPr>
        <p:blipFill rotWithShape="1">
          <a:blip r:embed="rId3">
            <a:alphaModFix/>
          </a:blip>
          <a:srcRect b="0" l="0" r="0" t="0"/>
          <a:stretch/>
        </p:blipFill>
        <p:spPr>
          <a:xfrm>
            <a:off x="152400" y="1212063"/>
            <a:ext cx="12191999" cy="56618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bdc901c36c_0_31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67" name="Google Shape;467;g3bdc901c36c_0_312"/>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68" name="Google Shape;468;g3bdc901c36c_0_312"/>
          <p:cNvPicPr preferRelativeResize="0"/>
          <p:nvPr/>
        </p:nvPicPr>
        <p:blipFill rotWithShape="1">
          <a:blip r:embed="rId3">
            <a:alphaModFix/>
          </a:blip>
          <a:srcRect b="0" l="0" r="0" t="0"/>
          <a:stretch/>
        </p:blipFill>
        <p:spPr>
          <a:xfrm>
            <a:off x="0" y="1054487"/>
            <a:ext cx="12192001" cy="566698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bdc901c36c_0_31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74" name="Google Shape;474;g3bdc901c36c_0_318"/>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75" name="Google Shape;475;g3bdc901c36c_0_318"/>
          <p:cNvPicPr preferRelativeResize="0"/>
          <p:nvPr/>
        </p:nvPicPr>
        <p:blipFill rotWithShape="1">
          <a:blip r:embed="rId3">
            <a:alphaModFix/>
          </a:blip>
          <a:srcRect b="0" l="0" r="0" t="0"/>
          <a:stretch/>
        </p:blipFill>
        <p:spPr>
          <a:xfrm>
            <a:off x="0" y="957961"/>
            <a:ext cx="12284014" cy="586816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bdc901c36c_0_32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81" name="Google Shape;481;g3bdc901c36c_0_324"/>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82" name="Google Shape;482;g3bdc901c36c_0_324"/>
          <p:cNvPicPr preferRelativeResize="0"/>
          <p:nvPr/>
        </p:nvPicPr>
        <p:blipFill rotWithShape="1">
          <a:blip r:embed="rId3">
            <a:alphaModFix/>
          </a:blip>
          <a:srcRect b="0" l="0" r="0" t="0"/>
          <a:stretch/>
        </p:blipFill>
        <p:spPr>
          <a:xfrm>
            <a:off x="37311" y="1081063"/>
            <a:ext cx="12154689" cy="564041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bdc901c36c_0_330"/>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88" name="Google Shape;488;g3bdc901c36c_0_330"/>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89" name="Google Shape;489;g3bdc901c36c_0_330"/>
          <p:cNvPicPr preferRelativeResize="0"/>
          <p:nvPr/>
        </p:nvPicPr>
        <p:blipFill rotWithShape="1">
          <a:blip r:embed="rId3">
            <a:alphaModFix/>
          </a:blip>
          <a:srcRect b="0" l="0" r="0" t="0"/>
          <a:stretch/>
        </p:blipFill>
        <p:spPr>
          <a:xfrm>
            <a:off x="0" y="1027906"/>
            <a:ext cx="12191999" cy="582756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bdc901c36c_0_33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495" name="Google Shape;495;g3bdc901c36c_0_336"/>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496" name="Google Shape;496;g3bdc901c36c_0_336"/>
          <p:cNvPicPr preferRelativeResize="0"/>
          <p:nvPr/>
        </p:nvPicPr>
        <p:blipFill rotWithShape="1">
          <a:blip r:embed="rId3">
            <a:alphaModFix/>
          </a:blip>
          <a:srcRect b="0" l="0" r="0" t="0"/>
          <a:stretch/>
        </p:blipFill>
        <p:spPr>
          <a:xfrm>
            <a:off x="0" y="903505"/>
            <a:ext cx="12192001" cy="606496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bdc901c36c_0_34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02" name="Google Shape;502;g3bdc901c36c_0_342"/>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03" name="Google Shape;503;g3bdc901c36c_0_342"/>
          <p:cNvPicPr preferRelativeResize="0"/>
          <p:nvPr/>
        </p:nvPicPr>
        <p:blipFill rotWithShape="1">
          <a:blip r:embed="rId3">
            <a:alphaModFix/>
          </a:blip>
          <a:srcRect b="0" l="0" r="0" t="0"/>
          <a:stretch/>
        </p:blipFill>
        <p:spPr>
          <a:xfrm>
            <a:off x="0" y="906399"/>
            <a:ext cx="12035335" cy="568990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bdc901c36c_0_34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09" name="Google Shape;509;g3bdc901c36c_0_348"/>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10" name="Google Shape;510;g3bdc901c36c_0_348"/>
          <p:cNvPicPr preferRelativeResize="0"/>
          <p:nvPr/>
        </p:nvPicPr>
        <p:blipFill rotWithShape="1">
          <a:blip r:embed="rId3">
            <a:alphaModFix/>
          </a:blip>
          <a:srcRect b="0" l="0" r="0" t="0"/>
          <a:stretch/>
        </p:blipFill>
        <p:spPr>
          <a:xfrm>
            <a:off x="0" y="937425"/>
            <a:ext cx="12191999" cy="59205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3bdc901c36c_0_35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16" name="Google Shape;516;g3bdc901c36c_0_354"/>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17" name="Google Shape;517;g3bdc901c36c_0_354"/>
          <p:cNvPicPr preferRelativeResize="0"/>
          <p:nvPr/>
        </p:nvPicPr>
        <p:blipFill rotWithShape="1">
          <a:blip r:embed="rId3">
            <a:alphaModFix/>
          </a:blip>
          <a:srcRect b="0" l="0" r="0" t="0"/>
          <a:stretch/>
        </p:blipFill>
        <p:spPr>
          <a:xfrm>
            <a:off x="101191" y="911119"/>
            <a:ext cx="12090809" cy="56089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bdc901c36c_0_360"/>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23" name="Google Shape;523;g3bdc901c36c_0_360"/>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24" name="Google Shape;524;g3bdc901c36c_0_360"/>
          <p:cNvPicPr preferRelativeResize="0"/>
          <p:nvPr/>
        </p:nvPicPr>
        <p:blipFill rotWithShape="1">
          <a:blip r:embed="rId3">
            <a:alphaModFix/>
          </a:blip>
          <a:srcRect b="0" l="0" r="0" t="0"/>
          <a:stretch/>
        </p:blipFill>
        <p:spPr>
          <a:xfrm>
            <a:off x="0" y="1068511"/>
            <a:ext cx="12192000" cy="549331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3bdc901c36c_0_36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30" name="Google Shape;530;g3bdc901c36c_0_366"/>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31" name="Google Shape;531;g3bdc901c36c_0_366"/>
          <p:cNvPicPr preferRelativeResize="0"/>
          <p:nvPr/>
        </p:nvPicPr>
        <p:blipFill rotWithShape="1">
          <a:blip r:embed="rId3">
            <a:alphaModFix/>
          </a:blip>
          <a:srcRect b="0" l="0" r="0" t="0"/>
          <a:stretch/>
        </p:blipFill>
        <p:spPr>
          <a:xfrm>
            <a:off x="0" y="1140431"/>
            <a:ext cx="12192001" cy="579133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bdc901c36c_0_451"/>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37" name="Google Shape;537;g3bdc901c36c_0_451"/>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38" name="Google Shape;538;g3bdc901c36c_0_451"/>
          <p:cNvPicPr preferRelativeResize="0"/>
          <p:nvPr/>
        </p:nvPicPr>
        <p:blipFill rotWithShape="1">
          <a:blip r:embed="rId3">
            <a:alphaModFix/>
          </a:blip>
          <a:srcRect b="0" l="0" r="0" t="0"/>
          <a:stretch/>
        </p:blipFill>
        <p:spPr>
          <a:xfrm>
            <a:off x="0" y="1345915"/>
            <a:ext cx="12192000" cy="525554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bdc901c36c_0_45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44" name="Google Shape;544;g3bdc901c36c_0_457"/>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45" name="Google Shape;545;g3bdc901c36c_0_457"/>
          <p:cNvPicPr preferRelativeResize="0"/>
          <p:nvPr/>
        </p:nvPicPr>
        <p:blipFill rotWithShape="1">
          <a:blip r:embed="rId3">
            <a:alphaModFix/>
          </a:blip>
          <a:srcRect b="0" l="0" r="0" t="0"/>
          <a:stretch/>
        </p:blipFill>
        <p:spPr>
          <a:xfrm>
            <a:off x="-36000" y="1276050"/>
            <a:ext cx="12191999" cy="477992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bdc901c36c_0_46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551" name="Google Shape;551;g3bdc901c36c_0_463"/>
          <p:cNvPicPr preferRelativeResize="0"/>
          <p:nvPr/>
        </p:nvPicPr>
        <p:blipFill rotWithShape="1">
          <a:blip r:embed="rId3">
            <a:alphaModFix/>
          </a:blip>
          <a:srcRect b="0" l="0" r="0" t="0"/>
          <a:stretch/>
        </p:blipFill>
        <p:spPr>
          <a:xfrm>
            <a:off x="209734" y="1552102"/>
            <a:ext cx="11353801" cy="430861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bdc901c36c_0_46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557" name="Google Shape;557;g3bdc901c36c_0_468"/>
          <p:cNvPicPr preferRelativeResize="0"/>
          <p:nvPr/>
        </p:nvPicPr>
        <p:blipFill rotWithShape="1">
          <a:blip r:embed="rId3">
            <a:alphaModFix/>
          </a:blip>
          <a:srcRect b="0" l="0" r="0" t="0"/>
          <a:stretch/>
        </p:blipFill>
        <p:spPr>
          <a:xfrm>
            <a:off x="374424" y="1195506"/>
            <a:ext cx="10979376" cy="48141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3bdc901c36c_0_47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63" name="Google Shape;563;g3bdc901c36c_0_473"/>
          <p:cNvSpPr txBox="1"/>
          <p:nvPr>
            <p:ph idx="1" type="body"/>
          </p:nvPr>
        </p:nvSpPr>
        <p:spPr>
          <a:xfrm>
            <a:off x="189186" y="616449"/>
            <a:ext cx="11887200" cy="36576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b="1" lang="en-IN"/>
              <a:t>Pooling and up sampling</a:t>
            </a:r>
            <a:endParaRPr/>
          </a:p>
          <a:p>
            <a:pPr indent="0" lvl="0" marL="50800" rtl="0" algn="l">
              <a:lnSpc>
                <a:spcPct val="90000"/>
              </a:lnSpc>
              <a:spcBef>
                <a:spcPts val="1000"/>
              </a:spcBef>
              <a:spcAft>
                <a:spcPts val="0"/>
              </a:spcAft>
              <a:buSzPts val="2800"/>
              <a:buNone/>
            </a:pPr>
            <a:r>
              <a:t/>
            </a:r>
            <a:endParaRPr b="1"/>
          </a:p>
          <a:p>
            <a:pPr indent="0" lvl="0" marL="50800" rtl="0" algn="just">
              <a:lnSpc>
                <a:spcPct val="90000"/>
              </a:lnSpc>
              <a:spcBef>
                <a:spcPts val="1000"/>
              </a:spcBef>
              <a:spcAft>
                <a:spcPts val="0"/>
              </a:spcAft>
              <a:buSzPts val="2800"/>
              <a:buNone/>
            </a:pPr>
            <a:r>
              <a:rPr lang="en-IN"/>
              <a:t>Pooling is used to reduce the spatial dimension of the input while up sampling is used to increase the size.</a:t>
            </a:r>
            <a:endParaRPr/>
          </a:p>
          <a:p>
            <a:pPr indent="0" lvl="0" marL="50800" rtl="0" algn="just">
              <a:lnSpc>
                <a:spcPct val="90000"/>
              </a:lnSpc>
              <a:spcBef>
                <a:spcPts val="1000"/>
              </a:spcBef>
              <a:spcAft>
                <a:spcPts val="0"/>
              </a:spcAft>
              <a:buSzPts val="2800"/>
              <a:buNone/>
            </a:pPr>
            <a:r>
              <a:rPr lang="en-IN"/>
              <a:t>Pooling layers help in selecting the most important features from the input, as max pooling selects the most salient features and average pooling provides a balanced representation.</a:t>
            </a:r>
            <a:endParaRPr/>
          </a:p>
          <a:p>
            <a:pPr indent="0" lvl="0" marL="50800" rtl="0" algn="l">
              <a:lnSpc>
                <a:spcPct val="90000"/>
              </a:lnSpc>
              <a:spcBef>
                <a:spcPts val="1000"/>
              </a:spcBef>
              <a:spcAft>
                <a:spcPts val="0"/>
              </a:spcAft>
              <a:buSzPts val="2800"/>
              <a:buNone/>
            </a:pPr>
            <a:r>
              <a:t/>
            </a:r>
            <a:endParaRPr b="1"/>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bdc901c36c_0_47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69" name="Google Shape;569;g3bdc901c36c_0_478"/>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70" name="Google Shape;570;g3bdc901c36c_0_478"/>
          <p:cNvPicPr preferRelativeResize="0"/>
          <p:nvPr/>
        </p:nvPicPr>
        <p:blipFill rotWithShape="1">
          <a:blip r:embed="rId3">
            <a:alphaModFix/>
          </a:blip>
          <a:srcRect b="0" l="0" r="0" t="0"/>
          <a:stretch/>
        </p:blipFill>
        <p:spPr>
          <a:xfrm>
            <a:off x="148331" y="863102"/>
            <a:ext cx="12047731" cy="5613544"/>
          </a:xfrm>
          <a:prstGeom prst="rect">
            <a:avLst/>
          </a:prstGeom>
          <a:noFill/>
          <a:ln>
            <a:noFill/>
          </a:ln>
        </p:spPr>
      </p:pic>
      <p:sp>
        <p:nvSpPr>
          <p:cNvPr id="571" name="Google Shape;571;g3bdc901c36c_0_478"/>
          <p:cNvSpPr/>
          <p:nvPr/>
        </p:nvSpPr>
        <p:spPr>
          <a:xfrm>
            <a:off x="4373423" y="-54804"/>
            <a:ext cx="5257500" cy="1635600"/>
          </a:xfrm>
          <a:prstGeom prst="wedgeRectCallout">
            <a:avLst>
              <a:gd fmla="val 2813" name="adj1"/>
              <a:gd fmla="val 15860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1" i="0" lang="en-IN" sz="1100" u="none" cap="none" strike="noStrike">
                <a:solidFill>
                  <a:schemeClr val="dk1"/>
                </a:solidFill>
                <a:latin typeface="Arial"/>
                <a:ea typeface="Arial"/>
                <a:cs typeface="Arial"/>
                <a:sym typeface="Arial"/>
              </a:rPr>
              <a:t>P</a:t>
            </a:r>
            <a:r>
              <a:rPr b="1" i="0" lang="en-IN" sz="1400" u="none" cap="none" strike="noStrike">
                <a:solidFill>
                  <a:schemeClr val="dk1"/>
                </a:solidFill>
                <a:latin typeface="Arial"/>
                <a:ea typeface="Arial"/>
                <a:cs typeface="Arial"/>
                <a:sym typeface="Arial"/>
              </a:rPr>
              <a:t>ooling reduces the dimensions of the image by down sampling it (e.g., a 2×2 pooling operation reduces the size by half).</a:t>
            </a:r>
            <a:endParaRPr/>
          </a:p>
          <a:p>
            <a:pPr indent="0" lvl="0" marL="0" marR="0" rtl="0" algn="just">
              <a:lnSpc>
                <a:spcPct val="100000"/>
              </a:lnSpc>
              <a:spcBef>
                <a:spcPts val="0"/>
              </a:spcBef>
              <a:spcAft>
                <a:spcPts val="0"/>
              </a:spcAft>
              <a:buClr>
                <a:schemeClr val="dk1"/>
              </a:buClr>
              <a:buSzPts val="1100"/>
              <a:buFont typeface="Arial"/>
              <a:buNone/>
            </a:pPr>
            <a:br>
              <a:rPr b="1" i="0" lang="en-IN" sz="1400" u="none" cap="none" strike="noStrike">
                <a:solidFill>
                  <a:schemeClr val="dk1"/>
                </a:solidFill>
                <a:latin typeface="Arial"/>
                <a:ea typeface="Arial"/>
                <a:cs typeface="Arial"/>
                <a:sym typeface="Arial"/>
              </a:rPr>
            </a:br>
            <a:r>
              <a:rPr b="1" i="0" lang="en-IN" sz="1400" u="none" cap="none" strike="noStrike">
                <a:solidFill>
                  <a:schemeClr val="dk1"/>
                </a:solidFill>
                <a:latin typeface="Arial"/>
                <a:ea typeface="Arial"/>
                <a:cs typeface="Arial"/>
                <a:sym typeface="Arial"/>
              </a:rPr>
              <a:t>This means fewer pixels are available to represent details, leading to a loss of fine features.</a:t>
            </a:r>
            <a:endParaRPr b="1"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3bdc901c36c_0_485"/>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77" name="Google Shape;577;g3bdc901c36c_0_485"/>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78" name="Google Shape;578;g3bdc901c36c_0_485"/>
          <p:cNvPicPr preferRelativeResize="0"/>
          <p:nvPr/>
        </p:nvPicPr>
        <p:blipFill rotWithShape="1">
          <a:blip r:embed="rId3">
            <a:alphaModFix/>
          </a:blip>
          <a:srcRect b="0" l="0" r="0" t="0"/>
          <a:stretch/>
        </p:blipFill>
        <p:spPr>
          <a:xfrm>
            <a:off x="0" y="1012488"/>
            <a:ext cx="12192001" cy="5534808"/>
          </a:xfrm>
          <a:prstGeom prst="rect">
            <a:avLst/>
          </a:prstGeom>
          <a:noFill/>
          <a:ln>
            <a:noFill/>
          </a:ln>
        </p:spPr>
      </p:pic>
      <p:sp>
        <p:nvSpPr>
          <p:cNvPr id="579" name="Google Shape;579;g3bdc901c36c_0_485"/>
          <p:cNvSpPr/>
          <p:nvPr/>
        </p:nvSpPr>
        <p:spPr>
          <a:xfrm>
            <a:off x="4464489" y="20510"/>
            <a:ext cx="5257500" cy="1635600"/>
          </a:xfrm>
          <a:prstGeom prst="wedgeRectCallout">
            <a:avLst>
              <a:gd fmla="val 4376" name="adj1"/>
              <a:gd fmla="val 12468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500"/>
              <a:buFont typeface="Arial"/>
              <a:buNone/>
            </a:pPr>
            <a:r>
              <a:rPr b="1" i="0" lang="en-IN" sz="1500" u="none" cap="none" strike="noStrike">
                <a:solidFill>
                  <a:schemeClr val="dk1"/>
                </a:solidFill>
                <a:latin typeface="Arial"/>
                <a:ea typeface="Arial"/>
                <a:cs typeface="Arial"/>
                <a:sym typeface="Arial"/>
              </a:rPr>
              <a:t>Retains the strongest (most prominent) features in the feature map</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g3bdc901c36c_0_49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85" name="Google Shape;585;g3bdc901c36c_0_492"/>
          <p:cNvSpPr txBox="1"/>
          <p:nvPr>
            <p:ph idx="1" type="body"/>
          </p:nvPr>
        </p:nvSpPr>
        <p:spPr>
          <a:xfrm>
            <a:off x="189186" y="318499"/>
            <a:ext cx="11887200" cy="58584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lang="en-IN"/>
              <a:t>No learned parameters (unlike convolution</a:t>
            </a:r>
            <a:endParaRPr/>
          </a:p>
        </p:txBody>
      </p:sp>
      <p:pic>
        <p:nvPicPr>
          <p:cNvPr id="586" name="Google Shape;586;g3bdc901c36c_0_492"/>
          <p:cNvPicPr preferRelativeResize="0"/>
          <p:nvPr/>
        </p:nvPicPr>
        <p:blipFill rotWithShape="1">
          <a:blip r:embed="rId3">
            <a:alphaModFix/>
          </a:blip>
          <a:srcRect b="0" l="0" r="0" t="0"/>
          <a:stretch/>
        </p:blipFill>
        <p:spPr>
          <a:xfrm>
            <a:off x="0" y="1050526"/>
            <a:ext cx="11322107" cy="530582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bdc901c36c_0_49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92" name="Google Shape;592;g3bdc901c36c_0_498"/>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593" name="Google Shape;593;g3bdc901c36c_0_498"/>
          <p:cNvPicPr preferRelativeResize="0"/>
          <p:nvPr/>
        </p:nvPicPr>
        <p:blipFill rotWithShape="1">
          <a:blip r:embed="rId3">
            <a:alphaModFix/>
          </a:blip>
          <a:srcRect b="0" l="0" r="0" t="0"/>
          <a:stretch/>
        </p:blipFill>
        <p:spPr>
          <a:xfrm>
            <a:off x="0" y="1397285"/>
            <a:ext cx="12002813" cy="538924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bdc901c36c_0_50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599" name="Google Shape;599;g3bdc901c36c_0_504"/>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600" name="Google Shape;600;g3bdc901c36c_0_504"/>
          <p:cNvPicPr preferRelativeResize="0"/>
          <p:nvPr/>
        </p:nvPicPr>
        <p:blipFill rotWithShape="1">
          <a:blip r:embed="rId3">
            <a:alphaModFix/>
          </a:blip>
          <a:srcRect b="0" l="0" r="0" t="0"/>
          <a:stretch/>
        </p:blipFill>
        <p:spPr>
          <a:xfrm>
            <a:off x="0" y="1458930"/>
            <a:ext cx="12076387" cy="532149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bdc901c36c_0_510"/>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06" name="Google Shape;606;g3bdc901c36c_0_510"/>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607" name="Google Shape;607;g3bdc901c36c_0_510"/>
          <p:cNvPicPr preferRelativeResize="0"/>
          <p:nvPr/>
        </p:nvPicPr>
        <p:blipFill rotWithShape="1">
          <a:blip r:embed="rId3">
            <a:alphaModFix/>
          </a:blip>
          <a:srcRect b="0" l="0" r="0" t="0"/>
          <a:stretch/>
        </p:blipFill>
        <p:spPr>
          <a:xfrm>
            <a:off x="0" y="1202076"/>
            <a:ext cx="12191999" cy="533628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bdc901c36c_0_51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13" name="Google Shape;613;g3bdc901c36c_0_516"/>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614" name="Google Shape;614;g3bdc901c36c_0_516"/>
          <p:cNvPicPr preferRelativeResize="0"/>
          <p:nvPr/>
        </p:nvPicPr>
        <p:blipFill rotWithShape="1">
          <a:blip r:embed="rId3">
            <a:alphaModFix/>
          </a:blip>
          <a:srcRect b="0" l="0" r="0" t="0"/>
          <a:stretch/>
        </p:blipFill>
        <p:spPr>
          <a:xfrm>
            <a:off x="0" y="1387011"/>
            <a:ext cx="12191999" cy="534365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bdc901c36c_0_52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20" name="Google Shape;620;g3bdc901c36c_0_522"/>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621" name="Google Shape;621;g3bdc901c36c_0_522"/>
          <p:cNvPicPr preferRelativeResize="0"/>
          <p:nvPr/>
        </p:nvPicPr>
        <p:blipFill rotWithShape="1">
          <a:blip r:embed="rId3">
            <a:alphaModFix/>
          </a:blip>
          <a:srcRect b="0" l="0" r="0" t="0"/>
          <a:stretch/>
        </p:blipFill>
        <p:spPr>
          <a:xfrm>
            <a:off x="0" y="1119882"/>
            <a:ext cx="12076385" cy="550109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g3bdc901c36c_0_52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27" name="Google Shape;627;g3bdc901c36c_0_528"/>
          <p:cNvSpPr txBox="1"/>
          <p:nvPr>
            <p:ph idx="1" type="body"/>
          </p:nvPr>
        </p:nvSpPr>
        <p:spPr>
          <a:xfrm>
            <a:off x="189186" y="647272"/>
            <a:ext cx="11887200" cy="55296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lang="en-IN"/>
              <a:t>Min Pooling</a:t>
            </a:r>
            <a:endParaRPr/>
          </a:p>
        </p:txBody>
      </p:sp>
      <p:pic>
        <p:nvPicPr>
          <p:cNvPr id="628" name="Google Shape;628;g3bdc901c36c_0_528"/>
          <p:cNvPicPr preferRelativeResize="0"/>
          <p:nvPr/>
        </p:nvPicPr>
        <p:blipFill rotWithShape="1">
          <a:blip r:embed="rId3">
            <a:alphaModFix/>
          </a:blip>
          <a:srcRect b="0" l="0" r="0" t="0"/>
          <a:stretch/>
        </p:blipFill>
        <p:spPr>
          <a:xfrm>
            <a:off x="929425" y="1709213"/>
            <a:ext cx="8382000" cy="3981450"/>
          </a:xfrm>
          <a:prstGeom prst="rect">
            <a:avLst/>
          </a:prstGeom>
          <a:noFill/>
          <a:ln>
            <a:noFill/>
          </a:ln>
        </p:spPr>
      </p:pic>
      <p:sp>
        <p:nvSpPr>
          <p:cNvPr id="629" name="Google Shape;629;g3bdc901c36c_0_528"/>
          <p:cNvSpPr/>
          <p:nvPr/>
        </p:nvSpPr>
        <p:spPr>
          <a:xfrm>
            <a:off x="4080351" y="0"/>
            <a:ext cx="5666400" cy="1565700"/>
          </a:xfrm>
          <a:prstGeom prst="wedgeRoundRectCallout">
            <a:avLst>
              <a:gd fmla="val -15575" name="adj1"/>
              <a:gd fmla="val 102528"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n-IN" sz="1600" u="none" cap="none" strike="noStrike">
                <a:solidFill>
                  <a:schemeClr val="dk1"/>
                </a:solidFill>
                <a:latin typeface="Arial"/>
                <a:ea typeface="Arial"/>
                <a:cs typeface="Arial"/>
                <a:sym typeface="Arial"/>
              </a:rPr>
              <a:t>Unlike max pooling (which picks the highest value), min pooling focuses on the </a:t>
            </a:r>
            <a:r>
              <a:rPr b="1" i="0" lang="en-IN" sz="1600" u="none" cap="none" strike="noStrike">
                <a:solidFill>
                  <a:schemeClr val="dk1"/>
                </a:solidFill>
                <a:latin typeface="Arial"/>
                <a:ea typeface="Arial"/>
                <a:cs typeface="Arial"/>
                <a:sym typeface="Arial"/>
              </a:rPr>
              <a:t>lowest intensity or least activated pixels</a:t>
            </a:r>
            <a:r>
              <a:rPr b="0" i="0" lang="en-IN" sz="1600" u="none" cap="none" strike="noStrike">
                <a:solidFill>
                  <a:schemeClr val="dk1"/>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IN" sz="1600" u="none" cap="none" strike="noStrike">
                <a:solidFill>
                  <a:schemeClr val="dk1"/>
                </a:solidFill>
                <a:latin typeface="Arial"/>
                <a:ea typeface="Arial"/>
                <a:cs typeface="Arial"/>
                <a:sym typeface="Arial"/>
              </a:rPr>
              <a:t>Helps in certain denoising applications where strong signals are unwanted.</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g3bdc901c36c_0_535"/>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35" name="Google Shape;635;g3bdc901c36c_0_535"/>
          <p:cNvSpPr txBox="1"/>
          <p:nvPr>
            <p:ph idx="1" type="body"/>
          </p:nvPr>
        </p:nvSpPr>
        <p:spPr>
          <a:xfrm>
            <a:off x="189186" y="678094"/>
            <a:ext cx="11887200" cy="54990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lang="en-IN"/>
              <a:t>Average Pooling</a:t>
            </a:r>
            <a:endParaRPr/>
          </a:p>
        </p:txBody>
      </p:sp>
      <p:pic>
        <p:nvPicPr>
          <p:cNvPr id="636" name="Google Shape;636;g3bdc901c36c_0_535"/>
          <p:cNvPicPr preferRelativeResize="0"/>
          <p:nvPr/>
        </p:nvPicPr>
        <p:blipFill rotWithShape="1">
          <a:blip r:embed="rId3">
            <a:alphaModFix/>
          </a:blip>
          <a:srcRect b="0" l="0" r="0" t="0"/>
          <a:stretch/>
        </p:blipFill>
        <p:spPr>
          <a:xfrm>
            <a:off x="957967" y="1657191"/>
            <a:ext cx="8753475" cy="38385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bdc901c36c_0_541"/>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42" name="Google Shape;642;g3bdc901c36c_0_541"/>
          <p:cNvSpPr txBox="1"/>
          <p:nvPr>
            <p:ph idx="1" type="body"/>
          </p:nvPr>
        </p:nvSpPr>
        <p:spPr>
          <a:xfrm>
            <a:off x="189186" y="328773"/>
            <a:ext cx="11887200" cy="58482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b="1" lang="en-IN"/>
              <a:t>Convolution Layer: Computing output feature map dimension</a:t>
            </a:r>
            <a:endParaRPr/>
          </a:p>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643" name="Google Shape;643;g3bdc901c36c_0_541"/>
          <p:cNvPicPr preferRelativeResize="0"/>
          <p:nvPr/>
        </p:nvPicPr>
        <p:blipFill rotWithShape="1">
          <a:blip r:embed="rId3">
            <a:alphaModFix/>
          </a:blip>
          <a:srcRect b="0" l="0" r="0" t="0"/>
          <a:stretch/>
        </p:blipFill>
        <p:spPr>
          <a:xfrm>
            <a:off x="0" y="1555695"/>
            <a:ext cx="11789636" cy="374660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bdc901c36c_0_54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649" name="Google Shape;649;g3bdc901c36c_0_547"/>
          <p:cNvSpPr txBox="1"/>
          <p:nvPr>
            <p:ph idx="1" type="body"/>
          </p:nvPr>
        </p:nvSpPr>
        <p:spPr>
          <a:xfrm>
            <a:off x="189186" y="297951"/>
            <a:ext cx="11887200" cy="58791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b="1" lang="en-IN"/>
              <a:t>Pooling Layer: </a:t>
            </a:r>
            <a:r>
              <a:rPr lang="en-IN"/>
              <a:t>Computing output feature map dimension</a:t>
            </a:r>
            <a:endParaRPr/>
          </a:p>
          <a:p>
            <a:pPr indent="0" lvl="0" marL="50800" rtl="0" algn="l">
              <a:lnSpc>
                <a:spcPct val="90000"/>
              </a:lnSpc>
              <a:spcBef>
                <a:spcPts val="1000"/>
              </a:spcBef>
              <a:spcAft>
                <a:spcPts val="0"/>
              </a:spcAft>
              <a:buSzPts val="2800"/>
              <a:buNone/>
            </a:pPr>
            <a:r>
              <a:t/>
            </a:r>
            <a:endParaRPr/>
          </a:p>
          <a:p>
            <a:pPr indent="0" lvl="0" marL="0" rtl="0" algn="l">
              <a:lnSpc>
                <a:spcPct val="90000"/>
              </a:lnSpc>
              <a:spcBef>
                <a:spcPts val="0"/>
              </a:spcBef>
              <a:spcAft>
                <a:spcPts val="0"/>
              </a:spcAft>
              <a:buSzPts val="2800"/>
              <a:buNone/>
            </a:pPr>
            <a:r>
              <a:rPr lang="en-IN">
                <a:solidFill>
                  <a:schemeClr val="dk1"/>
                </a:solidFill>
              </a:rPr>
              <a:t>w</a:t>
            </a:r>
            <a:r>
              <a:rPr baseline="-25000" lang="en-IN">
                <a:solidFill>
                  <a:schemeClr val="dk1"/>
                </a:solidFill>
              </a:rPr>
              <a:t>out</a:t>
            </a:r>
            <a:r>
              <a:rPr lang="en-IN">
                <a:solidFill>
                  <a:schemeClr val="dk1"/>
                </a:solidFill>
              </a:rPr>
              <a:t> = ((w</a:t>
            </a:r>
            <a:r>
              <a:rPr baseline="-25000" lang="en-IN">
                <a:solidFill>
                  <a:schemeClr val="dk1"/>
                </a:solidFill>
              </a:rPr>
              <a:t>in </a:t>
            </a:r>
            <a:r>
              <a:rPr lang="en-IN">
                <a:solidFill>
                  <a:schemeClr val="dk1"/>
                </a:solidFill>
              </a:rPr>
              <a:t>- f</a:t>
            </a:r>
            <a:r>
              <a:rPr baseline="-25000" lang="en-IN">
                <a:solidFill>
                  <a:schemeClr val="dk1"/>
                </a:solidFill>
              </a:rPr>
              <a:t>w</a:t>
            </a:r>
            <a:r>
              <a:rPr lang="en-IN">
                <a:solidFill>
                  <a:schemeClr val="dk1"/>
                </a:solidFill>
              </a:rPr>
              <a:t>)/s) + 1           h</a:t>
            </a:r>
            <a:r>
              <a:rPr baseline="-25000" lang="en-IN">
                <a:solidFill>
                  <a:schemeClr val="dk1"/>
                </a:solidFill>
              </a:rPr>
              <a:t>out</a:t>
            </a:r>
            <a:r>
              <a:rPr lang="en-IN">
                <a:solidFill>
                  <a:schemeClr val="dk1"/>
                </a:solidFill>
              </a:rPr>
              <a:t> = ((h</a:t>
            </a:r>
            <a:r>
              <a:rPr baseline="-25000" lang="en-IN">
                <a:solidFill>
                  <a:schemeClr val="dk1"/>
                </a:solidFill>
              </a:rPr>
              <a:t>in</a:t>
            </a:r>
            <a:r>
              <a:rPr lang="en-IN">
                <a:solidFill>
                  <a:schemeClr val="dk1"/>
                </a:solidFill>
              </a:rPr>
              <a:t>-f</a:t>
            </a:r>
            <a:r>
              <a:rPr baseline="-25000" lang="en-IN">
                <a:solidFill>
                  <a:schemeClr val="dk1"/>
                </a:solidFill>
              </a:rPr>
              <a:t>h</a:t>
            </a:r>
            <a:r>
              <a:rPr lang="en-IN">
                <a:solidFill>
                  <a:schemeClr val="dk1"/>
                </a:solidFill>
              </a:rPr>
              <a:t>)/s)+1</a:t>
            </a:r>
            <a:endParaRPr/>
          </a:p>
          <a:p>
            <a:pPr indent="0" lvl="0" marL="0" rtl="0" algn="l">
              <a:lnSpc>
                <a:spcPct val="90000"/>
              </a:lnSpc>
              <a:spcBef>
                <a:spcPts val="0"/>
              </a:spcBef>
              <a:spcAft>
                <a:spcPts val="0"/>
              </a:spcAft>
              <a:buSzPts val="2800"/>
              <a:buNone/>
            </a:pPr>
            <a:r>
              <a:t/>
            </a:r>
            <a:endParaRPr>
              <a:solidFill>
                <a:schemeClr val="dk1"/>
              </a:solidFill>
            </a:endParaRPr>
          </a:p>
          <a:p>
            <a:pPr indent="0" lvl="0" marL="0" rtl="0" algn="l">
              <a:lnSpc>
                <a:spcPct val="90000"/>
              </a:lnSpc>
              <a:spcBef>
                <a:spcPts val="0"/>
              </a:spcBef>
              <a:spcAft>
                <a:spcPts val="0"/>
              </a:spcAft>
              <a:buSzPts val="2800"/>
              <a:buNone/>
            </a:pPr>
            <a:r>
              <a:rPr lang="en-IN">
                <a:solidFill>
                  <a:schemeClr val="dk1"/>
                </a:solidFill>
              </a:rPr>
              <a:t>here, w</a:t>
            </a:r>
            <a:r>
              <a:rPr baseline="-25000" lang="en-IN">
                <a:solidFill>
                  <a:schemeClr val="dk1"/>
                </a:solidFill>
              </a:rPr>
              <a:t>out</a:t>
            </a:r>
            <a:r>
              <a:rPr lang="en-IN">
                <a:solidFill>
                  <a:schemeClr val="dk1"/>
                </a:solidFill>
              </a:rPr>
              <a:t> indicates width of the output feature map.</a:t>
            </a:r>
            <a:endParaRPr/>
          </a:p>
          <a:p>
            <a:pPr indent="0" lvl="0" marL="0" rtl="0" algn="l">
              <a:lnSpc>
                <a:spcPct val="90000"/>
              </a:lnSpc>
              <a:spcBef>
                <a:spcPts val="0"/>
              </a:spcBef>
              <a:spcAft>
                <a:spcPts val="0"/>
              </a:spcAft>
              <a:buSzPts val="2800"/>
              <a:buNone/>
            </a:pPr>
            <a:r>
              <a:rPr lang="en-IN">
                <a:solidFill>
                  <a:schemeClr val="dk1"/>
                </a:solidFill>
              </a:rPr>
              <a:t>h</a:t>
            </a:r>
            <a:r>
              <a:rPr baseline="-25000" lang="en-IN">
                <a:solidFill>
                  <a:schemeClr val="dk1"/>
                </a:solidFill>
              </a:rPr>
              <a:t>out</a:t>
            </a:r>
            <a:r>
              <a:rPr lang="en-IN">
                <a:solidFill>
                  <a:schemeClr val="dk1"/>
                </a:solidFill>
              </a:rPr>
              <a:t> indicates height of the output feature map</a:t>
            </a:r>
            <a:endParaRPr/>
          </a:p>
          <a:p>
            <a:pPr indent="0" lvl="0" marL="0" rtl="0" algn="l">
              <a:lnSpc>
                <a:spcPct val="90000"/>
              </a:lnSpc>
              <a:spcBef>
                <a:spcPts val="0"/>
              </a:spcBef>
              <a:spcAft>
                <a:spcPts val="0"/>
              </a:spcAft>
              <a:buSzPts val="2800"/>
              <a:buNone/>
            </a:pPr>
            <a:r>
              <a:rPr lang="en-IN">
                <a:solidFill>
                  <a:schemeClr val="dk1"/>
                </a:solidFill>
              </a:rPr>
              <a:t>w</a:t>
            </a:r>
            <a:r>
              <a:rPr baseline="-25000" lang="en-IN">
                <a:solidFill>
                  <a:schemeClr val="dk1"/>
                </a:solidFill>
              </a:rPr>
              <a:t>in</a:t>
            </a:r>
            <a:r>
              <a:rPr lang="en-IN">
                <a:solidFill>
                  <a:schemeClr val="dk1"/>
                </a:solidFill>
              </a:rPr>
              <a:t> indicates width of input feature map </a:t>
            </a:r>
            <a:endParaRPr/>
          </a:p>
          <a:p>
            <a:pPr indent="0" lvl="0" marL="0" rtl="0" algn="l">
              <a:lnSpc>
                <a:spcPct val="90000"/>
              </a:lnSpc>
              <a:spcBef>
                <a:spcPts val="0"/>
              </a:spcBef>
              <a:spcAft>
                <a:spcPts val="0"/>
              </a:spcAft>
              <a:buSzPts val="2800"/>
              <a:buNone/>
            </a:pPr>
            <a:r>
              <a:rPr lang="en-IN">
                <a:solidFill>
                  <a:schemeClr val="dk1"/>
                </a:solidFill>
              </a:rPr>
              <a:t>h</a:t>
            </a:r>
            <a:r>
              <a:rPr baseline="-25000" lang="en-IN">
                <a:solidFill>
                  <a:schemeClr val="dk1"/>
                </a:solidFill>
              </a:rPr>
              <a:t>in</a:t>
            </a:r>
            <a:r>
              <a:rPr lang="en-IN">
                <a:solidFill>
                  <a:schemeClr val="dk1"/>
                </a:solidFill>
              </a:rPr>
              <a:t> indicates height of input feature map</a:t>
            </a:r>
            <a:endParaRPr/>
          </a:p>
          <a:p>
            <a:pPr indent="0" lvl="0" marL="0" rtl="0" algn="l">
              <a:lnSpc>
                <a:spcPct val="90000"/>
              </a:lnSpc>
              <a:spcBef>
                <a:spcPts val="0"/>
              </a:spcBef>
              <a:spcAft>
                <a:spcPts val="0"/>
              </a:spcAft>
              <a:buSzPts val="1100"/>
              <a:buNone/>
            </a:pPr>
            <a:r>
              <a:rPr lang="en-IN">
                <a:solidFill>
                  <a:schemeClr val="dk1"/>
                </a:solidFill>
              </a:rPr>
              <a:t>f</a:t>
            </a:r>
            <a:r>
              <a:rPr baseline="-25000" lang="en-IN">
                <a:solidFill>
                  <a:schemeClr val="dk1"/>
                </a:solidFill>
              </a:rPr>
              <a:t>w</a:t>
            </a:r>
            <a:r>
              <a:rPr lang="en-IN">
                <a:solidFill>
                  <a:schemeClr val="dk1"/>
                </a:solidFill>
              </a:rPr>
              <a:t>, f</a:t>
            </a:r>
            <a:r>
              <a:rPr baseline="-25000" lang="en-IN">
                <a:solidFill>
                  <a:schemeClr val="dk1"/>
                </a:solidFill>
              </a:rPr>
              <a:t>h </a:t>
            </a:r>
            <a:r>
              <a:rPr lang="en-IN">
                <a:solidFill>
                  <a:schemeClr val="dk1"/>
                </a:solidFill>
              </a:rPr>
              <a:t>indicates width and height of the filter</a:t>
            </a:r>
            <a:endParaRPr/>
          </a:p>
          <a:p>
            <a:pPr indent="0" lvl="0" marL="0" rtl="0" algn="l">
              <a:lnSpc>
                <a:spcPct val="90000"/>
              </a:lnSpc>
              <a:spcBef>
                <a:spcPts val="0"/>
              </a:spcBef>
              <a:spcAft>
                <a:spcPts val="0"/>
              </a:spcAft>
              <a:buSzPts val="2800"/>
              <a:buNone/>
            </a:pPr>
            <a:r>
              <a:rPr lang="en-IN">
                <a:solidFill>
                  <a:schemeClr val="dk1"/>
                </a:solidFill>
              </a:rPr>
              <a:t>s indicates stride</a:t>
            </a:r>
            <a:endParaRPr/>
          </a:p>
          <a:p>
            <a:pPr indent="0" lvl="0" marL="50800" rtl="0" algn="l">
              <a:lnSpc>
                <a:spcPct val="90000"/>
              </a:lnSpc>
              <a:spcBef>
                <a:spcPts val="1000"/>
              </a:spcBef>
              <a:spcAft>
                <a:spcPts val="0"/>
              </a:spcAft>
              <a:buSzPts val="2800"/>
              <a:buNone/>
            </a:pPr>
            <a:r>
              <a:t/>
            </a:r>
            <a:endParaRPr/>
          </a:p>
          <a:p>
            <a:pPr indent="0" lvl="0" marL="50800" rtl="0" algn="l">
              <a:lnSpc>
                <a:spcPct val="90000"/>
              </a:lnSpc>
              <a:spcBef>
                <a:spcPts val="1000"/>
              </a:spcBef>
              <a:spcAft>
                <a:spcPts val="0"/>
              </a:spcAft>
              <a:buSzPts val="2800"/>
              <a:buNone/>
            </a:pPr>
            <a:r>
              <a:rPr lang="en-IN">
                <a:solidFill>
                  <a:schemeClr val="dk1"/>
                </a:solidFill>
              </a:rPr>
              <a:t>Note: If the resultant output feature map dimension is not an integer, floor of that real number will be considered.</a:t>
            </a:r>
            <a:endParaRPr/>
          </a:p>
          <a:p>
            <a:pPr indent="0" lvl="0" marL="50800" rtl="0" algn="l">
              <a:lnSpc>
                <a:spcPct val="90000"/>
              </a:lnSpc>
              <a:spcBef>
                <a:spcPts val="1000"/>
              </a:spcBef>
              <a:spcAft>
                <a:spcPts val="0"/>
              </a:spcAft>
              <a:buSzPts val="2800"/>
              <a:buNone/>
            </a:pPr>
            <a:r>
              <a:t/>
            </a:r>
            <a:endParaRPr/>
          </a:p>
          <a:p>
            <a:pPr indent="0" lvl="0" marL="50800" rtl="0" algn="l">
              <a:lnSpc>
                <a:spcPct val="90000"/>
              </a:lnSpc>
              <a:spcBef>
                <a:spcPts val="1000"/>
              </a:spcBef>
              <a:spcAft>
                <a:spcPts val="0"/>
              </a:spcAft>
              <a:buSzPts val="28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23"/>
          <p:cNvSpPr txBox="1"/>
          <p:nvPr>
            <p:ph type="title"/>
          </p:nvPr>
        </p:nvSpPr>
        <p:spPr>
          <a:xfrm>
            <a:off x="330200"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Bookman Old Style"/>
              <a:buNone/>
            </a:pPr>
            <a:r>
              <a:rPr lang="en-IN" sz="4000">
                <a:latin typeface="Bookman Old Style"/>
                <a:ea typeface="Bookman Old Style"/>
                <a:cs typeface="Bookman Old Style"/>
                <a:sym typeface="Bookman Old Style"/>
              </a:rPr>
              <a:t>Mathematics of 2D convolution in a CNN</a:t>
            </a:r>
            <a:endParaRPr sz="4000">
              <a:latin typeface="Bookman Old Style"/>
              <a:ea typeface="Bookman Old Style"/>
              <a:cs typeface="Bookman Old Style"/>
              <a:sym typeface="Bookman Old Style"/>
            </a:endParaRPr>
          </a:p>
        </p:txBody>
      </p:sp>
      <p:sp>
        <p:nvSpPr>
          <p:cNvPr id="655" name="Google Shape;655;p23"/>
          <p:cNvSpPr txBox="1"/>
          <p:nvPr>
            <p:ph idx="1" type="body"/>
          </p:nvPr>
        </p:nvSpPr>
        <p:spPr>
          <a:xfrm>
            <a:off x="838199" y="1825625"/>
            <a:ext cx="1113366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latin typeface="Bookman Old Style"/>
                <a:ea typeface="Bookman Old Style"/>
                <a:cs typeface="Bookman Old Style"/>
                <a:sym typeface="Bookman Old Style"/>
              </a:rPr>
              <a:t>How the </a:t>
            </a:r>
            <a:r>
              <a:rPr b="1" lang="en-IN" sz="2600">
                <a:latin typeface="Bookman Old Style"/>
                <a:ea typeface="Bookman Old Style"/>
                <a:cs typeface="Bookman Old Style"/>
                <a:sym typeface="Bookman Old Style"/>
              </a:rPr>
              <a:t>output size</a:t>
            </a:r>
            <a:r>
              <a:rPr lang="en-IN" sz="2600">
                <a:latin typeface="Bookman Old Style"/>
                <a:ea typeface="Bookman Old Style"/>
                <a:cs typeface="Bookman Old Style"/>
                <a:sym typeface="Bookman Old Style"/>
              </a:rPr>
              <a:t> is calculated when applying a </a:t>
            </a:r>
            <a:r>
              <a:rPr b="1" lang="en-IN" sz="2600">
                <a:latin typeface="Bookman Old Style"/>
                <a:ea typeface="Bookman Old Style"/>
                <a:cs typeface="Bookman Old Style"/>
                <a:sym typeface="Bookman Old Style"/>
              </a:rPr>
              <a:t>convolutional filter (kernel)</a:t>
            </a:r>
            <a:r>
              <a:rPr lang="en-IN" sz="2600">
                <a:latin typeface="Bookman Old Style"/>
                <a:ea typeface="Bookman Old Style"/>
                <a:cs typeface="Bookman Old Style"/>
                <a:sym typeface="Bookman Old Style"/>
              </a:rPr>
              <a:t> to an input image without padding and with a stride of 1.</a:t>
            </a:r>
            <a:endParaRPr sz="2600">
              <a:latin typeface="Bookman Old Style"/>
              <a:ea typeface="Bookman Old Style"/>
              <a:cs typeface="Bookman Old Style"/>
              <a:sym typeface="Bookman Old Style"/>
            </a:endParaRPr>
          </a:p>
        </p:txBody>
      </p:sp>
      <p:sp>
        <p:nvSpPr>
          <p:cNvPr id="656" name="Google Shape;65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657" name="Google Shape;65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658" name="Google Shape;65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pSp>
        <p:nvGrpSpPr>
          <p:cNvPr id="659" name="Google Shape;659;p23"/>
          <p:cNvGrpSpPr/>
          <p:nvPr/>
        </p:nvGrpSpPr>
        <p:grpSpPr>
          <a:xfrm>
            <a:off x="838199" y="3028395"/>
            <a:ext cx="8164062" cy="2330248"/>
            <a:chOff x="912204" y="3273928"/>
            <a:chExt cx="8164062" cy="2330248"/>
          </a:xfrm>
        </p:grpSpPr>
        <p:pic>
          <p:nvPicPr>
            <p:cNvPr id="660" name="Google Shape;660;p23"/>
            <p:cNvPicPr preferRelativeResize="0"/>
            <p:nvPr/>
          </p:nvPicPr>
          <p:blipFill rotWithShape="1">
            <a:blip r:embed="rId3">
              <a:alphaModFix/>
            </a:blip>
            <a:srcRect b="42525" l="-1" r="-117" t="0"/>
            <a:stretch/>
          </p:blipFill>
          <p:spPr>
            <a:xfrm>
              <a:off x="912204" y="3273928"/>
              <a:ext cx="8164062" cy="2288673"/>
            </a:xfrm>
            <a:prstGeom prst="rect">
              <a:avLst/>
            </a:prstGeom>
            <a:noFill/>
            <a:ln>
              <a:noFill/>
            </a:ln>
          </p:spPr>
        </p:pic>
        <p:pic>
          <p:nvPicPr>
            <p:cNvPr id="661" name="Google Shape;661;p23"/>
            <p:cNvPicPr preferRelativeResize="0"/>
            <p:nvPr/>
          </p:nvPicPr>
          <p:blipFill rotWithShape="1">
            <a:blip r:embed="rId4">
              <a:alphaModFix/>
            </a:blip>
            <a:srcRect b="0" l="0" r="0" t="0"/>
            <a:stretch/>
          </p:blipFill>
          <p:spPr>
            <a:xfrm>
              <a:off x="4316014" y="5072965"/>
              <a:ext cx="1205441" cy="531211"/>
            </a:xfrm>
            <a:prstGeom prst="rect">
              <a:avLst/>
            </a:prstGeom>
            <a:noFill/>
            <a:ln>
              <a:noFill/>
            </a:ln>
          </p:spPr>
        </p:pic>
      </p:grpSp>
      <p:sp>
        <p:nvSpPr>
          <p:cNvPr id="662" name="Google Shape;662;p23"/>
          <p:cNvSpPr txBox="1"/>
          <p:nvPr/>
        </p:nvSpPr>
        <p:spPr>
          <a:xfrm>
            <a:off x="1134533" y="5348325"/>
            <a:ext cx="17187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C00000"/>
                </a:solidFill>
                <a:latin typeface="Bookman Old Style"/>
                <a:ea typeface="Bookman Old Style"/>
                <a:cs typeface="Bookman Old Style"/>
                <a:sym typeface="Bookman Old Style"/>
              </a:rPr>
              <a:t>6 × 6 ( n × n)</a:t>
            </a:r>
            <a:endParaRPr b="1" sz="1800">
              <a:solidFill>
                <a:srgbClr val="C00000"/>
              </a:solidFill>
              <a:latin typeface="Bookman Old Style"/>
              <a:ea typeface="Bookman Old Style"/>
              <a:cs typeface="Bookman Old Style"/>
              <a:sym typeface="Bookman Old Style"/>
            </a:endParaRPr>
          </a:p>
        </p:txBody>
      </p:sp>
      <p:sp>
        <p:nvSpPr>
          <p:cNvPr id="663" name="Google Shape;663;p23"/>
          <p:cNvSpPr txBox="1"/>
          <p:nvPr/>
        </p:nvSpPr>
        <p:spPr>
          <a:xfrm>
            <a:off x="4038600" y="4778699"/>
            <a:ext cx="17187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3 × 3 ( f × f)</a:t>
            </a:r>
            <a:endParaRPr b="1" sz="1800">
              <a:solidFill>
                <a:srgbClr val="7030A0"/>
              </a:solidFill>
              <a:latin typeface="Bookman Old Style"/>
              <a:ea typeface="Bookman Old Style"/>
              <a:cs typeface="Bookman Old Style"/>
              <a:sym typeface="Bookman Old Style"/>
            </a:endParaRPr>
          </a:p>
        </p:txBody>
      </p:sp>
      <p:pic>
        <p:nvPicPr>
          <p:cNvPr id="664" name="Google Shape;664;p23"/>
          <p:cNvPicPr preferRelativeResize="0"/>
          <p:nvPr/>
        </p:nvPicPr>
        <p:blipFill rotWithShape="1">
          <a:blip r:embed="rId3">
            <a:alphaModFix/>
          </a:blip>
          <a:srcRect b="52332" l="6256" r="75989" t="11947"/>
          <a:stretch/>
        </p:blipFill>
        <p:spPr>
          <a:xfrm>
            <a:off x="6705600" y="3540964"/>
            <a:ext cx="1447800" cy="1422401"/>
          </a:xfrm>
          <a:prstGeom prst="rect">
            <a:avLst/>
          </a:prstGeom>
          <a:noFill/>
          <a:ln>
            <a:noFill/>
          </a:ln>
        </p:spPr>
      </p:pic>
      <p:sp>
        <p:nvSpPr>
          <p:cNvPr id="665" name="Google Shape;665;p23"/>
          <p:cNvSpPr txBox="1"/>
          <p:nvPr/>
        </p:nvSpPr>
        <p:spPr>
          <a:xfrm>
            <a:off x="7146076" y="5100361"/>
            <a:ext cx="12054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C000"/>
                </a:solidFill>
                <a:latin typeface="Bookman Old Style"/>
                <a:ea typeface="Bookman Old Style"/>
                <a:cs typeface="Bookman Old Style"/>
                <a:sym typeface="Bookman Old Style"/>
              </a:rPr>
              <a:t>???</a:t>
            </a:r>
            <a:endParaRPr b="1" sz="1800">
              <a:solidFill>
                <a:srgbClr val="FFC000"/>
              </a:solidFill>
              <a:latin typeface="Bookman Old Style"/>
              <a:ea typeface="Bookman Old Style"/>
              <a:cs typeface="Bookman Old Style"/>
              <a:sym typeface="Bookman Old Style"/>
            </a:endParaRPr>
          </a:p>
        </p:txBody>
      </p:sp>
      <p:sp>
        <p:nvSpPr>
          <p:cNvPr id="666" name="Google Shape;666;p23"/>
          <p:cNvSpPr txBox="1"/>
          <p:nvPr/>
        </p:nvSpPr>
        <p:spPr>
          <a:xfrm>
            <a:off x="9091161" y="3794934"/>
            <a:ext cx="288070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n – f + 1 × n – f + 1</a:t>
            </a:r>
            <a:endParaRPr/>
          </a:p>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 6 – 3 + 1 × 6 – 3 + 1</a:t>
            </a:r>
            <a:endParaRPr/>
          </a:p>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 4 × 4</a:t>
            </a:r>
            <a:endParaRPr b="1" sz="1800">
              <a:solidFill>
                <a:srgbClr val="7030A0"/>
              </a:solidFill>
              <a:latin typeface="Bookman Old Style"/>
              <a:ea typeface="Bookman Old Style"/>
              <a:cs typeface="Bookman Old Style"/>
              <a:sym typeface="Bookman Old Style"/>
            </a:endParaRPr>
          </a:p>
        </p:txBody>
      </p:sp>
      <p:sp>
        <p:nvSpPr>
          <p:cNvPr id="667" name="Google Shape;667;p23"/>
          <p:cNvSpPr txBox="1"/>
          <p:nvPr/>
        </p:nvSpPr>
        <p:spPr>
          <a:xfrm>
            <a:off x="7146075" y="5464414"/>
            <a:ext cx="12054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C000"/>
                </a:solidFill>
                <a:latin typeface="Bookman Old Style"/>
                <a:ea typeface="Bookman Old Style"/>
                <a:cs typeface="Bookman Old Style"/>
                <a:sym typeface="Bookman Old Style"/>
              </a:rPr>
              <a:t>4 × 4</a:t>
            </a:r>
            <a:endParaRPr b="1" sz="1800">
              <a:solidFill>
                <a:srgbClr val="FFC000"/>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73" name="Google Shape;67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
        <p:nvSpPr>
          <p:cNvPr id="674" name="Google Shape;67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675" name="Google Shape;67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676" name="Google Shape;67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677" name="Google Shape;677;p24"/>
          <p:cNvPicPr preferRelativeResize="0"/>
          <p:nvPr/>
        </p:nvPicPr>
        <p:blipFill rotWithShape="1">
          <a:blip r:embed="rId3">
            <a:alphaModFix/>
          </a:blip>
          <a:srcRect b="0" l="0" r="0" t="0"/>
          <a:stretch/>
        </p:blipFill>
        <p:spPr>
          <a:xfrm>
            <a:off x="0" y="1175972"/>
            <a:ext cx="12192000" cy="5163183"/>
          </a:xfrm>
          <a:prstGeom prst="rect">
            <a:avLst/>
          </a:prstGeom>
          <a:noFill/>
          <a:ln>
            <a:noFill/>
          </a:ln>
        </p:spPr>
      </p:pic>
      <p:pic>
        <p:nvPicPr>
          <p:cNvPr id="678" name="Google Shape;678;p24"/>
          <p:cNvPicPr preferRelativeResize="0"/>
          <p:nvPr/>
        </p:nvPicPr>
        <p:blipFill rotWithShape="1">
          <a:blip r:embed="rId4">
            <a:alphaModFix/>
          </a:blip>
          <a:srcRect b="4728" l="0" r="0" t="-4730"/>
          <a:stretch/>
        </p:blipFill>
        <p:spPr>
          <a:xfrm>
            <a:off x="0" y="832207"/>
            <a:ext cx="12192000" cy="5638931"/>
          </a:xfrm>
          <a:prstGeom prst="rect">
            <a:avLst/>
          </a:prstGeom>
          <a:noFill/>
          <a:ln>
            <a:noFill/>
          </a:ln>
        </p:spPr>
      </p:pic>
      <p:pic>
        <p:nvPicPr>
          <p:cNvPr id="679" name="Google Shape;679;p24"/>
          <p:cNvPicPr preferRelativeResize="0"/>
          <p:nvPr/>
        </p:nvPicPr>
        <p:blipFill rotWithShape="1">
          <a:blip r:embed="rId5">
            <a:alphaModFix/>
          </a:blip>
          <a:srcRect b="0" l="0" r="0" t="0"/>
          <a:stretch/>
        </p:blipFill>
        <p:spPr>
          <a:xfrm>
            <a:off x="0" y="956523"/>
            <a:ext cx="12192000" cy="5403180"/>
          </a:xfrm>
          <a:prstGeom prst="rect">
            <a:avLst/>
          </a:prstGeom>
          <a:noFill/>
          <a:ln>
            <a:noFill/>
          </a:ln>
        </p:spPr>
      </p:pic>
      <p:pic>
        <p:nvPicPr>
          <p:cNvPr id="680" name="Google Shape;680;p24"/>
          <p:cNvPicPr preferRelativeResize="0"/>
          <p:nvPr/>
        </p:nvPicPr>
        <p:blipFill rotWithShape="1">
          <a:blip r:embed="rId6">
            <a:alphaModFix/>
          </a:blip>
          <a:srcRect b="0" l="0" r="0" t="0"/>
          <a:stretch/>
        </p:blipFill>
        <p:spPr>
          <a:xfrm>
            <a:off x="0" y="1047678"/>
            <a:ext cx="12192000" cy="5301751"/>
          </a:xfrm>
          <a:prstGeom prst="rect">
            <a:avLst/>
          </a:prstGeom>
          <a:noFill/>
          <a:ln>
            <a:noFill/>
          </a:ln>
        </p:spPr>
      </p:pic>
      <p:pic>
        <p:nvPicPr>
          <p:cNvPr id="681" name="Google Shape;681;p24"/>
          <p:cNvPicPr preferRelativeResize="0"/>
          <p:nvPr/>
        </p:nvPicPr>
        <p:blipFill rotWithShape="1">
          <a:blip r:embed="rId7">
            <a:alphaModFix/>
          </a:blip>
          <a:srcRect b="0" l="0" r="0" t="0"/>
          <a:stretch/>
        </p:blipFill>
        <p:spPr>
          <a:xfrm>
            <a:off x="0" y="1078786"/>
            <a:ext cx="12192000" cy="52809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25"/>
          <p:cNvSpPr txBox="1"/>
          <p:nvPr>
            <p:ph type="title"/>
          </p:nvPr>
        </p:nvSpPr>
        <p:spPr>
          <a:xfrm>
            <a:off x="389466"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Padding</a:t>
            </a:r>
            <a:endParaRPr>
              <a:latin typeface="Bookman Old Style"/>
              <a:ea typeface="Bookman Old Style"/>
              <a:cs typeface="Bookman Old Style"/>
              <a:sym typeface="Bookman Old Style"/>
            </a:endParaRPr>
          </a:p>
        </p:txBody>
      </p:sp>
      <p:sp>
        <p:nvSpPr>
          <p:cNvPr id="687" name="Google Shape;687;p25"/>
          <p:cNvSpPr txBox="1"/>
          <p:nvPr>
            <p:ph idx="1" type="body"/>
          </p:nvPr>
        </p:nvSpPr>
        <p:spPr>
          <a:xfrm>
            <a:off x="389465" y="1825625"/>
            <a:ext cx="1146386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latin typeface="Bookman Old Style"/>
                <a:ea typeface="Bookman Old Style"/>
                <a:cs typeface="Bookman Old Style"/>
                <a:sym typeface="Bookman Old Style"/>
              </a:rPr>
              <a:t>Why Padding is required ?</a:t>
            </a:r>
            <a:endParaRPr/>
          </a:p>
          <a:p>
            <a:pPr indent="-228600" lvl="0" marL="228600" rtl="0" algn="just">
              <a:lnSpc>
                <a:spcPct val="90000"/>
              </a:lnSpc>
              <a:spcBef>
                <a:spcPts val="1000"/>
              </a:spcBef>
              <a:spcAft>
                <a:spcPts val="0"/>
              </a:spcAft>
              <a:buClr>
                <a:schemeClr val="dk1"/>
              </a:buClr>
              <a:buSzPts val="2600"/>
              <a:buFont typeface="Noto Sans Symbols"/>
              <a:buChar char="⮚"/>
            </a:pPr>
            <a:r>
              <a:rPr lang="en-IN" sz="2600">
                <a:latin typeface="Bookman Old Style"/>
                <a:ea typeface="Bookman Old Style"/>
                <a:cs typeface="Bookman Old Style"/>
                <a:sym typeface="Bookman Old Style"/>
              </a:rPr>
              <a:t> During convolution, the size of the output feature map is determined by the size of the input feature map, the size of the kernel, and the stride. </a:t>
            </a:r>
            <a:endParaRPr/>
          </a:p>
          <a:p>
            <a:pPr indent="-228600" lvl="0" marL="228600" rtl="0" algn="just">
              <a:lnSpc>
                <a:spcPct val="90000"/>
              </a:lnSpc>
              <a:spcBef>
                <a:spcPts val="1000"/>
              </a:spcBef>
              <a:spcAft>
                <a:spcPts val="0"/>
              </a:spcAft>
              <a:buClr>
                <a:schemeClr val="dk1"/>
              </a:buClr>
              <a:buSzPts val="2600"/>
              <a:buFont typeface="Noto Sans Symbols"/>
              <a:buChar char="⮚"/>
            </a:pPr>
            <a:r>
              <a:rPr lang="en-IN" sz="2600">
                <a:latin typeface="Bookman Old Style"/>
                <a:ea typeface="Bookman Old Style"/>
                <a:cs typeface="Bookman Old Style"/>
                <a:sym typeface="Bookman Old Style"/>
              </a:rPr>
              <a:t> If we simply apply the kernel on the input feature map, then the output feature map will be smaller than the input. </a:t>
            </a:r>
            <a:endParaRPr/>
          </a:p>
          <a:p>
            <a:pPr indent="-228600" lvl="0" marL="228600" rtl="0" algn="just">
              <a:lnSpc>
                <a:spcPct val="90000"/>
              </a:lnSpc>
              <a:spcBef>
                <a:spcPts val="1000"/>
              </a:spcBef>
              <a:spcAft>
                <a:spcPts val="0"/>
              </a:spcAft>
              <a:buClr>
                <a:schemeClr val="dk1"/>
              </a:buClr>
              <a:buSzPts val="2600"/>
              <a:buFont typeface="Noto Sans Symbols"/>
              <a:buChar char="⮚"/>
            </a:pPr>
            <a:r>
              <a:rPr lang="en-IN" sz="2600">
                <a:latin typeface="Bookman Old Style"/>
                <a:ea typeface="Bookman Old Style"/>
                <a:cs typeface="Bookman Old Style"/>
                <a:sym typeface="Bookman Old Style"/>
              </a:rPr>
              <a:t> This can result in the loss of information at the borders of the input feature map. In order to preserve the border information we use padding.</a:t>
            </a:r>
            <a:endParaRPr sz="2600">
              <a:latin typeface="Bookman Old Style"/>
              <a:ea typeface="Bookman Old Style"/>
              <a:cs typeface="Bookman Old Style"/>
              <a:sym typeface="Bookman Old Style"/>
            </a:endParaRPr>
          </a:p>
          <a:p>
            <a:pPr indent="0" lvl="0" marL="0" rtl="0" algn="l">
              <a:lnSpc>
                <a:spcPct val="90000"/>
              </a:lnSpc>
              <a:spcBef>
                <a:spcPts val="1000"/>
              </a:spcBef>
              <a:spcAft>
                <a:spcPts val="0"/>
              </a:spcAft>
              <a:buClr>
                <a:schemeClr val="dk1"/>
              </a:buClr>
              <a:buSzPts val="2800"/>
              <a:buNone/>
            </a:pPr>
            <a:r>
              <a:t/>
            </a:r>
            <a:endParaRPr/>
          </a:p>
        </p:txBody>
      </p:sp>
      <p:sp>
        <p:nvSpPr>
          <p:cNvPr id="688" name="Google Shape;68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689" name="Google Shape;68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690" name="Google Shape;69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pSp>
        <p:nvGrpSpPr>
          <p:cNvPr id="691" name="Google Shape;691;p25"/>
          <p:cNvGrpSpPr/>
          <p:nvPr/>
        </p:nvGrpSpPr>
        <p:grpSpPr>
          <a:xfrm>
            <a:off x="4559299" y="136526"/>
            <a:ext cx="7632701" cy="2013859"/>
            <a:chOff x="838199" y="3028395"/>
            <a:chExt cx="7690598" cy="2689262"/>
          </a:xfrm>
        </p:grpSpPr>
        <p:grpSp>
          <p:nvGrpSpPr>
            <p:cNvPr id="692" name="Google Shape;692;p25"/>
            <p:cNvGrpSpPr/>
            <p:nvPr/>
          </p:nvGrpSpPr>
          <p:grpSpPr>
            <a:xfrm>
              <a:off x="838199" y="3028395"/>
              <a:ext cx="7690598" cy="2330248"/>
              <a:chOff x="912204" y="3273928"/>
              <a:chExt cx="7690598" cy="2330248"/>
            </a:xfrm>
          </p:grpSpPr>
          <p:pic>
            <p:nvPicPr>
              <p:cNvPr id="693" name="Google Shape;693;p25"/>
              <p:cNvPicPr preferRelativeResize="0"/>
              <p:nvPr/>
            </p:nvPicPr>
            <p:blipFill rotWithShape="1">
              <a:blip r:embed="rId3">
                <a:alphaModFix/>
              </a:blip>
              <a:srcRect b="42525" l="-1" r="5689" t="0"/>
              <a:stretch/>
            </p:blipFill>
            <p:spPr>
              <a:xfrm>
                <a:off x="912204" y="3273928"/>
                <a:ext cx="7690598" cy="2288672"/>
              </a:xfrm>
              <a:prstGeom prst="rect">
                <a:avLst/>
              </a:prstGeom>
              <a:noFill/>
              <a:ln>
                <a:noFill/>
              </a:ln>
            </p:spPr>
          </p:pic>
          <p:pic>
            <p:nvPicPr>
              <p:cNvPr id="694" name="Google Shape;694;p25"/>
              <p:cNvPicPr preferRelativeResize="0"/>
              <p:nvPr/>
            </p:nvPicPr>
            <p:blipFill rotWithShape="1">
              <a:blip r:embed="rId4">
                <a:alphaModFix/>
              </a:blip>
              <a:srcRect b="0" l="0" r="0" t="0"/>
              <a:stretch/>
            </p:blipFill>
            <p:spPr>
              <a:xfrm>
                <a:off x="4316014" y="5072965"/>
                <a:ext cx="1205441" cy="531211"/>
              </a:xfrm>
              <a:prstGeom prst="rect">
                <a:avLst/>
              </a:prstGeom>
              <a:noFill/>
              <a:ln>
                <a:noFill/>
              </a:ln>
            </p:spPr>
          </p:pic>
        </p:grpSp>
        <p:sp>
          <p:nvSpPr>
            <p:cNvPr id="695" name="Google Shape;695;p25"/>
            <p:cNvSpPr txBox="1"/>
            <p:nvPr/>
          </p:nvSpPr>
          <p:spPr>
            <a:xfrm>
              <a:off x="1134533" y="5348325"/>
              <a:ext cx="17187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C00000"/>
                  </a:solidFill>
                  <a:latin typeface="Bookman Old Style"/>
                  <a:ea typeface="Bookman Old Style"/>
                  <a:cs typeface="Bookman Old Style"/>
                  <a:sym typeface="Bookman Old Style"/>
                </a:rPr>
                <a:t>6 × 6 ( n × n)</a:t>
              </a:r>
              <a:endParaRPr b="1" sz="1800">
                <a:solidFill>
                  <a:srgbClr val="C00000"/>
                </a:solidFill>
                <a:latin typeface="Bookman Old Style"/>
                <a:ea typeface="Bookman Old Style"/>
                <a:cs typeface="Bookman Old Style"/>
                <a:sym typeface="Bookman Old Style"/>
              </a:endParaRPr>
            </a:p>
          </p:txBody>
        </p:sp>
        <p:sp>
          <p:nvSpPr>
            <p:cNvPr id="696" name="Google Shape;696;p25"/>
            <p:cNvSpPr txBox="1"/>
            <p:nvPr/>
          </p:nvSpPr>
          <p:spPr>
            <a:xfrm>
              <a:off x="4038600" y="4778699"/>
              <a:ext cx="17187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3 × 3 ( f × f)</a:t>
              </a:r>
              <a:endParaRPr b="1" sz="1800">
                <a:solidFill>
                  <a:srgbClr val="7030A0"/>
                </a:solidFill>
                <a:latin typeface="Bookman Old Style"/>
                <a:ea typeface="Bookman Old Style"/>
                <a:cs typeface="Bookman Old Style"/>
                <a:sym typeface="Bookman Old Style"/>
              </a:endParaRPr>
            </a:p>
          </p:txBody>
        </p:sp>
        <p:pic>
          <p:nvPicPr>
            <p:cNvPr id="697" name="Google Shape;697;p25"/>
            <p:cNvPicPr preferRelativeResize="0"/>
            <p:nvPr/>
          </p:nvPicPr>
          <p:blipFill rotWithShape="1">
            <a:blip r:embed="rId3">
              <a:alphaModFix/>
            </a:blip>
            <a:srcRect b="52332" l="6256" r="75989" t="11947"/>
            <a:stretch/>
          </p:blipFill>
          <p:spPr>
            <a:xfrm>
              <a:off x="6705600" y="3540964"/>
              <a:ext cx="1447800" cy="1422401"/>
            </a:xfrm>
            <a:prstGeom prst="rect">
              <a:avLst/>
            </a:prstGeom>
            <a:noFill/>
            <a:ln>
              <a:noFill/>
            </a:ln>
          </p:spPr>
        </p:pic>
        <p:sp>
          <p:nvSpPr>
            <p:cNvPr id="698" name="Google Shape;698;p25"/>
            <p:cNvSpPr txBox="1"/>
            <p:nvPr/>
          </p:nvSpPr>
          <p:spPr>
            <a:xfrm>
              <a:off x="6964613" y="4999534"/>
              <a:ext cx="12054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C000"/>
                  </a:solidFill>
                  <a:latin typeface="Bookman Old Style"/>
                  <a:ea typeface="Bookman Old Style"/>
                  <a:cs typeface="Bookman Old Style"/>
                  <a:sym typeface="Bookman Old Style"/>
                </a:rPr>
                <a:t>4 × 4</a:t>
              </a:r>
              <a:endParaRPr b="1" sz="1800">
                <a:solidFill>
                  <a:srgbClr val="FFC000"/>
                </a:solidFill>
                <a:latin typeface="Bookman Old Style"/>
                <a:ea typeface="Bookman Old Style"/>
                <a:cs typeface="Bookman Old Style"/>
                <a:sym typeface="Bookman Old Style"/>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26"/>
          <p:cNvSpPr txBox="1"/>
          <p:nvPr>
            <p:ph type="title"/>
          </p:nvPr>
        </p:nvSpPr>
        <p:spPr>
          <a:xfrm>
            <a:off x="389466"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Padding</a:t>
            </a:r>
            <a:endParaRPr>
              <a:latin typeface="Bookman Old Style"/>
              <a:ea typeface="Bookman Old Style"/>
              <a:cs typeface="Bookman Old Style"/>
              <a:sym typeface="Bookman Old Style"/>
            </a:endParaRPr>
          </a:p>
        </p:txBody>
      </p:sp>
      <p:sp>
        <p:nvSpPr>
          <p:cNvPr id="704" name="Google Shape;70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05" name="Google Shape;70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06" name="Google Shape;70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descr="A grid with black lines&#10;&#10;AI-generated content may be incorrect." id="707" name="Google Shape;707;p26"/>
          <p:cNvPicPr preferRelativeResize="0"/>
          <p:nvPr>
            <p:ph idx="1" type="body"/>
          </p:nvPr>
        </p:nvPicPr>
        <p:blipFill rotWithShape="1">
          <a:blip r:embed="rId3">
            <a:alphaModFix/>
          </a:blip>
          <a:srcRect b="0" l="0" r="0" t="0"/>
          <a:stretch/>
        </p:blipFill>
        <p:spPr>
          <a:xfrm>
            <a:off x="574362" y="2028894"/>
            <a:ext cx="3312548" cy="2924106"/>
          </a:xfrm>
          <a:prstGeom prst="rect">
            <a:avLst/>
          </a:prstGeom>
          <a:noFill/>
          <a:ln>
            <a:noFill/>
          </a:ln>
        </p:spPr>
      </p:pic>
      <p:sp>
        <p:nvSpPr>
          <p:cNvPr id="708" name="Google Shape;708;p26"/>
          <p:cNvSpPr txBox="1"/>
          <p:nvPr/>
        </p:nvSpPr>
        <p:spPr>
          <a:xfrm>
            <a:off x="1134533" y="5348325"/>
            <a:ext cx="2311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C00000"/>
                </a:solidFill>
                <a:latin typeface="Bookman Old Style"/>
                <a:ea typeface="Bookman Old Style"/>
                <a:cs typeface="Bookman Old Style"/>
                <a:sym typeface="Bookman Old Style"/>
              </a:rPr>
              <a:t>6 × 6 -&gt; ( 8 × 8)</a:t>
            </a:r>
            <a:endParaRPr b="1" sz="1800">
              <a:solidFill>
                <a:srgbClr val="C00000"/>
              </a:solidFill>
              <a:latin typeface="Bookman Old Style"/>
              <a:ea typeface="Bookman Old Style"/>
              <a:cs typeface="Bookman Old Style"/>
              <a:sym typeface="Bookman Old Style"/>
            </a:endParaRPr>
          </a:p>
        </p:txBody>
      </p:sp>
      <p:pic>
        <p:nvPicPr>
          <p:cNvPr id="709" name="Google Shape;709;p26"/>
          <p:cNvPicPr preferRelativeResize="0"/>
          <p:nvPr/>
        </p:nvPicPr>
        <p:blipFill rotWithShape="1">
          <a:blip r:embed="rId4">
            <a:alphaModFix/>
          </a:blip>
          <a:srcRect b="0" l="0" r="0" t="0"/>
          <a:stretch/>
        </p:blipFill>
        <p:spPr>
          <a:xfrm>
            <a:off x="4187097" y="2612750"/>
            <a:ext cx="2141406" cy="1463167"/>
          </a:xfrm>
          <a:prstGeom prst="rect">
            <a:avLst/>
          </a:prstGeom>
          <a:noFill/>
          <a:ln>
            <a:noFill/>
          </a:ln>
        </p:spPr>
      </p:pic>
      <p:sp>
        <p:nvSpPr>
          <p:cNvPr id="710" name="Google Shape;710;p26"/>
          <p:cNvSpPr txBox="1"/>
          <p:nvPr/>
        </p:nvSpPr>
        <p:spPr>
          <a:xfrm>
            <a:off x="4787899" y="4202966"/>
            <a:ext cx="17187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3 × 3 ( f × f)</a:t>
            </a:r>
            <a:endParaRPr b="1" sz="1800">
              <a:solidFill>
                <a:srgbClr val="7030A0"/>
              </a:solidFill>
              <a:latin typeface="Bookman Old Style"/>
              <a:ea typeface="Bookman Old Style"/>
              <a:cs typeface="Bookman Old Style"/>
              <a:sym typeface="Bookman Old Style"/>
            </a:endParaRPr>
          </a:p>
        </p:txBody>
      </p:sp>
      <p:grpSp>
        <p:nvGrpSpPr>
          <p:cNvPr id="711" name="Google Shape;711;p26"/>
          <p:cNvGrpSpPr/>
          <p:nvPr/>
        </p:nvGrpSpPr>
        <p:grpSpPr>
          <a:xfrm>
            <a:off x="6506632" y="1923080"/>
            <a:ext cx="4084674" cy="2842506"/>
            <a:chOff x="6506632" y="1923080"/>
            <a:chExt cx="4084674" cy="2842506"/>
          </a:xfrm>
        </p:grpSpPr>
        <p:pic>
          <p:nvPicPr>
            <p:cNvPr id="712" name="Google Shape;712;p26"/>
            <p:cNvPicPr preferRelativeResize="0"/>
            <p:nvPr/>
          </p:nvPicPr>
          <p:blipFill rotWithShape="1">
            <a:blip r:embed="rId5">
              <a:alphaModFix/>
            </a:blip>
            <a:srcRect b="0" l="0" r="0" t="0"/>
            <a:stretch/>
          </p:blipFill>
          <p:spPr>
            <a:xfrm>
              <a:off x="6506632" y="1923080"/>
              <a:ext cx="4084674" cy="2842506"/>
            </a:xfrm>
            <a:prstGeom prst="rect">
              <a:avLst/>
            </a:prstGeom>
            <a:noFill/>
            <a:ln>
              <a:noFill/>
            </a:ln>
          </p:spPr>
        </p:pic>
        <p:pic>
          <p:nvPicPr>
            <p:cNvPr id="713" name="Google Shape;713;p26"/>
            <p:cNvPicPr preferRelativeResize="0"/>
            <p:nvPr/>
          </p:nvPicPr>
          <p:blipFill rotWithShape="1">
            <a:blip r:embed="rId6">
              <a:alphaModFix/>
            </a:blip>
            <a:srcRect b="0" l="0" r="0" t="0"/>
            <a:stretch/>
          </p:blipFill>
          <p:spPr>
            <a:xfrm>
              <a:off x="7890933" y="2085446"/>
              <a:ext cx="1406975" cy="1389711"/>
            </a:xfrm>
            <a:prstGeom prst="rect">
              <a:avLst/>
            </a:prstGeom>
            <a:noFill/>
            <a:ln>
              <a:noFill/>
            </a:ln>
          </p:spPr>
        </p:pic>
      </p:grpSp>
      <p:sp>
        <p:nvSpPr>
          <p:cNvPr id="714" name="Google Shape;714;p26"/>
          <p:cNvSpPr txBox="1"/>
          <p:nvPr/>
        </p:nvSpPr>
        <p:spPr>
          <a:xfrm>
            <a:off x="8873392" y="4856802"/>
            <a:ext cx="8490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C00000"/>
                </a:solidFill>
                <a:latin typeface="Bookman Old Style"/>
                <a:ea typeface="Bookman Old Style"/>
                <a:cs typeface="Bookman Old Style"/>
                <a:sym typeface="Bookman Old Style"/>
              </a:rPr>
              <a:t>6 × 6 </a:t>
            </a:r>
            <a:endParaRPr b="1" sz="1800">
              <a:solidFill>
                <a:srgbClr val="C00000"/>
              </a:solidFill>
              <a:latin typeface="Bookman Old Style"/>
              <a:ea typeface="Bookman Old Style"/>
              <a:cs typeface="Bookman Old Style"/>
              <a:sym typeface="Bookman Old Style"/>
            </a:endParaRPr>
          </a:p>
        </p:txBody>
      </p:sp>
      <p:sp>
        <p:nvSpPr>
          <p:cNvPr id="715" name="Google Shape;715;p26"/>
          <p:cNvSpPr txBox="1"/>
          <p:nvPr/>
        </p:nvSpPr>
        <p:spPr>
          <a:xfrm>
            <a:off x="5486400" y="320675"/>
            <a:ext cx="510490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p = 1</a:t>
            </a:r>
            <a:endParaRPr/>
          </a:p>
          <a:p>
            <a:pPr indent="0" lvl="0" marL="0" marR="0" rtl="0" algn="l">
              <a:spcBef>
                <a:spcPts val="0"/>
              </a:spcBef>
              <a:spcAft>
                <a:spcPts val="0"/>
              </a:spcAft>
              <a:buNone/>
            </a:pPr>
            <a:r>
              <a:t/>
            </a:r>
            <a:endParaRPr sz="1800">
              <a:solidFill>
                <a:schemeClr val="dk1"/>
              </a:solidFill>
              <a:latin typeface="Bookman Old Style"/>
              <a:ea typeface="Bookman Old Style"/>
              <a:cs typeface="Bookman Old Style"/>
              <a:sym typeface="Bookman Old Style"/>
            </a:endParaRPr>
          </a:p>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n+2p–f+1 × n+2p–f+1</a:t>
            </a:r>
            <a:endParaRPr/>
          </a:p>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 6 + 2 – 3 + 1 × 6 + 2 – 3 + 1</a:t>
            </a:r>
            <a:endParaRPr/>
          </a:p>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 6 × 6</a:t>
            </a:r>
            <a:endParaRPr b="1" sz="1800">
              <a:solidFill>
                <a:srgbClr val="7030A0"/>
              </a:solidFill>
              <a:latin typeface="Bookman Old Style"/>
              <a:ea typeface="Bookman Old Style"/>
              <a:cs typeface="Bookman Old Style"/>
              <a:sym typeface="Bookman Old Style"/>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27"/>
          <p:cNvSpPr txBox="1"/>
          <p:nvPr>
            <p:ph type="title"/>
          </p:nvPr>
        </p:nvSpPr>
        <p:spPr>
          <a:xfrm>
            <a:off x="321734" y="41036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Valid and Same convolutions</a:t>
            </a:r>
            <a:endParaRPr/>
          </a:p>
        </p:txBody>
      </p:sp>
      <p:sp>
        <p:nvSpPr>
          <p:cNvPr id="721" name="Google Shape;721;p27"/>
          <p:cNvSpPr txBox="1"/>
          <p:nvPr>
            <p:ph idx="1" type="body"/>
          </p:nvPr>
        </p:nvSpPr>
        <p:spPr>
          <a:xfrm>
            <a:off x="321734" y="1735931"/>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IN">
                <a:latin typeface="Bookman Old Style"/>
                <a:ea typeface="Bookman Old Style"/>
                <a:cs typeface="Bookman Old Style"/>
                <a:sym typeface="Bookman Old Style"/>
              </a:rPr>
              <a:t>Valid: No padding</a:t>
            </a:r>
            <a:endParaRPr/>
          </a:p>
          <a:p>
            <a:pPr indent="0" lvl="0" marL="0" rtl="0" algn="l">
              <a:lnSpc>
                <a:spcPct val="90000"/>
              </a:lnSpc>
              <a:spcBef>
                <a:spcPts val="1000"/>
              </a:spcBef>
              <a:spcAft>
                <a:spcPts val="0"/>
              </a:spcAft>
              <a:buClr>
                <a:schemeClr val="dk1"/>
              </a:buClr>
              <a:buSzPts val="2800"/>
              <a:buNone/>
            </a:pPr>
            <a:r>
              <a:t/>
            </a:r>
            <a:endParaRPr>
              <a:latin typeface="Bookman Old Style"/>
              <a:ea typeface="Bookman Old Style"/>
              <a:cs typeface="Bookman Old Style"/>
              <a:sym typeface="Bookman Old Style"/>
            </a:endParaRPr>
          </a:p>
          <a:p>
            <a:pPr indent="0" lvl="0" marL="0" rtl="0" algn="l">
              <a:lnSpc>
                <a:spcPct val="90000"/>
              </a:lnSpc>
              <a:spcBef>
                <a:spcPts val="1000"/>
              </a:spcBef>
              <a:spcAft>
                <a:spcPts val="0"/>
              </a:spcAft>
              <a:buClr>
                <a:schemeClr val="dk1"/>
              </a:buClr>
              <a:buSzPts val="2800"/>
              <a:buNone/>
            </a:pPr>
            <a:r>
              <a:t/>
            </a:r>
            <a:endParaRPr>
              <a:latin typeface="Bookman Old Style"/>
              <a:ea typeface="Bookman Old Style"/>
              <a:cs typeface="Bookman Old Style"/>
              <a:sym typeface="Bookman Old Style"/>
            </a:endParaRPr>
          </a:p>
          <a:p>
            <a:pPr indent="0" lvl="0" marL="0" rtl="0" algn="l">
              <a:lnSpc>
                <a:spcPct val="90000"/>
              </a:lnSpc>
              <a:spcBef>
                <a:spcPts val="1000"/>
              </a:spcBef>
              <a:spcAft>
                <a:spcPts val="0"/>
              </a:spcAft>
              <a:buClr>
                <a:schemeClr val="dk1"/>
              </a:buClr>
              <a:buSzPts val="2800"/>
              <a:buNone/>
            </a:pPr>
            <a:r>
              <a:rPr lang="en-IN">
                <a:latin typeface="Bookman Old Style"/>
                <a:ea typeface="Bookman Old Style"/>
                <a:cs typeface="Bookman Old Style"/>
                <a:sym typeface="Bookman Old Style"/>
              </a:rPr>
              <a:t>Same: Pad so that output size is the same as the input size </a:t>
            </a:r>
            <a:endParaRPr/>
          </a:p>
        </p:txBody>
      </p:sp>
      <p:sp>
        <p:nvSpPr>
          <p:cNvPr id="722" name="Google Shape;72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23" name="Google Shape;72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24" name="Google Shape;72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725" name="Google Shape;725;p27"/>
          <p:cNvSpPr txBox="1"/>
          <p:nvPr/>
        </p:nvSpPr>
        <p:spPr>
          <a:xfrm>
            <a:off x="533400" y="2380984"/>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7030A0"/>
                </a:solidFill>
                <a:latin typeface="Bookman Old Style"/>
                <a:ea typeface="Bookman Old Style"/>
                <a:cs typeface="Bookman Old Style"/>
                <a:sym typeface="Bookman Old Style"/>
              </a:rPr>
              <a:t>n – f + 1 × n – f + 1</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28"/>
          <p:cNvSpPr txBox="1"/>
          <p:nvPr>
            <p:ph type="title"/>
          </p:nvPr>
        </p:nvSpPr>
        <p:spPr>
          <a:xfrm>
            <a:off x="431800" y="41504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Stride</a:t>
            </a:r>
            <a:endParaRPr>
              <a:latin typeface="Bookman Old Style"/>
              <a:ea typeface="Bookman Old Style"/>
              <a:cs typeface="Bookman Old Style"/>
              <a:sym typeface="Bookman Old Style"/>
            </a:endParaRPr>
          </a:p>
        </p:txBody>
      </p:sp>
      <p:pic>
        <p:nvPicPr>
          <p:cNvPr descr="A screenshot of a grid&#10;&#10;AI-generated content may be incorrect." id="732" name="Google Shape;732;p28"/>
          <p:cNvPicPr preferRelativeResize="0"/>
          <p:nvPr>
            <p:ph idx="1" type="body"/>
          </p:nvPr>
        </p:nvPicPr>
        <p:blipFill rotWithShape="1">
          <a:blip r:embed="rId3">
            <a:alphaModFix/>
          </a:blip>
          <a:srcRect b="0" l="0" r="0" t="0"/>
          <a:stretch/>
        </p:blipFill>
        <p:spPr>
          <a:xfrm>
            <a:off x="109070" y="1544548"/>
            <a:ext cx="6463764" cy="2568095"/>
          </a:xfrm>
          <a:prstGeom prst="rect">
            <a:avLst/>
          </a:prstGeom>
          <a:noFill/>
          <a:ln>
            <a:noFill/>
          </a:ln>
        </p:spPr>
      </p:pic>
      <p:sp>
        <p:nvSpPr>
          <p:cNvPr id="733" name="Google Shape;73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34" name="Google Shape;73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35" name="Google Shape;73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36" name="Google Shape;736;p28"/>
          <p:cNvPicPr preferRelativeResize="0"/>
          <p:nvPr/>
        </p:nvPicPr>
        <p:blipFill rotWithShape="1">
          <a:blip r:embed="rId4">
            <a:alphaModFix/>
          </a:blip>
          <a:srcRect b="25932" l="0" r="12252" t="13210"/>
          <a:stretch/>
        </p:blipFill>
        <p:spPr>
          <a:xfrm>
            <a:off x="6096000" y="736839"/>
            <a:ext cx="5950857" cy="2322512"/>
          </a:xfrm>
          <a:prstGeom prst="rect">
            <a:avLst/>
          </a:prstGeom>
          <a:noFill/>
          <a:ln>
            <a:noFill/>
          </a:ln>
        </p:spPr>
      </p:pic>
      <p:pic>
        <p:nvPicPr>
          <p:cNvPr id="737" name="Google Shape;737;p28"/>
          <p:cNvPicPr preferRelativeResize="0"/>
          <p:nvPr/>
        </p:nvPicPr>
        <p:blipFill rotWithShape="1">
          <a:blip r:embed="rId5">
            <a:alphaModFix/>
          </a:blip>
          <a:srcRect b="9403" l="2396" r="3607" t="10916"/>
          <a:stretch/>
        </p:blipFill>
        <p:spPr>
          <a:xfrm>
            <a:off x="6256866" y="857823"/>
            <a:ext cx="5935134" cy="2409157"/>
          </a:xfrm>
          <a:prstGeom prst="rect">
            <a:avLst/>
          </a:prstGeom>
          <a:noFill/>
          <a:ln>
            <a:noFill/>
          </a:ln>
        </p:spPr>
      </p:pic>
      <p:pic>
        <p:nvPicPr>
          <p:cNvPr id="738" name="Google Shape;738;p28"/>
          <p:cNvPicPr preferRelativeResize="0"/>
          <p:nvPr/>
        </p:nvPicPr>
        <p:blipFill rotWithShape="1">
          <a:blip r:embed="rId6">
            <a:alphaModFix/>
          </a:blip>
          <a:srcRect b="18981" l="2966" r="7109" t="12916"/>
          <a:stretch/>
        </p:blipFill>
        <p:spPr>
          <a:xfrm>
            <a:off x="6256866" y="857823"/>
            <a:ext cx="5872262" cy="2409157"/>
          </a:xfrm>
          <a:prstGeom prst="rect">
            <a:avLst/>
          </a:prstGeom>
          <a:noFill/>
          <a:ln>
            <a:noFill/>
          </a:ln>
        </p:spPr>
      </p:pic>
      <p:pic>
        <p:nvPicPr>
          <p:cNvPr id="739" name="Google Shape;739;p28"/>
          <p:cNvPicPr preferRelativeResize="0"/>
          <p:nvPr/>
        </p:nvPicPr>
        <p:blipFill rotWithShape="1">
          <a:blip r:embed="rId7">
            <a:alphaModFix/>
          </a:blip>
          <a:srcRect b="7598" l="1482" r="2289" t="13559"/>
          <a:stretch/>
        </p:blipFill>
        <p:spPr>
          <a:xfrm>
            <a:off x="6173052" y="815516"/>
            <a:ext cx="5935133" cy="2372891"/>
          </a:xfrm>
          <a:prstGeom prst="rect">
            <a:avLst/>
          </a:prstGeom>
          <a:noFill/>
          <a:ln>
            <a:noFill/>
          </a:ln>
        </p:spPr>
      </p:pic>
      <p:pic>
        <p:nvPicPr>
          <p:cNvPr id="740" name="Google Shape;740;p28"/>
          <p:cNvPicPr preferRelativeResize="0"/>
          <p:nvPr/>
        </p:nvPicPr>
        <p:blipFill rotWithShape="1">
          <a:blip r:embed="rId8">
            <a:alphaModFix/>
          </a:blip>
          <a:srcRect b="17922" l="2362" r="5230" t="10649"/>
          <a:stretch/>
        </p:blipFill>
        <p:spPr>
          <a:xfrm>
            <a:off x="6096000" y="788437"/>
            <a:ext cx="6027909" cy="2523655"/>
          </a:xfrm>
          <a:prstGeom prst="rect">
            <a:avLst/>
          </a:prstGeom>
          <a:noFill/>
          <a:ln>
            <a:noFill/>
          </a:ln>
        </p:spPr>
      </p:pic>
      <p:sp>
        <p:nvSpPr>
          <p:cNvPr id="741" name="Google Shape;741;p28"/>
          <p:cNvSpPr txBox="1"/>
          <p:nvPr/>
        </p:nvSpPr>
        <p:spPr>
          <a:xfrm>
            <a:off x="6316133" y="3492172"/>
            <a:ext cx="5384800" cy="2200602"/>
          </a:xfrm>
          <a:prstGeom prst="rect">
            <a:avLst/>
          </a:prstGeom>
          <a:blipFill rotWithShape="1">
            <a:blip r:embed="rId9">
              <a:alphaModFix/>
            </a:blip>
            <a:stretch>
              <a:fillRect b="-829" l="-904" r="0" t="-138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742" name="Google Shape;742;p28"/>
          <p:cNvSpPr txBox="1"/>
          <p:nvPr/>
        </p:nvSpPr>
        <p:spPr>
          <a:xfrm>
            <a:off x="6366753" y="5874170"/>
            <a:ext cx="3073579" cy="504818"/>
          </a:xfrm>
          <a:prstGeom prst="rect">
            <a:avLst/>
          </a:prstGeom>
          <a:blipFill rotWithShape="1">
            <a:blip r:embed="rId10">
              <a:alphaModFix/>
            </a:blip>
            <a:stretch>
              <a:fillRect b="-731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743" name="Google Shape;743;p28"/>
          <p:cNvSpPr txBox="1"/>
          <p:nvPr/>
        </p:nvSpPr>
        <p:spPr>
          <a:xfrm>
            <a:off x="8690251" y="320013"/>
            <a:ext cx="3395132" cy="1164934"/>
          </a:xfrm>
          <a:prstGeom prst="rect">
            <a:avLst/>
          </a:prstGeom>
          <a:blipFill rotWithShape="1">
            <a:blip r:embed="rId11">
              <a:alphaModFix/>
            </a:blip>
            <a:stretch>
              <a:fillRect b="-676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29"/>
          <p:cNvSpPr txBox="1"/>
          <p:nvPr>
            <p:ph type="title"/>
          </p:nvPr>
        </p:nvSpPr>
        <p:spPr>
          <a:xfrm>
            <a:off x="372534"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Convolutions on RGB images</a:t>
            </a:r>
            <a:endParaRPr/>
          </a:p>
        </p:txBody>
      </p:sp>
      <p:sp>
        <p:nvSpPr>
          <p:cNvPr id="749" name="Google Shape;74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50" name="Google Shape;75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51" name="Google Shape;75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52" name="Google Shape;752;p29"/>
          <p:cNvPicPr preferRelativeResize="0"/>
          <p:nvPr/>
        </p:nvPicPr>
        <p:blipFill rotWithShape="1">
          <a:blip r:embed="rId3">
            <a:alphaModFix/>
          </a:blip>
          <a:srcRect b="0" l="0" r="0" t="0"/>
          <a:stretch/>
        </p:blipFill>
        <p:spPr>
          <a:xfrm>
            <a:off x="716903" y="1646238"/>
            <a:ext cx="10049934" cy="420668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30"/>
          <p:cNvSpPr txBox="1"/>
          <p:nvPr>
            <p:ph type="title"/>
          </p:nvPr>
        </p:nvSpPr>
        <p:spPr>
          <a:xfrm>
            <a:off x="372534"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Convolutions on RGB images</a:t>
            </a:r>
            <a:endParaRPr/>
          </a:p>
        </p:txBody>
      </p:sp>
      <p:pic>
        <p:nvPicPr>
          <p:cNvPr id="758" name="Google Shape;758;p30"/>
          <p:cNvPicPr preferRelativeResize="0"/>
          <p:nvPr>
            <p:ph idx="1" type="body"/>
          </p:nvPr>
        </p:nvPicPr>
        <p:blipFill rotWithShape="1">
          <a:blip r:embed="rId3">
            <a:alphaModFix/>
          </a:blip>
          <a:srcRect b="0" l="0" r="0" t="0"/>
          <a:stretch/>
        </p:blipFill>
        <p:spPr>
          <a:xfrm>
            <a:off x="660918" y="2025327"/>
            <a:ext cx="10515600" cy="3522725"/>
          </a:xfrm>
          <a:prstGeom prst="rect">
            <a:avLst/>
          </a:prstGeom>
          <a:noFill/>
          <a:ln>
            <a:noFill/>
          </a:ln>
        </p:spPr>
      </p:pic>
      <p:sp>
        <p:nvSpPr>
          <p:cNvPr id="759" name="Google Shape;7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60" name="Google Shape;7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61" name="Google Shape;7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1"/>
          <p:cNvSpPr txBox="1"/>
          <p:nvPr>
            <p:ph type="title"/>
          </p:nvPr>
        </p:nvSpPr>
        <p:spPr>
          <a:xfrm>
            <a:off x="372534"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Convolutions on RGB images</a:t>
            </a:r>
            <a:endParaRPr/>
          </a:p>
        </p:txBody>
      </p:sp>
      <p:sp>
        <p:nvSpPr>
          <p:cNvPr id="767" name="Google Shape;76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68" name="Google Shape;76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69" name="Google Shape;76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70" name="Google Shape;770;p31"/>
          <p:cNvPicPr preferRelativeResize="0"/>
          <p:nvPr>
            <p:ph idx="1" type="body"/>
          </p:nvPr>
        </p:nvPicPr>
        <p:blipFill rotWithShape="1">
          <a:blip r:embed="rId3">
            <a:alphaModFix/>
          </a:blip>
          <a:srcRect b="0" l="0" r="0" t="0"/>
          <a:stretch/>
        </p:blipFill>
        <p:spPr>
          <a:xfrm>
            <a:off x="727884" y="1461731"/>
            <a:ext cx="8944753" cy="4351338"/>
          </a:xfrm>
          <a:prstGeom prst="rect">
            <a:avLst/>
          </a:prstGeom>
          <a:noFill/>
          <a:ln>
            <a:noFill/>
          </a:ln>
        </p:spPr>
      </p:pic>
      <p:pic>
        <p:nvPicPr>
          <p:cNvPr id="771" name="Google Shape;771;p31"/>
          <p:cNvPicPr preferRelativeResize="0"/>
          <p:nvPr/>
        </p:nvPicPr>
        <p:blipFill rotWithShape="1">
          <a:blip r:embed="rId4">
            <a:alphaModFix/>
          </a:blip>
          <a:srcRect b="0" l="0" r="0" t="0"/>
          <a:stretch/>
        </p:blipFill>
        <p:spPr>
          <a:xfrm>
            <a:off x="522568" y="2731308"/>
            <a:ext cx="2909417" cy="2678206"/>
          </a:xfrm>
          <a:prstGeom prst="rect">
            <a:avLst/>
          </a:prstGeom>
          <a:noFill/>
          <a:ln>
            <a:noFill/>
          </a:ln>
        </p:spPr>
      </p:pic>
      <p:sp>
        <p:nvSpPr>
          <p:cNvPr id="772" name="Google Shape;772;p31"/>
          <p:cNvSpPr/>
          <p:nvPr/>
        </p:nvSpPr>
        <p:spPr>
          <a:xfrm>
            <a:off x="8332237" y="3303037"/>
            <a:ext cx="111967" cy="111967"/>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73" name="Google Shape;773;p31"/>
          <p:cNvPicPr preferRelativeResize="0"/>
          <p:nvPr/>
        </p:nvPicPr>
        <p:blipFill rotWithShape="1">
          <a:blip r:embed="rId5">
            <a:alphaModFix/>
          </a:blip>
          <a:srcRect b="0" l="0" r="0" t="0"/>
          <a:stretch/>
        </p:blipFill>
        <p:spPr>
          <a:xfrm>
            <a:off x="462045" y="2731308"/>
            <a:ext cx="3046265" cy="2753354"/>
          </a:xfrm>
          <a:prstGeom prst="rect">
            <a:avLst/>
          </a:prstGeom>
          <a:noFill/>
          <a:ln>
            <a:noFill/>
          </a:ln>
        </p:spPr>
      </p:pic>
      <p:sp>
        <p:nvSpPr>
          <p:cNvPr id="774" name="Google Shape;774;p31"/>
          <p:cNvSpPr/>
          <p:nvPr/>
        </p:nvSpPr>
        <p:spPr>
          <a:xfrm>
            <a:off x="8671247" y="3306141"/>
            <a:ext cx="111967" cy="111967"/>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75" name="Google Shape;775;p31"/>
          <p:cNvPicPr preferRelativeResize="0"/>
          <p:nvPr/>
        </p:nvPicPr>
        <p:blipFill rotWithShape="1">
          <a:blip r:embed="rId6">
            <a:alphaModFix/>
          </a:blip>
          <a:srcRect b="0" l="0" r="0" t="0"/>
          <a:stretch/>
        </p:blipFill>
        <p:spPr>
          <a:xfrm>
            <a:off x="522568" y="2731307"/>
            <a:ext cx="2945413" cy="2730847"/>
          </a:xfrm>
          <a:prstGeom prst="rect">
            <a:avLst/>
          </a:prstGeom>
          <a:noFill/>
          <a:ln>
            <a:noFill/>
          </a:ln>
        </p:spPr>
      </p:pic>
      <p:sp>
        <p:nvSpPr>
          <p:cNvPr id="776" name="Google Shape;776;p31"/>
          <p:cNvSpPr/>
          <p:nvPr/>
        </p:nvSpPr>
        <p:spPr>
          <a:xfrm>
            <a:off x="9047585" y="3299918"/>
            <a:ext cx="111967" cy="111967"/>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77" name="Google Shape;777;p31"/>
          <p:cNvPicPr preferRelativeResize="0"/>
          <p:nvPr/>
        </p:nvPicPr>
        <p:blipFill rotWithShape="1">
          <a:blip r:embed="rId7">
            <a:alphaModFix/>
          </a:blip>
          <a:srcRect b="0" l="0" r="0" t="0"/>
          <a:stretch/>
        </p:blipFill>
        <p:spPr>
          <a:xfrm>
            <a:off x="372534" y="2700631"/>
            <a:ext cx="3059451" cy="2844753"/>
          </a:xfrm>
          <a:prstGeom prst="rect">
            <a:avLst/>
          </a:prstGeom>
          <a:noFill/>
          <a:ln>
            <a:noFill/>
          </a:ln>
        </p:spPr>
      </p:pic>
      <p:sp>
        <p:nvSpPr>
          <p:cNvPr id="778" name="Google Shape;778;p31"/>
          <p:cNvSpPr/>
          <p:nvPr/>
        </p:nvSpPr>
        <p:spPr>
          <a:xfrm>
            <a:off x="9423917" y="4394716"/>
            <a:ext cx="111967" cy="111967"/>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Multiple filters</a:t>
            </a:r>
            <a:endParaRPr>
              <a:latin typeface="Bookman Old Style"/>
              <a:ea typeface="Bookman Old Style"/>
              <a:cs typeface="Bookman Old Style"/>
              <a:sym typeface="Bookman Old Style"/>
            </a:endParaRPr>
          </a:p>
        </p:txBody>
      </p:sp>
      <p:pic>
        <p:nvPicPr>
          <p:cNvPr id="785" name="Google Shape;785;p32"/>
          <p:cNvPicPr preferRelativeResize="0"/>
          <p:nvPr>
            <p:ph idx="1" type="body"/>
          </p:nvPr>
        </p:nvPicPr>
        <p:blipFill rotWithShape="1">
          <a:blip r:embed="rId3">
            <a:alphaModFix/>
          </a:blip>
          <a:srcRect b="0" l="0" r="0" t="0"/>
          <a:stretch/>
        </p:blipFill>
        <p:spPr>
          <a:xfrm>
            <a:off x="838200" y="1690688"/>
            <a:ext cx="9996755" cy="4351338"/>
          </a:xfrm>
          <a:prstGeom prst="rect">
            <a:avLst/>
          </a:prstGeom>
          <a:noFill/>
          <a:ln>
            <a:noFill/>
          </a:ln>
        </p:spPr>
      </p:pic>
      <p:sp>
        <p:nvSpPr>
          <p:cNvPr id="786" name="Google Shape;78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787" name="Google Shape;78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788" name="Google Shape;78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789" name="Google Shape;789;p32"/>
          <p:cNvPicPr preferRelativeResize="0"/>
          <p:nvPr/>
        </p:nvPicPr>
        <p:blipFill rotWithShape="1">
          <a:blip r:embed="rId4">
            <a:alphaModFix/>
          </a:blip>
          <a:srcRect b="0" l="0" r="0" t="0"/>
          <a:stretch/>
        </p:blipFill>
        <p:spPr>
          <a:xfrm>
            <a:off x="3581399" y="4056118"/>
            <a:ext cx="4750837" cy="2266204"/>
          </a:xfrm>
          <a:prstGeom prst="rect">
            <a:avLst/>
          </a:prstGeom>
          <a:noFill/>
          <a:ln>
            <a:noFill/>
          </a:ln>
        </p:spPr>
      </p:pic>
      <p:pic>
        <p:nvPicPr>
          <p:cNvPr id="790" name="Google Shape;790;p32"/>
          <p:cNvPicPr preferRelativeResize="0"/>
          <p:nvPr/>
        </p:nvPicPr>
        <p:blipFill rotWithShape="1">
          <a:blip r:embed="rId5">
            <a:alphaModFix/>
          </a:blip>
          <a:srcRect b="0" l="0" r="0" t="0"/>
          <a:stretch/>
        </p:blipFill>
        <p:spPr>
          <a:xfrm>
            <a:off x="3581399" y="4285687"/>
            <a:ext cx="4750837" cy="1943524"/>
          </a:xfrm>
          <a:prstGeom prst="rect">
            <a:avLst/>
          </a:prstGeom>
          <a:noFill/>
          <a:ln>
            <a:noFill/>
          </a:ln>
        </p:spPr>
      </p:pic>
      <p:pic>
        <p:nvPicPr>
          <p:cNvPr id="791" name="Google Shape;791;p32"/>
          <p:cNvPicPr preferRelativeResize="0"/>
          <p:nvPr/>
        </p:nvPicPr>
        <p:blipFill rotWithShape="1">
          <a:blip r:embed="rId6">
            <a:alphaModFix/>
          </a:blip>
          <a:srcRect b="0" l="0" r="0" t="0"/>
          <a:stretch/>
        </p:blipFill>
        <p:spPr>
          <a:xfrm>
            <a:off x="8307354" y="3699992"/>
            <a:ext cx="2751070" cy="1758416"/>
          </a:xfrm>
          <a:prstGeom prst="rect">
            <a:avLst/>
          </a:prstGeom>
          <a:noFill/>
          <a:ln>
            <a:noFill/>
          </a:ln>
        </p:spPr>
      </p:pic>
      <p:pic>
        <p:nvPicPr>
          <p:cNvPr id="792" name="Google Shape;792;p32"/>
          <p:cNvPicPr preferRelativeResize="0"/>
          <p:nvPr/>
        </p:nvPicPr>
        <p:blipFill rotWithShape="1">
          <a:blip r:embed="rId7">
            <a:alphaModFix/>
          </a:blip>
          <a:srcRect b="0" l="0" r="0" t="0"/>
          <a:stretch/>
        </p:blipFill>
        <p:spPr>
          <a:xfrm>
            <a:off x="8336599" y="3699993"/>
            <a:ext cx="2967069" cy="2072740"/>
          </a:xfrm>
          <a:prstGeom prst="rect">
            <a:avLst/>
          </a:prstGeom>
          <a:noFill/>
          <a:ln>
            <a:noFill/>
          </a:ln>
        </p:spPr>
      </p:pic>
      <p:pic>
        <p:nvPicPr>
          <p:cNvPr id="793" name="Google Shape;793;p32"/>
          <p:cNvPicPr preferRelativeResize="0"/>
          <p:nvPr/>
        </p:nvPicPr>
        <p:blipFill rotWithShape="1">
          <a:blip r:embed="rId8">
            <a:alphaModFix/>
          </a:blip>
          <a:srcRect b="0" l="0" r="0" t="0"/>
          <a:stretch/>
        </p:blipFill>
        <p:spPr>
          <a:xfrm>
            <a:off x="8901592" y="1535977"/>
            <a:ext cx="1682705" cy="1480274"/>
          </a:xfrm>
          <a:prstGeom prst="rect">
            <a:avLst/>
          </a:prstGeom>
          <a:noFill/>
          <a:ln>
            <a:noFill/>
          </a:ln>
        </p:spPr>
      </p:pic>
      <p:pic>
        <p:nvPicPr>
          <p:cNvPr id="794" name="Google Shape;794;p32"/>
          <p:cNvPicPr preferRelativeResize="0"/>
          <p:nvPr/>
        </p:nvPicPr>
        <p:blipFill rotWithShape="1">
          <a:blip r:embed="rId9">
            <a:alphaModFix/>
          </a:blip>
          <a:srcRect b="0" l="0" r="0" t="0"/>
          <a:stretch/>
        </p:blipFill>
        <p:spPr>
          <a:xfrm>
            <a:off x="8678123" y="1410728"/>
            <a:ext cx="1612222" cy="1640673"/>
          </a:xfrm>
          <a:prstGeom prst="rect">
            <a:avLst/>
          </a:prstGeom>
          <a:noFill/>
          <a:ln>
            <a:noFill/>
          </a:ln>
        </p:spPr>
      </p:pic>
      <p:sp>
        <p:nvSpPr>
          <p:cNvPr id="795" name="Google Shape;795;p32"/>
          <p:cNvSpPr txBox="1"/>
          <p:nvPr/>
        </p:nvSpPr>
        <p:spPr>
          <a:xfrm>
            <a:off x="5570376" y="365125"/>
            <a:ext cx="5488048" cy="1200329"/>
          </a:xfrm>
          <a:prstGeom prst="rect">
            <a:avLst/>
          </a:prstGeom>
          <a:blipFill rotWithShape="1">
            <a:blip r:embed="rId10">
              <a:alphaModFix/>
            </a:blip>
            <a:stretch>
              <a:fillRect b="-7612" l="-999" r="0" t="-25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796" name="Google Shape;796;p32"/>
          <p:cNvSpPr txBox="1"/>
          <p:nvPr/>
        </p:nvSpPr>
        <p:spPr>
          <a:xfrm>
            <a:off x="10290345" y="541176"/>
            <a:ext cx="175547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No stride and no padding</a:t>
            </a:r>
            <a:endParaRPr sz="1800">
              <a:solidFill>
                <a:schemeClr val="dk1"/>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bdc901c36c_0_62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802" name="Google Shape;802;g3bdc901c36c_0_622"/>
          <p:cNvSpPr txBox="1"/>
          <p:nvPr>
            <p:ph idx="1" type="body"/>
          </p:nvPr>
        </p:nvSpPr>
        <p:spPr>
          <a:xfrm>
            <a:off x="189186" y="400692"/>
            <a:ext cx="11887200" cy="57762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b="1" lang="en-IN" sz="3600"/>
              <a:t>Convolutional Layer</a:t>
            </a:r>
            <a:endParaRPr/>
          </a:p>
        </p:txBody>
      </p:sp>
      <p:sp>
        <p:nvSpPr>
          <p:cNvPr id="803" name="Google Shape;803;g3bdc901c36c_0_622"/>
          <p:cNvSpPr/>
          <p:nvPr/>
        </p:nvSpPr>
        <p:spPr>
          <a:xfrm>
            <a:off x="3202107" y="2357735"/>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04" name="Google Shape;804;g3bdc901c36c_0_622"/>
          <p:cNvSpPr txBox="1"/>
          <p:nvPr/>
        </p:nvSpPr>
        <p:spPr>
          <a:xfrm>
            <a:off x="1905001" y="4583668"/>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805" name="Google Shape;805;g3bdc901c36c_0_622"/>
          <p:cNvSpPr txBox="1"/>
          <p:nvPr/>
        </p:nvSpPr>
        <p:spPr>
          <a:xfrm>
            <a:off x="2743200" y="4583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06" name="Google Shape;806;g3bdc901c36c_0_622"/>
          <p:cNvSpPr txBox="1"/>
          <p:nvPr/>
        </p:nvSpPr>
        <p:spPr>
          <a:xfrm>
            <a:off x="3276601" y="2590800"/>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807" name="Google Shape;807;g3bdc901c36c_0_622"/>
          <p:cNvSpPr txBox="1"/>
          <p:nvPr/>
        </p:nvSpPr>
        <p:spPr>
          <a:xfrm>
            <a:off x="3140254" y="29834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08" name="Google Shape;808;g3bdc901c36c_0_622"/>
          <p:cNvSpPr txBox="1"/>
          <p:nvPr/>
        </p:nvSpPr>
        <p:spPr>
          <a:xfrm>
            <a:off x="3505201" y="5791200"/>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809" name="Google Shape;809;g3bdc901c36c_0_622"/>
          <p:cNvSpPr txBox="1"/>
          <p:nvPr/>
        </p:nvSpPr>
        <p:spPr>
          <a:xfrm>
            <a:off x="3192294" y="5791200"/>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810" name="Google Shape;810;g3bdc901c36c_0_622"/>
          <p:cNvSpPr txBox="1"/>
          <p:nvPr/>
        </p:nvSpPr>
        <p:spPr>
          <a:xfrm>
            <a:off x="3429001" y="1688068"/>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32×32×3 Image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g3bdc901c36c_0_635"/>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816" name="Google Shape;816;g3bdc901c36c_0_635"/>
          <p:cNvSpPr txBox="1"/>
          <p:nvPr>
            <p:ph idx="1" type="body"/>
          </p:nvPr>
        </p:nvSpPr>
        <p:spPr>
          <a:xfrm>
            <a:off x="189186" y="595901"/>
            <a:ext cx="11887200" cy="55812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b="1" lang="en-IN" sz="3200">
                <a:solidFill>
                  <a:schemeClr val="dk1"/>
                </a:solidFill>
              </a:rPr>
              <a:t>Convolutional Layer</a:t>
            </a:r>
            <a:endParaRPr/>
          </a:p>
          <a:p>
            <a:pPr indent="0" lvl="0" marL="50800" rtl="0" algn="l">
              <a:lnSpc>
                <a:spcPct val="90000"/>
              </a:lnSpc>
              <a:spcBef>
                <a:spcPts val="1000"/>
              </a:spcBef>
              <a:spcAft>
                <a:spcPts val="0"/>
              </a:spcAft>
              <a:buSzPts val="2800"/>
              <a:buNone/>
            </a:pPr>
            <a:r>
              <a:t/>
            </a:r>
            <a:endParaRPr/>
          </a:p>
        </p:txBody>
      </p:sp>
      <p:sp>
        <p:nvSpPr>
          <p:cNvPr id="817" name="Google Shape;817;g3bdc901c36c_0_635"/>
          <p:cNvSpPr/>
          <p:nvPr/>
        </p:nvSpPr>
        <p:spPr>
          <a:xfrm>
            <a:off x="3202107" y="2357735"/>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18" name="Google Shape;818;g3bdc901c36c_0_635"/>
          <p:cNvSpPr txBox="1"/>
          <p:nvPr/>
        </p:nvSpPr>
        <p:spPr>
          <a:xfrm>
            <a:off x="3429001" y="1688068"/>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32×32×3 Image</a:t>
            </a:r>
            <a:endParaRPr b="0" i="0" sz="1800" u="none" cap="none" strike="noStrike">
              <a:solidFill>
                <a:schemeClr val="dk1"/>
              </a:solidFill>
              <a:latin typeface="Arial"/>
              <a:ea typeface="Arial"/>
              <a:cs typeface="Arial"/>
              <a:sym typeface="Arial"/>
            </a:endParaRPr>
          </a:p>
        </p:txBody>
      </p:sp>
      <p:sp>
        <p:nvSpPr>
          <p:cNvPr id="819" name="Google Shape;819;g3bdc901c36c_0_635"/>
          <p:cNvSpPr txBox="1"/>
          <p:nvPr/>
        </p:nvSpPr>
        <p:spPr>
          <a:xfrm>
            <a:off x="1905001" y="4583668"/>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820" name="Google Shape;820;g3bdc901c36c_0_635"/>
          <p:cNvSpPr txBox="1"/>
          <p:nvPr/>
        </p:nvSpPr>
        <p:spPr>
          <a:xfrm>
            <a:off x="2743200" y="4583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21" name="Google Shape;821;g3bdc901c36c_0_635"/>
          <p:cNvSpPr txBox="1"/>
          <p:nvPr/>
        </p:nvSpPr>
        <p:spPr>
          <a:xfrm>
            <a:off x="3276601" y="2590800"/>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822" name="Google Shape;822;g3bdc901c36c_0_635"/>
          <p:cNvSpPr txBox="1"/>
          <p:nvPr/>
        </p:nvSpPr>
        <p:spPr>
          <a:xfrm>
            <a:off x="3181377" y="2960132"/>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23" name="Google Shape;823;g3bdc901c36c_0_635"/>
          <p:cNvSpPr txBox="1"/>
          <p:nvPr/>
        </p:nvSpPr>
        <p:spPr>
          <a:xfrm>
            <a:off x="3505201" y="5791200"/>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824" name="Google Shape;824;g3bdc901c36c_0_635"/>
          <p:cNvSpPr txBox="1"/>
          <p:nvPr/>
        </p:nvSpPr>
        <p:spPr>
          <a:xfrm>
            <a:off x="3192294" y="5791200"/>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825" name="Google Shape;825;g3bdc901c36c_0_635"/>
          <p:cNvSpPr/>
          <p:nvPr/>
        </p:nvSpPr>
        <p:spPr>
          <a:xfrm>
            <a:off x="7162800" y="3805535"/>
            <a:ext cx="533400" cy="1143000"/>
          </a:xfrm>
          <a:prstGeom prst="cube">
            <a:avLst>
              <a:gd fmla="val 50665" name="adj"/>
            </a:avLst>
          </a:prstGeom>
          <a:solidFill>
            <a:schemeClr val="lt1">
              <a:alpha val="3804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26" name="Google Shape;826;g3bdc901c36c_0_635"/>
          <p:cNvSpPr txBox="1"/>
          <p:nvPr/>
        </p:nvSpPr>
        <p:spPr>
          <a:xfrm>
            <a:off x="6719366" y="3288268"/>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5×5×3 Filter</a:t>
            </a:r>
            <a:endParaRPr b="0" i="0" sz="1800" u="none" cap="none" strike="noStrike">
              <a:solidFill>
                <a:schemeClr val="dk1"/>
              </a:solidFill>
              <a:latin typeface="Arial"/>
              <a:ea typeface="Arial"/>
              <a:cs typeface="Arial"/>
              <a:sym typeface="Arial"/>
            </a:endParaRPr>
          </a:p>
        </p:txBody>
      </p:sp>
      <p:sp>
        <p:nvSpPr>
          <p:cNvPr id="827" name="Google Shape;827;g3bdc901c36c_0_635"/>
          <p:cNvSpPr/>
          <p:nvPr/>
        </p:nvSpPr>
        <p:spPr>
          <a:xfrm>
            <a:off x="5562600" y="5172670"/>
            <a:ext cx="4572000" cy="923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Arial"/>
                <a:ea typeface="Arial"/>
                <a:cs typeface="Arial"/>
                <a:sym typeface="Arial"/>
              </a:rPr>
              <a:t>Convolve </a:t>
            </a:r>
            <a:r>
              <a:rPr b="0" i="0" lang="en-IN" sz="1800" u="none" cap="none" strike="noStrike">
                <a:solidFill>
                  <a:schemeClr val="lt1"/>
                </a:solidFill>
                <a:latin typeface="Arial"/>
                <a:ea typeface="Arial"/>
                <a:cs typeface="Arial"/>
                <a:sym typeface="Arial"/>
              </a:rPr>
              <a:t>the filter with the image i.e. “slide over the image spatially, computing dot products”</a:t>
            </a:r>
            <a:endParaRPr b="0" i="0" sz="1800" u="none" cap="none" strike="noStrike">
              <a:solidFill>
                <a:schemeClr val="lt1"/>
              </a:solidFill>
              <a:latin typeface="Arial"/>
              <a:ea typeface="Arial"/>
              <a:cs typeface="Arial"/>
              <a:sym typeface="Arial"/>
            </a:endParaRPr>
          </a:p>
        </p:txBody>
      </p:sp>
      <p:sp>
        <p:nvSpPr>
          <p:cNvPr id="828" name="Google Shape;828;g3bdc901c36c_0_635"/>
          <p:cNvSpPr/>
          <p:nvPr/>
        </p:nvSpPr>
        <p:spPr>
          <a:xfrm>
            <a:off x="5715000" y="5325070"/>
            <a:ext cx="4572000" cy="923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Convolve </a:t>
            </a:r>
            <a:r>
              <a:rPr b="0" i="0" lang="en-IN" sz="1800" u="none" cap="none" strike="noStrike">
                <a:solidFill>
                  <a:schemeClr val="dk1"/>
                </a:solidFill>
                <a:latin typeface="Arial"/>
                <a:ea typeface="Arial"/>
                <a:cs typeface="Arial"/>
                <a:sym typeface="Arial"/>
              </a:rPr>
              <a:t>the filter with the image i.e. “slide over the image spatially, computing dot products”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bdc901c36c_0_65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834" name="Google Shape;834;g3bdc901c36c_0_652"/>
          <p:cNvSpPr/>
          <p:nvPr/>
        </p:nvSpPr>
        <p:spPr>
          <a:xfrm>
            <a:off x="3202107" y="2357735"/>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35" name="Google Shape;835;g3bdc901c36c_0_652"/>
          <p:cNvSpPr txBox="1"/>
          <p:nvPr/>
        </p:nvSpPr>
        <p:spPr>
          <a:xfrm>
            <a:off x="3429001" y="1688068"/>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836" name="Google Shape;836;g3bdc901c36c_0_652"/>
          <p:cNvSpPr txBox="1"/>
          <p:nvPr/>
        </p:nvSpPr>
        <p:spPr>
          <a:xfrm>
            <a:off x="1905001" y="4583668"/>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837" name="Google Shape;837;g3bdc901c36c_0_652"/>
          <p:cNvSpPr txBox="1"/>
          <p:nvPr/>
        </p:nvSpPr>
        <p:spPr>
          <a:xfrm>
            <a:off x="2743200" y="4583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38" name="Google Shape;838;g3bdc901c36c_0_652"/>
          <p:cNvSpPr txBox="1"/>
          <p:nvPr/>
        </p:nvSpPr>
        <p:spPr>
          <a:xfrm>
            <a:off x="3276601" y="2590800"/>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839" name="Google Shape;839;g3bdc901c36c_0_652"/>
          <p:cNvSpPr txBox="1"/>
          <p:nvPr/>
        </p:nvSpPr>
        <p:spPr>
          <a:xfrm>
            <a:off x="3140254" y="29834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40" name="Google Shape;840;g3bdc901c36c_0_652"/>
          <p:cNvSpPr txBox="1"/>
          <p:nvPr/>
        </p:nvSpPr>
        <p:spPr>
          <a:xfrm>
            <a:off x="3505201" y="5791200"/>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841" name="Google Shape;841;g3bdc901c36c_0_652"/>
          <p:cNvSpPr txBox="1"/>
          <p:nvPr/>
        </p:nvSpPr>
        <p:spPr>
          <a:xfrm>
            <a:off x="3192294" y="5791200"/>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842" name="Google Shape;842;g3bdc901c36c_0_652"/>
          <p:cNvSpPr/>
          <p:nvPr/>
        </p:nvSpPr>
        <p:spPr>
          <a:xfrm>
            <a:off x="7162800" y="3805535"/>
            <a:ext cx="533400" cy="1143000"/>
          </a:xfrm>
          <a:prstGeom prst="cube">
            <a:avLst>
              <a:gd fmla="val 50665" name="adj"/>
            </a:avLst>
          </a:prstGeom>
          <a:solidFill>
            <a:schemeClr val="lt1">
              <a:alpha val="3804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43" name="Google Shape;843;g3bdc901c36c_0_652"/>
          <p:cNvSpPr txBox="1"/>
          <p:nvPr/>
        </p:nvSpPr>
        <p:spPr>
          <a:xfrm>
            <a:off x="6719366" y="3288268"/>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
        <p:nvSpPr>
          <p:cNvPr id="844" name="Google Shape;844;g3bdc901c36c_0_652"/>
          <p:cNvSpPr/>
          <p:nvPr/>
        </p:nvSpPr>
        <p:spPr>
          <a:xfrm>
            <a:off x="5562600" y="5172670"/>
            <a:ext cx="4572000" cy="923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Convolve </a:t>
            </a:r>
            <a:r>
              <a:rPr b="0" i="0" lang="en-IN" sz="1800" u="none" cap="none" strike="noStrike">
                <a:solidFill>
                  <a:schemeClr val="dk1"/>
                </a:solidFill>
                <a:latin typeface="Arial"/>
                <a:ea typeface="Arial"/>
                <a:cs typeface="Arial"/>
                <a:sym typeface="Arial"/>
              </a:rPr>
              <a:t>the filter with the image i.e. “slide over the image spatially, computing dot products”</a:t>
            </a:r>
            <a:endParaRPr b="0" i="0" sz="1800" u="none" cap="none" strike="noStrike">
              <a:solidFill>
                <a:schemeClr val="dk1"/>
              </a:solidFill>
              <a:latin typeface="Arial"/>
              <a:ea typeface="Arial"/>
              <a:cs typeface="Arial"/>
              <a:sym typeface="Arial"/>
            </a:endParaRPr>
          </a:p>
        </p:txBody>
      </p:sp>
      <p:sp>
        <p:nvSpPr>
          <p:cNvPr id="845" name="Google Shape;845;g3bdc901c36c_0_652"/>
          <p:cNvSpPr/>
          <p:nvPr/>
        </p:nvSpPr>
        <p:spPr>
          <a:xfrm>
            <a:off x="5867400" y="1258670"/>
            <a:ext cx="45720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7030A0"/>
                </a:solidFill>
                <a:latin typeface="Arial"/>
                <a:ea typeface="Arial"/>
                <a:cs typeface="Arial"/>
                <a:sym typeface="Arial"/>
              </a:rPr>
              <a:t>Filters always extend the full depth of the input volume</a:t>
            </a:r>
            <a:endParaRPr b="0" i="0" sz="1800" u="none" cap="none" strike="noStrike">
              <a:solidFill>
                <a:schemeClr val="dk1"/>
              </a:solidFill>
              <a:latin typeface="Arial"/>
              <a:ea typeface="Arial"/>
              <a:cs typeface="Arial"/>
              <a:sym typeface="Arial"/>
            </a:endParaRPr>
          </a:p>
        </p:txBody>
      </p:sp>
      <p:cxnSp>
        <p:nvCxnSpPr>
          <p:cNvPr id="846" name="Google Shape;846;g3bdc901c36c_0_652"/>
          <p:cNvCxnSpPr>
            <a:stCxn id="845" idx="1"/>
          </p:cNvCxnSpPr>
          <p:nvPr/>
        </p:nvCxnSpPr>
        <p:spPr>
          <a:xfrm flipH="1">
            <a:off x="4572000" y="1581770"/>
            <a:ext cx="1295400" cy="161700"/>
          </a:xfrm>
          <a:prstGeom prst="straightConnector1">
            <a:avLst/>
          </a:prstGeom>
          <a:noFill/>
          <a:ln cap="flat" cmpd="sng" w="25400">
            <a:solidFill>
              <a:schemeClr val="lt1"/>
            </a:solidFill>
            <a:prstDash val="solid"/>
            <a:round/>
            <a:headEnd len="sm" w="sm" type="none"/>
            <a:tailEnd len="med" w="med" type="stealth"/>
          </a:ln>
        </p:spPr>
      </p:cxnSp>
      <p:cxnSp>
        <p:nvCxnSpPr>
          <p:cNvPr id="847" name="Google Shape;847;g3bdc901c36c_0_652"/>
          <p:cNvCxnSpPr>
            <a:endCxn id="843" idx="0"/>
          </p:cNvCxnSpPr>
          <p:nvPr/>
        </p:nvCxnSpPr>
        <p:spPr>
          <a:xfrm>
            <a:off x="6719366" y="1904968"/>
            <a:ext cx="831300" cy="1383300"/>
          </a:xfrm>
          <a:prstGeom prst="straightConnector1">
            <a:avLst/>
          </a:prstGeom>
          <a:noFill/>
          <a:ln cap="flat" cmpd="sng" w="25400">
            <a:solidFill>
              <a:schemeClr val="lt1"/>
            </a:solidFill>
            <a:prstDash val="solid"/>
            <a:round/>
            <a:headEnd len="sm" w="sm" type="none"/>
            <a:tailEnd len="med" w="med" type="stealth"/>
          </a:ln>
        </p:spPr>
      </p:cxn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bdc901c36c_0_670"/>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853" name="Google Shape;853;g3bdc901c36c_0_670"/>
          <p:cNvSpPr/>
          <p:nvPr/>
        </p:nvSpPr>
        <p:spPr>
          <a:xfrm>
            <a:off x="3099365" y="1679641"/>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54" name="Google Shape;854;g3bdc901c36c_0_670"/>
          <p:cNvSpPr/>
          <p:nvPr/>
        </p:nvSpPr>
        <p:spPr>
          <a:xfrm>
            <a:off x="3556565" y="3127441"/>
            <a:ext cx="533400" cy="1143000"/>
          </a:xfrm>
          <a:prstGeom prst="cube">
            <a:avLst>
              <a:gd fmla="val 50665" name="adj"/>
            </a:avLst>
          </a:prstGeom>
          <a:solidFill>
            <a:schemeClr val="lt1">
              <a:alpha val="3804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55" name="Google Shape;855;g3bdc901c36c_0_670"/>
          <p:cNvSpPr txBox="1"/>
          <p:nvPr/>
        </p:nvSpPr>
        <p:spPr>
          <a:xfrm>
            <a:off x="1673220" y="2136842"/>
            <a:ext cx="195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Arial"/>
                <a:ea typeface="Arial"/>
                <a:cs typeface="Arial"/>
                <a:sym typeface="Arial"/>
              </a:rPr>
              <a:t>weight mask</a:t>
            </a:r>
            <a:endParaRPr b="0" i="0" sz="1800" u="none" cap="none" strike="noStrike">
              <a:solidFill>
                <a:schemeClr val="lt1"/>
              </a:solidFill>
              <a:latin typeface="Arial"/>
              <a:ea typeface="Arial"/>
              <a:cs typeface="Arial"/>
              <a:sym typeface="Arial"/>
            </a:endParaRPr>
          </a:p>
        </p:txBody>
      </p:sp>
      <p:cxnSp>
        <p:nvCxnSpPr>
          <p:cNvPr id="856" name="Google Shape;856;g3bdc901c36c_0_670"/>
          <p:cNvCxnSpPr>
            <a:stCxn id="855" idx="2"/>
            <a:endCxn id="854" idx="2"/>
          </p:cNvCxnSpPr>
          <p:nvPr/>
        </p:nvCxnSpPr>
        <p:spPr>
          <a:xfrm flipH="1" rot="-5400000">
            <a:off x="2440470" y="2717792"/>
            <a:ext cx="1327800" cy="904500"/>
          </a:xfrm>
          <a:prstGeom prst="curvedConnector2">
            <a:avLst/>
          </a:prstGeom>
          <a:solidFill>
            <a:schemeClr val="accent1"/>
          </a:solidFill>
          <a:ln cap="flat" cmpd="sng" w="9525">
            <a:solidFill>
              <a:schemeClr val="dk1"/>
            </a:solidFill>
            <a:prstDash val="solid"/>
            <a:round/>
            <a:headEnd len="sm" w="sm" type="none"/>
            <a:tailEnd len="med" w="med" type="stealth"/>
          </a:ln>
        </p:spPr>
      </p:cxnSp>
      <p:sp>
        <p:nvSpPr>
          <p:cNvPr id="857" name="Google Shape;857;g3bdc901c36c_0_670"/>
          <p:cNvSpPr txBox="1"/>
          <p:nvPr/>
        </p:nvSpPr>
        <p:spPr>
          <a:xfrm>
            <a:off x="3326259" y="1009974"/>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858" name="Google Shape;858;g3bdc901c36c_0_670"/>
          <p:cNvSpPr txBox="1"/>
          <p:nvPr/>
        </p:nvSpPr>
        <p:spPr>
          <a:xfrm>
            <a:off x="1802259" y="3905574"/>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859" name="Google Shape;859;g3bdc901c36c_0_670"/>
          <p:cNvSpPr txBox="1"/>
          <p:nvPr/>
        </p:nvSpPr>
        <p:spPr>
          <a:xfrm>
            <a:off x="2640458" y="3905574"/>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60" name="Google Shape;860;g3bdc901c36c_0_670"/>
          <p:cNvSpPr txBox="1"/>
          <p:nvPr/>
        </p:nvSpPr>
        <p:spPr>
          <a:xfrm>
            <a:off x="3173859" y="1912706"/>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861" name="Google Shape;861;g3bdc901c36c_0_670"/>
          <p:cNvSpPr txBox="1"/>
          <p:nvPr/>
        </p:nvSpPr>
        <p:spPr>
          <a:xfrm>
            <a:off x="3037512" y="2305374"/>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62" name="Google Shape;862;g3bdc901c36c_0_670"/>
          <p:cNvSpPr txBox="1"/>
          <p:nvPr/>
        </p:nvSpPr>
        <p:spPr>
          <a:xfrm>
            <a:off x="3402459" y="5113106"/>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863" name="Google Shape;863;g3bdc901c36c_0_670"/>
          <p:cNvSpPr txBox="1"/>
          <p:nvPr/>
        </p:nvSpPr>
        <p:spPr>
          <a:xfrm>
            <a:off x="3089552" y="5113106"/>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864" name="Google Shape;864;g3bdc901c36c_0_670"/>
          <p:cNvSpPr txBox="1"/>
          <p:nvPr/>
        </p:nvSpPr>
        <p:spPr>
          <a:xfrm>
            <a:off x="3554859" y="2762574"/>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g3bdc901c36c_0_686"/>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870" name="Google Shape;870;g3bdc901c36c_0_686"/>
          <p:cNvSpPr/>
          <p:nvPr/>
        </p:nvSpPr>
        <p:spPr>
          <a:xfrm>
            <a:off x="2863060" y="1607721"/>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71" name="Google Shape;871;g3bdc901c36c_0_686"/>
          <p:cNvSpPr/>
          <p:nvPr/>
        </p:nvSpPr>
        <p:spPr>
          <a:xfrm>
            <a:off x="3320260" y="3055521"/>
            <a:ext cx="533400" cy="1143000"/>
          </a:xfrm>
          <a:prstGeom prst="cube">
            <a:avLst>
              <a:gd fmla="val 50665"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872" name="Google Shape;872;g3bdc901c36c_0_686"/>
          <p:cNvCxnSpPr/>
          <p:nvPr/>
        </p:nvCxnSpPr>
        <p:spPr>
          <a:xfrm>
            <a:off x="3853660" y="3055521"/>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873" name="Google Shape;873;g3bdc901c36c_0_686"/>
          <p:cNvCxnSpPr>
            <a:stCxn id="871" idx="1"/>
            <a:endCxn id="874" idx="1"/>
          </p:cNvCxnSpPr>
          <p:nvPr/>
        </p:nvCxnSpPr>
        <p:spPr>
          <a:xfrm>
            <a:off x="3451836" y="3325768"/>
            <a:ext cx="2884200" cy="3276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875" name="Google Shape;875;g3bdc901c36c_0_686"/>
          <p:cNvCxnSpPr/>
          <p:nvPr/>
        </p:nvCxnSpPr>
        <p:spPr>
          <a:xfrm flipH="1" rot="10800000">
            <a:off x="3548860" y="3893721"/>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876" name="Google Shape;876;g3bdc901c36c_0_686"/>
          <p:cNvCxnSpPr>
            <a:endCxn id="874" idx="2"/>
          </p:cNvCxnSpPr>
          <p:nvPr/>
        </p:nvCxnSpPr>
        <p:spPr>
          <a:xfrm flipH="1" rot="10800000">
            <a:off x="3853660" y="3773523"/>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874" name="Google Shape;874;g3bdc901c36c_0_686"/>
          <p:cNvSpPr/>
          <p:nvPr/>
        </p:nvSpPr>
        <p:spPr>
          <a:xfrm>
            <a:off x="6215860" y="3512721"/>
            <a:ext cx="381000" cy="381000"/>
          </a:xfrm>
          <a:prstGeom prst="cube">
            <a:avLst>
              <a:gd fmla="val 36904"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77" name="Google Shape;877;g3bdc901c36c_0_686"/>
          <p:cNvSpPr txBox="1"/>
          <p:nvPr/>
        </p:nvSpPr>
        <p:spPr>
          <a:xfrm>
            <a:off x="1436915" y="2064922"/>
            <a:ext cx="195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weight mask</a:t>
            </a:r>
            <a:endParaRPr b="0" i="0" sz="1800" u="none" cap="none" strike="noStrike">
              <a:solidFill>
                <a:schemeClr val="dk1"/>
              </a:solidFill>
              <a:latin typeface="Arial"/>
              <a:ea typeface="Arial"/>
              <a:cs typeface="Arial"/>
              <a:sym typeface="Arial"/>
            </a:endParaRPr>
          </a:p>
        </p:txBody>
      </p:sp>
      <p:cxnSp>
        <p:nvCxnSpPr>
          <p:cNvPr id="878" name="Google Shape;878;g3bdc901c36c_0_686"/>
          <p:cNvCxnSpPr>
            <a:stCxn id="877" idx="2"/>
            <a:endCxn id="871" idx="2"/>
          </p:cNvCxnSpPr>
          <p:nvPr/>
        </p:nvCxnSpPr>
        <p:spPr>
          <a:xfrm flipH="1" rot="-5400000">
            <a:off x="2204165" y="2645872"/>
            <a:ext cx="1327800" cy="904500"/>
          </a:xfrm>
          <a:prstGeom prst="curvedConnector2">
            <a:avLst/>
          </a:prstGeom>
          <a:solidFill>
            <a:schemeClr val="accent1"/>
          </a:solidFill>
          <a:ln cap="flat" cmpd="sng" w="9525">
            <a:solidFill>
              <a:schemeClr val="dk1"/>
            </a:solidFill>
            <a:prstDash val="solid"/>
            <a:round/>
            <a:headEnd len="sm" w="sm" type="none"/>
            <a:tailEnd len="med" w="med" type="stealth"/>
          </a:ln>
        </p:spPr>
      </p:cxnSp>
      <p:sp>
        <p:nvSpPr>
          <p:cNvPr id="879" name="Google Shape;879;g3bdc901c36c_0_686"/>
          <p:cNvSpPr txBox="1"/>
          <p:nvPr/>
        </p:nvSpPr>
        <p:spPr>
          <a:xfrm>
            <a:off x="3089954" y="938054"/>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880" name="Google Shape;880;g3bdc901c36c_0_686"/>
          <p:cNvSpPr txBox="1"/>
          <p:nvPr/>
        </p:nvSpPr>
        <p:spPr>
          <a:xfrm>
            <a:off x="1565954" y="3833654"/>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881" name="Google Shape;881;g3bdc901c36c_0_686"/>
          <p:cNvSpPr txBox="1"/>
          <p:nvPr/>
        </p:nvSpPr>
        <p:spPr>
          <a:xfrm>
            <a:off x="2404153" y="3833654"/>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82" name="Google Shape;882;g3bdc901c36c_0_686"/>
          <p:cNvSpPr txBox="1"/>
          <p:nvPr/>
        </p:nvSpPr>
        <p:spPr>
          <a:xfrm>
            <a:off x="2937554" y="1840786"/>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883" name="Google Shape;883;g3bdc901c36c_0_686"/>
          <p:cNvSpPr txBox="1"/>
          <p:nvPr/>
        </p:nvSpPr>
        <p:spPr>
          <a:xfrm>
            <a:off x="2801207" y="2233454"/>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884" name="Google Shape;884;g3bdc901c36c_0_686"/>
          <p:cNvSpPr txBox="1"/>
          <p:nvPr/>
        </p:nvSpPr>
        <p:spPr>
          <a:xfrm>
            <a:off x="3166154" y="5041186"/>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885" name="Google Shape;885;g3bdc901c36c_0_686"/>
          <p:cNvSpPr txBox="1"/>
          <p:nvPr/>
        </p:nvSpPr>
        <p:spPr>
          <a:xfrm>
            <a:off x="2853247" y="5041186"/>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886" name="Google Shape;886;g3bdc901c36c_0_686"/>
          <p:cNvSpPr txBox="1"/>
          <p:nvPr/>
        </p:nvSpPr>
        <p:spPr>
          <a:xfrm>
            <a:off x="3318554" y="2690654"/>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
        <p:nvSpPr>
          <p:cNvPr id="887" name="Google Shape;887;g3bdc901c36c_0_686"/>
          <p:cNvSpPr txBox="1"/>
          <p:nvPr/>
        </p:nvSpPr>
        <p:spPr>
          <a:xfrm>
            <a:off x="6671354" y="3440986"/>
            <a:ext cx="1727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A single value</a:t>
            </a:r>
            <a:endParaRPr b="0" i="0" sz="1800" u="none" cap="none" strike="noStrike">
              <a:solidFill>
                <a:schemeClr val="dk1"/>
              </a:solidFill>
              <a:latin typeface="Arial"/>
              <a:ea typeface="Arial"/>
              <a:cs typeface="Arial"/>
              <a:sym typeface="Arial"/>
            </a:endParaRPr>
          </a:p>
        </p:txBody>
      </p:sp>
      <p:sp>
        <p:nvSpPr>
          <p:cNvPr id="888" name="Google Shape;888;g3bdc901c36c_0_686"/>
          <p:cNvSpPr/>
          <p:nvPr/>
        </p:nvSpPr>
        <p:spPr>
          <a:xfrm>
            <a:off x="5733603" y="4013961"/>
            <a:ext cx="5915700" cy="10155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Arial"/>
                <a:ea typeface="Arial"/>
                <a:cs typeface="Arial"/>
                <a:sym typeface="Arial"/>
              </a:rPr>
              <a:t>the result of taking a dot product between the filter and a small 5x5x3 chunk of the image (i.e. 5*5*3 = 75-dimensional dot product + bias)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g3bdc901c36c_0_709"/>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894" name="Google Shape;894;g3bdc901c36c_0_709"/>
          <p:cNvSpPr/>
          <p:nvPr/>
        </p:nvSpPr>
        <p:spPr>
          <a:xfrm>
            <a:off x="2842512" y="1752600"/>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95" name="Google Shape;895;g3bdc901c36c_0_709"/>
          <p:cNvSpPr/>
          <p:nvPr/>
        </p:nvSpPr>
        <p:spPr>
          <a:xfrm>
            <a:off x="3299712" y="3200400"/>
            <a:ext cx="533400" cy="1143000"/>
          </a:xfrm>
          <a:prstGeom prst="cube">
            <a:avLst>
              <a:gd fmla="val 50665"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896" name="Google Shape;896;g3bdc901c36c_0_709"/>
          <p:cNvSpPr/>
          <p:nvPr/>
        </p:nvSpPr>
        <p:spPr>
          <a:xfrm>
            <a:off x="5738112" y="1752600"/>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897" name="Google Shape;897;g3bdc901c36c_0_709"/>
          <p:cNvCxnSpPr/>
          <p:nvPr/>
        </p:nvCxnSpPr>
        <p:spPr>
          <a:xfrm>
            <a:off x="3833112" y="3200400"/>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898" name="Google Shape;898;g3bdc901c36c_0_709"/>
          <p:cNvCxnSpPr>
            <a:stCxn id="895" idx="1"/>
            <a:endCxn id="899" idx="1"/>
          </p:cNvCxnSpPr>
          <p:nvPr/>
        </p:nvCxnSpPr>
        <p:spPr>
          <a:xfrm>
            <a:off x="3431288" y="3470647"/>
            <a:ext cx="2884200" cy="3276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00" name="Google Shape;900;g3bdc901c36c_0_709"/>
          <p:cNvCxnSpPr/>
          <p:nvPr/>
        </p:nvCxnSpPr>
        <p:spPr>
          <a:xfrm flipH="1" rot="10800000">
            <a:off x="3528312" y="4038600"/>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01" name="Google Shape;901;g3bdc901c36c_0_709"/>
          <p:cNvCxnSpPr>
            <a:endCxn id="899" idx="2"/>
          </p:cNvCxnSpPr>
          <p:nvPr/>
        </p:nvCxnSpPr>
        <p:spPr>
          <a:xfrm flipH="1" rot="10800000">
            <a:off x="3833112" y="3918402"/>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899" name="Google Shape;899;g3bdc901c36c_0_709"/>
          <p:cNvSpPr/>
          <p:nvPr/>
        </p:nvSpPr>
        <p:spPr>
          <a:xfrm>
            <a:off x="6195312" y="3657600"/>
            <a:ext cx="381000" cy="381000"/>
          </a:xfrm>
          <a:prstGeom prst="cube">
            <a:avLst>
              <a:gd fmla="val 36904"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02" name="Google Shape;902;g3bdc901c36c_0_709"/>
          <p:cNvSpPr txBox="1"/>
          <p:nvPr/>
        </p:nvSpPr>
        <p:spPr>
          <a:xfrm>
            <a:off x="7109713" y="385465"/>
            <a:ext cx="1839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7030A0"/>
                </a:solidFill>
                <a:latin typeface="Arial"/>
                <a:ea typeface="Arial"/>
                <a:cs typeface="Arial"/>
                <a:sym typeface="Arial"/>
              </a:rPr>
              <a:t>Activation map</a:t>
            </a:r>
            <a:endParaRPr b="0" i="0" sz="1800" u="none" cap="none" strike="noStrike">
              <a:solidFill>
                <a:schemeClr val="dk1"/>
              </a:solidFill>
              <a:latin typeface="Arial"/>
              <a:ea typeface="Arial"/>
              <a:cs typeface="Arial"/>
              <a:sym typeface="Arial"/>
            </a:endParaRPr>
          </a:p>
        </p:txBody>
      </p:sp>
      <p:cxnSp>
        <p:nvCxnSpPr>
          <p:cNvPr id="903" name="Google Shape;903;g3bdc901c36c_0_709"/>
          <p:cNvCxnSpPr>
            <a:stCxn id="902" idx="2"/>
          </p:cNvCxnSpPr>
          <p:nvPr/>
        </p:nvCxnSpPr>
        <p:spPr>
          <a:xfrm rot="5400000">
            <a:off x="7140763" y="864115"/>
            <a:ext cx="997800" cy="779100"/>
          </a:xfrm>
          <a:prstGeom prst="curvedConnector3">
            <a:avLst>
              <a:gd fmla="val 50000" name="adj1"/>
            </a:avLst>
          </a:prstGeom>
          <a:solidFill>
            <a:schemeClr val="accent1"/>
          </a:solidFill>
          <a:ln cap="flat" cmpd="sng" w="9525">
            <a:solidFill>
              <a:schemeClr val="dk1"/>
            </a:solidFill>
            <a:prstDash val="solid"/>
            <a:round/>
            <a:headEnd len="sm" w="sm" type="none"/>
            <a:tailEnd len="med" w="med" type="stealth"/>
          </a:ln>
        </p:spPr>
      </p:cxnSp>
      <p:sp>
        <p:nvSpPr>
          <p:cNvPr id="904" name="Google Shape;904;g3bdc901c36c_0_709"/>
          <p:cNvSpPr txBox="1"/>
          <p:nvPr/>
        </p:nvSpPr>
        <p:spPr>
          <a:xfrm>
            <a:off x="1416367" y="2209801"/>
            <a:ext cx="195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Arial"/>
                <a:ea typeface="Arial"/>
                <a:cs typeface="Arial"/>
                <a:sym typeface="Arial"/>
              </a:rPr>
              <a:t>weight mask</a:t>
            </a:r>
            <a:endParaRPr b="0" i="0" sz="1800" u="none" cap="none" strike="noStrike">
              <a:solidFill>
                <a:schemeClr val="lt1"/>
              </a:solidFill>
              <a:latin typeface="Arial"/>
              <a:ea typeface="Arial"/>
              <a:cs typeface="Arial"/>
              <a:sym typeface="Arial"/>
            </a:endParaRPr>
          </a:p>
        </p:txBody>
      </p:sp>
      <p:cxnSp>
        <p:nvCxnSpPr>
          <p:cNvPr id="905" name="Google Shape;905;g3bdc901c36c_0_709"/>
          <p:cNvCxnSpPr>
            <a:stCxn id="904" idx="2"/>
            <a:endCxn id="895" idx="2"/>
          </p:cNvCxnSpPr>
          <p:nvPr/>
        </p:nvCxnSpPr>
        <p:spPr>
          <a:xfrm flipH="1" rot="-5400000">
            <a:off x="2183617" y="2790751"/>
            <a:ext cx="1327800" cy="904500"/>
          </a:xfrm>
          <a:prstGeom prst="curvedConnector2">
            <a:avLst/>
          </a:prstGeom>
          <a:solidFill>
            <a:schemeClr val="accent1"/>
          </a:solidFill>
          <a:ln cap="flat" cmpd="sng" w="9525">
            <a:solidFill>
              <a:schemeClr val="dk1"/>
            </a:solidFill>
            <a:prstDash val="solid"/>
            <a:round/>
            <a:headEnd len="sm" w="sm" type="none"/>
            <a:tailEnd len="med" w="med" type="stealth"/>
          </a:ln>
        </p:spPr>
      </p:cxnSp>
      <p:sp>
        <p:nvSpPr>
          <p:cNvPr id="906" name="Google Shape;906;g3bdc901c36c_0_709"/>
          <p:cNvSpPr txBox="1"/>
          <p:nvPr/>
        </p:nvSpPr>
        <p:spPr>
          <a:xfrm>
            <a:off x="3069406" y="1082933"/>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907" name="Google Shape;907;g3bdc901c36c_0_709"/>
          <p:cNvSpPr txBox="1"/>
          <p:nvPr/>
        </p:nvSpPr>
        <p:spPr>
          <a:xfrm>
            <a:off x="1545406" y="3978533"/>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908" name="Google Shape;908;g3bdc901c36c_0_709"/>
          <p:cNvSpPr txBox="1"/>
          <p:nvPr/>
        </p:nvSpPr>
        <p:spPr>
          <a:xfrm>
            <a:off x="2383605" y="39785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09" name="Google Shape;909;g3bdc901c36c_0_709"/>
          <p:cNvSpPr txBox="1"/>
          <p:nvPr/>
        </p:nvSpPr>
        <p:spPr>
          <a:xfrm>
            <a:off x="2917006" y="1985665"/>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910" name="Google Shape;910;g3bdc901c36c_0_709"/>
          <p:cNvSpPr txBox="1"/>
          <p:nvPr/>
        </p:nvSpPr>
        <p:spPr>
          <a:xfrm>
            <a:off x="2780659" y="23783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11" name="Google Shape;911;g3bdc901c36c_0_709"/>
          <p:cNvSpPr txBox="1"/>
          <p:nvPr/>
        </p:nvSpPr>
        <p:spPr>
          <a:xfrm>
            <a:off x="3145606" y="5186065"/>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912" name="Google Shape;912;g3bdc901c36c_0_709"/>
          <p:cNvSpPr txBox="1"/>
          <p:nvPr/>
        </p:nvSpPr>
        <p:spPr>
          <a:xfrm>
            <a:off x="2832699" y="5186065"/>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913" name="Google Shape;913;g3bdc901c36c_0_709"/>
          <p:cNvSpPr txBox="1"/>
          <p:nvPr/>
        </p:nvSpPr>
        <p:spPr>
          <a:xfrm>
            <a:off x="3298006" y="2835533"/>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
        <p:nvSpPr>
          <p:cNvPr id="914" name="Google Shape;914;g3bdc901c36c_0_709"/>
          <p:cNvSpPr/>
          <p:nvPr/>
        </p:nvSpPr>
        <p:spPr>
          <a:xfrm>
            <a:off x="3815313" y="4271665"/>
            <a:ext cx="1997400" cy="92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convolve (slide) over all spatial locations</a:t>
            </a:r>
            <a:endParaRPr b="0" i="0" sz="1800" u="none" cap="none" strike="noStrike">
              <a:solidFill>
                <a:schemeClr val="dk1"/>
              </a:solidFill>
              <a:latin typeface="Arial"/>
              <a:ea typeface="Arial"/>
              <a:cs typeface="Arial"/>
              <a:sym typeface="Arial"/>
            </a:endParaRPr>
          </a:p>
        </p:txBody>
      </p:sp>
      <p:sp>
        <p:nvSpPr>
          <p:cNvPr id="915" name="Google Shape;915;g3bdc901c36c_0_709"/>
          <p:cNvSpPr txBox="1"/>
          <p:nvPr/>
        </p:nvSpPr>
        <p:spPr>
          <a:xfrm>
            <a:off x="6650805" y="45119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Arial"/>
                <a:ea typeface="Arial"/>
                <a:cs typeface="Arial"/>
                <a:sym typeface="Arial"/>
              </a:rPr>
              <a:t>28</a:t>
            </a:r>
            <a:endParaRPr b="0" i="0" sz="1800" u="none" cap="none" strike="noStrike">
              <a:solidFill>
                <a:schemeClr val="lt1"/>
              </a:solidFill>
              <a:latin typeface="Arial"/>
              <a:ea typeface="Arial"/>
              <a:cs typeface="Arial"/>
              <a:sym typeface="Arial"/>
            </a:endParaRPr>
          </a:p>
        </p:txBody>
      </p:sp>
      <p:sp>
        <p:nvSpPr>
          <p:cNvPr id="916" name="Google Shape;916;g3bdc901c36c_0_709"/>
          <p:cNvSpPr txBox="1"/>
          <p:nvPr/>
        </p:nvSpPr>
        <p:spPr>
          <a:xfrm>
            <a:off x="7412805" y="26069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Arial"/>
                <a:ea typeface="Arial"/>
                <a:cs typeface="Arial"/>
                <a:sym typeface="Arial"/>
              </a:rPr>
              <a:t>28</a:t>
            </a:r>
            <a:endParaRPr b="0" i="0" sz="1800" u="none" cap="none" strike="noStrike">
              <a:solidFill>
                <a:schemeClr val="lt1"/>
              </a:solidFill>
              <a:latin typeface="Arial"/>
              <a:ea typeface="Arial"/>
              <a:cs typeface="Arial"/>
              <a:sym typeface="Arial"/>
            </a:endParaRPr>
          </a:p>
        </p:txBody>
      </p:sp>
      <p:sp>
        <p:nvSpPr>
          <p:cNvPr id="917" name="Google Shape;917;g3bdc901c36c_0_709"/>
          <p:cNvSpPr txBox="1"/>
          <p:nvPr/>
        </p:nvSpPr>
        <p:spPr>
          <a:xfrm>
            <a:off x="5676259" y="5197733"/>
            <a:ext cx="312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Arial"/>
                <a:ea typeface="Arial"/>
                <a:cs typeface="Arial"/>
                <a:sym typeface="Arial"/>
              </a:rPr>
              <a:t>1</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bdc901c36c_0_73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923" name="Google Shape;923;g3bdc901c36c_0_737"/>
          <p:cNvSpPr/>
          <p:nvPr/>
        </p:nvSpPr>
        <p:spPr>
          <a:xfrm>
            <a:off x="2719221" y="1535803"/>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24" name="Google Shape;924;g3bdc901c36c_0_737"/>
          <p:cNvSpPr/>
          <p:nvPr/>
        </p:nvSpPr>
        <p:spPr>
          <a:xfrm>
            <a:off x="3176421" y="2983603"/>
            <a:ext cx="533400" cy="1143000"/>
          </a:xfrm>
          <a:prstGeom prst="cube">
            <a:avLst>
              <a:gd fmla="val 50665"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25" name="Google Shape;925;g3bdc901c36c_0_737"/>
          <p:cNvSpPr/>
          <p:nvPr/>
        </p:nvSpPr>
        <p:spPr>
          <a:xfrm>
            <a:off x="5614821" y="1535803"/>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926" name="Google Shape;926;g3bdc901c36c_0_737"/>
          <p:cNvCxnSpPr/>
          <p:nvPr/>
        </p:nvCxnSpPr>
        <p:spPr>
          <a:xfrm>
            <a:off x="3709821" y="2983603"/>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27" name="Google Shape;927;g3bdc901c36c_0_737"/>
          <p:cNvCxnSpPr>
            <a:stCxn id="924" idx="1"/>
            <a:endCxn id="928" idx="1"/>
          </p:cNvCxnSpPr>
          <p:nvPr/>
        </p:nvCxnSpPr>
        <p:spPr>
          <a:xfrm>
            <a:off x="3307997" y="3253850"/>
            <a:ext cx="2884200" cy="3276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29" name="Google Shape;929;g3bdc901c36c_0_737"/>
          <p:cNvCxnSpPr/>
          <p:nvPr/>
        </p:nvCxnSpPr>
        <p:spPr>
          <a:xfrm flipH="1" rot="10800000">
            <a:off x="3405021" y="3821803"/>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30" name="Google Shape;930;g3bdc901c36c_0_737"/>
          <p:cNvCxnSpPr>
            <a:endCxn id="928" idx="2"/>
          </p:cNvCxnSpPr>
          <p:nvPr/>
        </p:nvCxnSpPr>
        <p:spPr>
          <a:xfrm flipH="1" rot="10800000">
            <a:off x="3709821" y="3701605"/>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928" name="Google Shape;928;g3bdc901c36c_0_737"/>
          <p:cNvSpPr/>
          <p:nvPr/>
        </p:nvSpPr>
        <p:spPr>
          <a:xfrm>
            <a:off x="6072021" y="3440803"/>
            <a:ext cx="381000" cy="381000"/>
          </a:xfrm>
          <a:prstGeom prst="cube">
            <a:avLst>
              <a:gd fmla="val 36904"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31" name="Google Shape;931;g3bdc901c36c_0_737"/>
          <p:cNvSpPr txBox="1"/>
          <p:nvPr/>
        </p:nvSpPr>
        <p:spPr>
          <a:xfrm>
            <a:off x="6986422" y="866136"/>
            <a:ext cx="19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7030A0"/>
                </a:solidFill>
                <a:latin typeface="Arial"/>
                <a:ea typeface="Arial"/>
                <a:cs typeface="Arial"/>
                <a:sym typeface="Arial"/>
              </a:rPr>
              <a:t>Activation maps</a:t>
            </a:r>
            <a:endParaRPr b="0" i="0" sz="1800" u="none" cap="none" strike="noStrike">
              <a:solidFill>
                <a:schemeClr val="dk1"/>
              </a:solidFill>
              <a:latin typeface="Arial"/>
              <a:ea typeface="Arial"/>
              <a:cs typeface="Arial"/>
              <a:sym typeface="Arial"/>
            </a:endParaRPr>
          </a:p>
        </p:txBody>
      </p:sp>
      <p:sp>
        <p:nvSpPr>
          <p:cNvPr id="932" name="Google Shape;932;g3bdc901c36c_0_737"/>
          <p:cNvSpPr txBox="1"/>
          <p:nvPr/>
        </p:nvSpPr>
        <p:spPr>
          <a:xfrm>
            <a:off x="1293076" y="1993004"/>
            <a:ext cx="195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weight mask</a:t>
            </a:r>
            <a:endParaRPr b="0" i="0" sz="1800" u="none" cap="none" strike="noStrike">
              <a:solidFill>
                <a:schemeClr val="dk1"/>
              </a:solidFill>
              <a:latin typeface="Arial"/>
              <a:ea typeface="Arial"/>
              <a:cs typeface="Arial"/>
              <a:sym typeface="Arial"/>
            </a:endParaRPr>
          </a:p>
        </p:txBody>
      </p:sp>
      <p:cxnSp>
        <p:nvCxnSpPr>
          <p:cNvPr id="933" name="Google Shape;933;g3bdc901c36c_0_737"/>
          <p:cNvCxnSpPr>
            <a:stCxn id="932" idx="2"/>
            <a:endCxn id="924" idx="2"/>
          </p:cNvCxnSpPr>
          <p:nvPr/>
        </p:nvCxnSpPr>
        <p:spPr>
          <a:xfrm flipH="1" rot="-5400000">
            <a:off x="2060326" y="2573954"/>
            <a:ext cx="1327800" cy="904500"/>
          </a:xfrm>
          <a:prstGeom prst="curvedConnector2">
            <a:avLst/>
          </a:prstGeom>
          <a:solidFill>
            <a:schemeClr val="accent1"/>
          </a:solidFill>
          <a:ln cap="flat" cmpd="sng" w="9525">
            <a:solidFill>
              <a:schemeClr val="dk1"/>
            </a:solidFill>
            <a:prstDash val="solid"/>
            <a:round/>
            <a:headEnd len="sm" w="sm" type="none"/>
            <a:tailEnd len="med" w="med" type="stealth"/>
          </a:ln>
        </p:spPr>
      </p:cxnSp>
      <p:sp>
        <p:nvSpPr>
          <p:cNvPr id="934" name="Google Shape;934;g3bdc901c36c_0_737"/>
          <p:cNvSpPr txBox="1"/>
          <p:nvPr/>
        </p:nvSpPr>
        <p:spPr>
          <a:xfrm>
            <a:off x="2946115" y="866136"/>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935" name="Google Shape;935;g3bdc901c36c_0_737"/>
          <p:cNvSpPr txBox="1"/>
          <p:nvPr/>
        </p:nvSpPr>
        <p:spPr>
          <a:xfrm>
            <a:off x="1422115" y="3761736"/>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936" name="Google Shape;936;g3bdc901c36c_0_737"/>
          <p:cNvSpPr txBox="1"/>
          <p:nvPr/>
        </p:nvSpPr>
        <p:spPr>
          <a:xfrm>
            <a:off x="2260314" y="3761736"/>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37" name="Google Shape;937;g3bdc901c36c_0_737"/>
          <p:cNvSpPr txBox="1"/>
          <p:nvPr/>
        </p:nvSpPr>
        <p:spPr>
          <a:xfrm>
            <a:off x="2793715" y="1768868"/>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938" name="Google Shape;938;g3bdc901c36c_0_737"/>
          <p:cNvSpPr txBox="1"/>
          <p:nvPr/>
        </p:nvSpPr>
        <p:spPr>
          <a:xfrm>
            <a:off x="2657368" y="2161536"/>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39" name="Google Shape;939;g3bdc901c36c_0_737"/>
          <p:cNvSpPr txBox="1"/>
          <p:nvPr/>
        </p:nvSpPr>
        <p:spPr>
          <a:xfrm>
            <a:off x="3174715" y="2618736"/>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
        <p:nvSpPr>
          <p:cNvPr id="940" name="Google Shape;940;g3bdc901c36c_0_737"/>
          <p:cNvSpPr/>
          <p:nvPr/>
        </p:nvSpPr>
        <p:spPr>
          <a:xfrm>
            <a:off x="6070314" y="1540268"/>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41" name="Google Shape;941;g3bdc901c36c_0_737"/>
          <p:cNvSpPr txBox="1"/>
          <p:nvPr/>
        </p:nvSpPr>
        <p:spPr>
          <a:xfrm>
            <a:off x="7044860" y="4295136"/>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942" name="Google Shape;942;g3bdc901c36c_0_737"/>
          <p:cNvSpPr txBox="1"/>
          <p:nvPr/>
        </p:nvSpPr>
        <p:spPr>
          <a:xfrm>
            <a:off x="7806860" y="2390136"/>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943" name="Google Shape;943;g3bdc901c36c_0_737"/>
          <p:cNvSpPr/>
          <p:nvPr/>
        </p:nvSpPr>
        <p:spPr>
          <a:xfrm>
            <a:off x="3844422" y="4054868"/>
            <a:ext cx="19974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Second filter</a:t>
            </a:r>
            <a:endParaRPr b="0" i="0" sz="1800" u="none" cap="none" strike="noStrike">
              <a:solidFill>
                <a:schemeClr val="dk1"/>
              </a:solidFill>
              <a:latin typeface="Arial"/>
              <a:ea typeface="Arial"/>
              <a:cs typeface="Arial"/>
              <a:sym typeface="Arial"/>
            </a:endParaRPr>
          </a:p>
        </p:txBody>
      </p:sp>
      <p:sp>
        <p:nvSpPr>
          <p:cNvPr id="944" name="Google Shape;944;g3bdc901c36c_0_737"/>
          <p:cNvSpPr txBox="1"/>
          <p:nvPr/>
        </p:nvSpPr>
        <p:spPr>
          <a:xfrm>
            <a:off x="3145606" y="5186065"/>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945" name="Google Shape;945;g3bdc901c36c_0_737"/>
          <p:cNvSpPr txBox="1"/>
          <p:nvPr/>
        </p:nvSpPr>
        <p:spPr>
          <a:xfrm>
            <a:off x="2832699" y="5186065"/>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g3bdc901c36c_0_76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951" name="Google Shape;951;g3bdc901c36c_0_764"/>
          <p:cNvSpPr/>
          <p:nvPr/>
        </p:nvSpPr>
        <p:spPr>
          <a:xfrm>
            <a:off x="3202107" y="2357735"/>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52" name="Google Shape;952;g3bdc901c36c_0_764"/>
          <p:cNvSpPr/>
          <p:nvPr/>
        </p:nvSpPr>
        <p:spPr>
          <a:xfrm>
            <a:off x="3659307" y="3805535"/>
            <a:ext cx="533400" cy="1143000"/>
          </a:xfrm>
          <a:prstGeom prst="cube">
            <a:avLst>
              <a:gd fmla="val 50665" name="adj"/>
            </a:avLst>
          </a:prstGeom>
          <a:solidFill>
            <a:schemeClr val="lt1">
              <a:alpha val="3804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53" name="Google Shape;953;g3bdc901c36c_0_764"/>
          <p:cNvSpPr/>
          <p:nvPr/>
        </p:nvSpPr>
        <p:spPr>
          <a:xfrm>
            <a:off x="6097707" y="235773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954" name="Google Shape;954;g3bdc901c36c_0_764"/>
          <p:cNvCxnSpPr/>
          <p:nvPr/>
        </p:nvCxnSpPr>
        <p:spPr>
          <a:xfrm>
            <a:off x="4192707" y="3805535"/>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55" name="Google Shape;955;g3bdc901c36c_0_764"/>
          <p:cNvCxnSpPr>
            <a:stCxn id="952" idx="1"/>
            <a:endCxn id="956" idx="1"/>
          </p:cNvCxnSpPr>
          <p:nvPr/>
        </p:nvCxnSpPr>
        <p:spPr>
          <a:xfrm>
            <a:off x="3790883" y="4075782"/>
            <a:ext cx="2884200" cy="3276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57" name="Google Shape;957;g3bdc901c36c_0_764"/>
          <p:cNvCxnSpPr/>
          <p:nvPr/>
        </p:nvCxnSpPr>
        <p:spPr>
          <a:xfrm flipH="1" rot="10800000">
            <a:off x="3887907" y="4643735"/>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58" name="Google Shape;958;g3bdc901c36c_0_764"/>
          <p:cNvCxnSpPr>
            <a:endCxn id="956" idx="2"/>
          </p:cNvCxnSpPr>
          <p:nvPr/>
        </p:nvCxnSpPr>
        <p:spPr>
          <a:xfrm flipH="1" rot="10800000">
            <a:off x="4192707" y="4523537"/>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956" name="Google Shape;956;g3bdc901c36c_0_764"/>
          <p:cNvSpPr/>
          <p:nvPr/>
        </p:nvSpPr>
        <p:spPr>
          <a:xfrm>
            <a:off x="6554907" y="4262735"/>
            <a:ext cx="381000" cy="381000"/>
          </a:xfrm>
          <a:prstGeom prst="cube">
            <a:avLst>
              <a:gd fmla="val 36904"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59" name="Google Shape;959;g3bdc901c36c_0_764"/>
          <p:cNvSpPr txBox="1"/>
          <p:nvPr/>
        </p:nvSpPr>
        <p:spPr>
          <a:xfrm>
            <a:off x="7469308" y="1688068"/>
            <a:ext cx="19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7030A0"/>
                </a:solidFill>
                <a:latin typeface="Arial"/>
                <a:ea typeface="Arial"/>
                <a:cs typeface="Arial"/>
                <a:sym typeface="Arial"/>
              </a:rPr>
              <a:t>Activation maps</a:t>
            </a:r>
            <a:endParaRPr b="0" i="0" sz="1800" u="none" cap="none" strike="noStrike">
              <a:solidFill>
                <a:schemeClr val="dk1"/>
              </a:solidFill>
              <a:latin typeface="Arial"/>
              <a:ea typeface="Arial"/>
              <a:cs typeface="Arial"/>
              <a:sym typeface="Arial"/>
            </a:endParaRPr>
          </a:p>
        </p:txBody>
      </p:sp>
      <p:sp>
        <p:nvSpPr>
          <p:cNvPr id="960" name="Google Shape;960;g3bdc901c36c_0_764"/>
          <p:cNvSpPr txBox="1"/>
          <p:nvPr/>
        </p:nvSpPr>
        <p:spPr>
          <a:xfrm>
            <a:off x="1775962" y="2814936"/>
            <a:ext cx="195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weight mask</a:t>
            </a:r>
            <a:endParaRPr b="0" i="0" sz="1800" u="none" cap="none" strike="noStrike">
              <a:solidFill>
                <a:schemeClr val="dk1"/>
              </a:solidFill>
              <a:latin typeface="Arial"/>
              <a:ea typeface="Arial"/>
              <a:cs typeface="Arial"/>
              <a:sym typeface="Arial"/>
            </a:endParaRPr>
          </a:p>
        </p:txBody>
      </p:sp>
      <p:cxnSp>
        <p:nvCxnSpPr>
          <p:cNvPr id="961" name="Google Shape;961;g3bdc901c36c_0_764"/>
          <p:cNvCxnSpPr>
            <a:stCxn id="960" idx="2"/>
            <a:endCxn id="952" idx="2"/>
          </p:cNvCxnSpPr>
          <p:nvPr/>
        </p:nvCxnSpPr>
        <p:spPr>
          <a:xfrm flipH="1" rot="-5400000">
            <a:off x="2543212" y="3395886"/>
            <a:ext cx="1327800" cy="904500"/>
          </a:xfrm>
          <a:prstGeom prst="curvedConnector2">
            <a:avLst/>
          </a:prstGeom>
          <a:solidFill>
            <a:schemeClr val="accent1"/>
          </a:solidFill>
          <a:ln cap="flat" cmpd="sng" w="9525">
            <a:solidFill>
              <a:schemeClr val="dk1"/>
            </a:solidFill>
            <a:prstDash val="solid"/>
            <a:round/>
            <a:headEnd len="sm" w="sm" type="none"/>
            <a:tailEnd len="med" w="med" type="stealth"/>
          </a:ln>
        </p:spPr>
      </p:cxnSp>
      <p:sp>
        <p:nvSpPr>
          <p:cNvPr id="962" name="Google Shape;962;g3bdc901c36c_0_764"/>
          <p:cNvSpPr txBox="1"/>
          <p:nvPr/>
        </p:nvSpPr>
        <p:spPr>
          <a:xfrm>
            <a:off x="3429001" y="1688068"/>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963" name="Google Shape;963;g3bdc901c36c_0_764"/>
          <p:cNvSpPr txBox="1"/>
          <p:nvPr/>
        </p:nvSpPr>
        <p:spPr>
          <a:xfrm>
            <a:off x="1905001" y="4583668"/>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964" name="Google Shape;964;g3bdc901c36c_0_764"/>
          <p:cNvSpPr txBox="1"/>
          <p:nvPr/>
        </p:nvSpPr>
        <p:spPr>
          <a:xfrm>
            <a:off x="2743200" y="4583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65" name="Google Shape;965;g3bdc901c36c_0_764"/>
          <p:cNvSpPr txBox="1"/>
          <p:nvPr/>
        </p:nvSpPr>
        <p:spPr>
          <a:xfrm>
            <a:off x="3276601" y="2590800"/>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966" name="Google Shape;966;g3bdc901c36c_0_764"/>
          <p:cNvSpPr txBox="1"/>
          <p:nvPr/>
        </p:nvSpPr>
        <p:spPr>
          <a:xfrm>
            <a:off x="3140254" y="29834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67" name="Google Shape;967;g3bdc901c36c_0_764"/>
          <p:cNvSpPr txBox="1"/>
          <p:nvPr/>
        </p:nvSpPr>
        <p:spPr>
          <a:xfrm>
            <a:off x="3657601" y="3440668"/>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
        <p:nvSpPr>
          <p:cNvPr id="968" name="Google Shape;968;g3bdc901c36c_0_764"/>
          <p:cNvSpPr/>
          <p:nvPr/>
        </p:nvSpPr>
        <p:spPr>
          <a:xfrm>
            <a:off x="6589595" y="2399382"/>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69" name="Google Shape;969;g3bdc901c36c_0_764"/>
          <p:cNvSpPr/>
          <p:nvPr/>
        </p:nvSpPr>
        <p:spPr>
          <a:xfrm>
            <a:off x="7010400" y="2362200"/>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70" name="Google Shape;970;g3bdc901c36c_0_764"/>
          <p:cNvSpPr txBox="1"/>
          <p:nvPr/>
        </p:nvSpPr>
        <p:spPr>
          <a:xfrm>
            <a:off x="7940854" y="51170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971" name="Google Shape;971;g3bdc901c36c_0_764"/>
          <p:cNvSpPr txBox="1"/>
          <p:nvPr/>
        </p:nvSpPr>
        <p:spPr>
          <a:xfrm>
            <a:off x="8702854" y="32120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972" name="Google Shape;972;g3bdc901c36c_0_764"/>
          <p:cNvSpPr/>
          <p:nvPr/>
        </p:nvSpPr>
        <p:spPr>
          <a:xfrm>
            <a:off x="4327308" y="4876800"/>
            <a:ext cx="19974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Arial"/>
                <a:ea typeface="Arial"/>
                <a:cs typeface="Arial"/>
                <a:sym typeface="Arial"/>
              </a:rPr>
              <a:t>Third filter</a:t>
            </a:r>
            <a:endParaRPr b="0" i="0" sz="1800" u="none" cap="none" strike="noStrike">
              <a:solidFill>
                <a:schemeClr val="lt1"/>
              </a:solidFill>
              <a:latin typeface="Arial"/>
              <a:ea typeface="Arial"/>
              <a:cs typeface="Arial"/>
              <a:sym typeface="Arial"/>
            </a:endParaRPr>
          </a:p>
        </p:txBody>
      </p:sp>
      <p:sp>
        <p:nvSpPr>
          <p:cNvPr id="973" name="Google Shape;973;g3bdc901c36c_0_764"/>
          <p:cNvSpPr txBox="1"/>
          <p:nvPr/>
        </p:nvSpPr>
        <p:spPr>
          <a:xfrm>
            <a:off x="3353160" y="5805424"/>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974" name="Google Shape;974;g3bdc901c36c_0_764"/>
          <p:cNvSpPr txBox="1"/>
          <p:nvPr/>
        </p:nvSpPr>
        <p:spPr>
          <a:xfrm>
            <a:off x="3036774" y="5792997"/>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g3bdc901c36c_0_79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980" name="Google Shape;980;g3bdc901c36c_0_792"/>
          <p:cNvSpPr/>
          <p:nvPr/>
        </p:nvSpPr>
        <p:spPr>
          <a:xfrm>
            <a:off x="2647302" y="1752600"/>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81" name="Google Shape;981;g3bdc901c36c_0_792"/>
          <p:cNvSpPr/>
          <p:nvPr/>
        </p:nvSpPr>
        <p:spPr>
          <a:xfrm>
            <a:off x="3104502" y="3200400"/>
            <a:ext cx="533400" cy="1143000"/>
          </a:xfrm>
          <a:prstGeom prst="cube">
            <a:avLst>
              <a:gd fmla="val 50665"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82" name="Google Shape;982;g3bdc901c36c_0_792"/>
          <p:cNvSpPr/>
          <p:nvPr/>
        </p:nvSpPr>
        <p:spPr>
          <a:xfrm>
            <a:off x="5542902" y="1752600"/>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983" name="Google Shape;983;g3bdc901c36c_0_792"/>
          <p:cNvCxnSpPr/>
          <p:nvPr/>
        </p:nvCxnSpPr>
        <p:spPr>
          <a:xfrm>
            <a:off x="3637902" y="3200400"/>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84" name="Google Shape;984;g3bdc901c36c_0_792"/>
          <p:cNvCxnSpPr>
            <a:stCxn id="981" idx="1"/>
            <a:endCxn id="985" idx="1"/>
          </p:cNvCxnSpPr>
          <p:nvPr/>
        </p:nvCxnSpPr>
        <p:spPr>
          <a:xfrm>
            <a:off x="3236078" y="3470647"/>
            <a:ext cx="2884200" cy="3276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86" name="Google Shape;986;g3bdc901c36c_0_792"/>
          <p:cNvCxnSpPr/>
          <p:nvPr/>
        </p:nvCxnSpPr>
        <p:spPr>
          <a:xfrm flipH="1" rot="10800000">
            <a:off x="3333102" y="4038600"/>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987" name="Google Shape;987;g3bdc901c36c_0_792"/>
          <p:cNvCxnSpPr>
            <a:endCxn id="985" idx="2"/>
          </p:cNvCxnSpPr>
          <p:nvPr/>
        </p:nvCxnSpPr>
        <p:spPr>
          <a:xfrm flipH="1" rot="10800000">
            <a:off x="3637902" y="3918402"/>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985" name="Google Shape;985;g3bdc901c36c_0_792"/>
          <p:cNvSpPr/>
          <p:nvPr/>
        </p:nvSpPr>
        <p:spPr>
          <a:xfrm>
            <a:off x="6000102" y="3657600"/>
            <a:ext cx="381000" cy="381000"/>
          </a:xfrm>
          <a:prstGeom prst="cube">
            <a:avLst>
              <a:gd fmla="val 36904"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88" name="Google Shape;988;g3bdc901c36c_0_792"/>
          <p:cNvSpPr txBox="1"/>
          <p:nvPr/>
        </p:nvSpPr>
        <p:spPr>
          <a:xfrm>
            <a:off x="6914503" y="1082933"/>
            <a:ext cx="19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7030A0"/>
                </a:solidFill>
                <a:latin typeface="Arial"/>
                <a:ea typeface="Arial"/>
                <a:cs typeface="Arial"/>
                <a:sym typeface="Arial"/>
              </a:rPr>
              <a:t>Activation maps</a:t>
            </a:r>
            <a:endParaRPr b="0" i="0" sz="1800" u="none" cap="none" strike="noStrike">
              <a:solidFill>
                <a:schemeClr val="dk1"/>
              </a:solidFill>
              <a:latin typeface="Arial"/>
              <a:ea typeface="Arial"/>
              <a:cs typeface="Arial"/>
              <a:sym typeface="Arial"/>
            </a:endParaRPr>
          </a:p>
        </p:txBody>
      </p:sp>
      <p:sp>
        <p:nvSpPr>
          <p:cNvPr id="989" name="Google Shape;989;g3bdc901c36c_0_792"/>
          <p:cNvSpPr txBox="1"/>
          <p:nvPr/>
        </p:nvSpPr>
        <p:spPr>
          <a:xfrm>
            <a:off x="1221157" y="2209801"/>
            <a:ext cx="172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weight mask</a:t>
            </a:r>
            <a:endParaRPr b="1" i="0" sz="1800" u="none" cap="none" strike="noStrike">
              <a:solidFill>
                <a:schemeClr val="dk1"/>
              </a:solidFill>
              <a:latin typeface="Arial"/>
              <a:ea typeface="Arial"/>
              <a:cs typeface="Arial"/>
              <a:sym typeface="Arial"/>
            </a:endParaRPr>
          </a:p>
        </p:txBody>
      </p:sp>
      <p:cxnSp>
        <p:nvCxnSpPr>
          <p:cNvPr id="990" name="Google Shape;990;g3bdc901c36c_0_792"/>
          <p:cNvCxnSpPr>
            <a:stCxn id="989" idx="2"/>
            <a:endCxn id="981" idx="2"/>
          </p:cNvCxnSpPr>
          <p:nvPr/>
        </p:nvCxnSpPr>
        <p:spPr>
          <a:xfrm flipH="1" rot="-5400000">
            <a:off x="1931257" y="2733601"/>
            <a:ext cx="1327800" cy="1018800"/>
          </a:xfrm>
          <a:prstGeom prst="curvedConnector2">
            <a:avLst/>
          </a:prstGeom>
          <a:solidFill>
            <a:schemeClr val="accent1"/>
          </a:solidFill>
          <a:ln cap="flat" cmpd="sng" w="9525">
            <a:solidFill>
              <a:schemeClr val="dk1"/>
            </a:solidFill>
            <a:prstDash val="solid"/>
            <a:round/>
            <a:headEnd len="sm" w="sm" type="none"/>
            <a:tailEnd len="med" w="med" type="stealth"/>
          </a:ln>
        </p:spPr>
      </p:cxnSp>
      <p:sp>
        <p:nvSpPr>
          <p:cNvPr id="991" name="Google Shape;991;g3bdc901c36c_0_792"/>
          <p:cNvSpPr txBox="1"/>
          <p:nvPr/>
        </p:nvSpPr>
        <p:spPr>
          <a:xfrm>
            <a:off x="2874196" y="1082933"/>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32×32×</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Image</a:t>
            </a:r>
            <a:endParaRPr b="0" i="0" sz="1800" u="none" cap="none" strike="noStrike">
              <a:solidFill>
                <a:schemeClr val="dk1"/>
              </a:solidFill>
              <a:latin typeface="Arial"/>
              <a:ea typeface="Arial"/>
              <a:cs typeface="Arial"/>
              <a:sym typeface="Arial"/>
            </a:endParaRPr>
          </a:p>
        </p:txBody>
      </p:sp>
      <p:sp>
        <p:nvSpPr>
          <p:cNvPr id="992" name="Google Shape;992;g3bdc901c36c_0_792"/>
          <p:cNvSpPr txBox="1"/>
          <p:nvPr/>
        </p:nvSpPr>
        <p:spPr>
          <a:xfrm>
            <a:off x="1350196" y="3978533"/>
            <a:ext cx="90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Height</a:t>
            </a:r>
            <a:endParaRPr b="0" i="0" sz="1800" u="none" cap="none" strike="noStrike">
              <a:solidFill>
                <a:schemeClr val="dk1"/>
              </a:solidFill>
              <a:latin typeface="Arial"/>
              <a:ea typeface="Arial"/>
              <a:cs typeface="Arial"/>
              <a:sym typeface="Arial"/>
            </a:endParaRPr>
          </a:p>
        </p:txBody>
      </p:sp>
      <p:sp>
        <p:nvSpPr>
          <p:cNvPr id="993" name="Google Shape;993;g3bdc901c36c_0_792"/>
          <p:cNvSpPr txBox="1"/>
          <p:nvPr/>
        </p:nvSpPr>
        <p:spPr>
          <a:xfrm>
            <a:off x="2188395" y="39785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94" name="Google Shape;994;g3bdc901c36c_0_792"/>
          <p:cNvSpPr txBox="1"/>
          <p:nvPr/>
        </p:nvSpPr>
        <p:spPr>
          <a:xfrm>
            <a:off x="2721796" y="1985665"/>
            <a:ext cx="82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Width</a:t>
            </a:r>
            <a:endParaRPr b="0" i="0" sz="1800" u="none" cap="none" strike="noStrike">
              <a:solidFill>
                <a:schemeClr val="dk1"/>
              </a:solidFill>
              <a:latin typeface="Arial"/>
              <a:ea typeface="Arial"/>
              <a:cs typeface="Arial"/>
              <a:sym typeface="Arial"/>
            </a:endParaRPr>
          </a:p>
        </p:txBody>
      </p:sp>
      <p:sp>
        <p:nvSpPr>
          <p:cNvPr id="995" name="Google Shape;995;g3bdc901c36c_0_792"/>
          <p:cNvSpPr txBox="1"/>
          <p:nvPr/>
        </p:nvSpPr>
        <p:spPr>
          <a:xfrm>
            <a:off x="2585449" y="23783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996" name="Google Shape;996;g3bdc901c36c_0_792"/>
          <p:cNvSpPr txBox="1"/>
          <p:nvPr/>
        </p:nvSpPr>
        <p:spPr>
          <a:xfrm>
            <a:off x="2950396" y="5186065"/>
            <a:ext cx="8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FF0000"/>
                </a:solidFill>
                <a:latin typeface="Arial"/>
                <a:ea typeface="Arial"/>
                <a:cs typeface="Arial"/>
                <a:sym typeface="Arial"/>
              </a:rPr>
              <a:t>Depth</a:t>
            </a:r>
            <a:endParaRPr b="0" i="0" sz="1800" u="none" cap="none" strike="noStrike">
              <a:solidFill>
                <a:schemeClr val="dk1"/>
              </a:solidFill>
              <a:latin typeface="Arial"/>
              <a:ea typeface="Arial"/>
              <a:cs typeface="Arial"/>
              <a:sym typeface="Arial"/>
            </a:endParaRPr>
          </a:p>
        </p:txBody>
      </p:sp>
      <p:sp>
        <p:nvSpPr>
          <p:cNvPr id="997" name="Google Shape;997;g3bdc901c36c_0_792"/>
          <p:cNvSpPr txBox="1"/>
          <p:nvPr/>
        </p:nvSpPr>
        <p:spPr>
          <a:xfrm>
            <a:off x="2637489" y="5186065"/>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998" name="Google Shape;998;g3bdc901c36c_0_792"/>
          <p:cNvSpPr txBox="1"/>
          <p:nvPr/>
        </p:nvSpPr>
        <p:spPr>
          <a:xfrm>
            <a:off x="3102796" y="2835533"/>
            <a:ext cx="1662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5×5×</a:t>
            </a:r>
            <a:r>
              <a:rPr b="1" i="0" lang="en-IN" sz="1800" u="none" cap="none" strike="noStrike">
                <a:solidFill>
                  <a:srgbClr val="7030A0"/>
                </a:solidFill>
                <a:latin typeface="Arial"/>
                <a:ea typeface="Arial"/>
                <a:cs typeface="Arial"/>
                <a:sym typeface="Arial"/>
              </a:rPr>
              <a:t>3</a:t>
            </a:r>
            <a:r>
              <a:rPr b="1" i="0" lang="en-IN" sz="1800" u="none" cap="none" strike="noStrike">
                <a:solidFill>
                  <a:srgbClr val="00B050"/>
                </a:solidFill>
                <a:latin typeface="Arial"/>
                <a:ea typeface="Arial"/>
                <a:cs typeface="Arial"/>
                <a:sym typeface="Arial"/>
              </a:rPr>
              <a:t> Filter</a:t>
            </a:r>
            <a:endParaRPr b="0" i="0" sz="1800" u="none" cap="none" strike="noStrike">
              <a:solidFill>
                <a:schemeClr val="dk1"/>
              </a:solidFill>
              <a:latin typeface="Arial"/>
              <a:ea typeface="Arial"/>
              <a:cs typeface="Arial"/>
              <a:sym typeface="Arial"/>
            </a:endParaRPr>
          </a:p>
        </p:txBody>
      </p:sp>
      <p:sp>
        <p:nvSpPr>
          <p:cNvPr id="999" name="Google Shape;999;g3bdc901c36c_0_792"/>
          <p:cNvSpPr/>
          <p:nvPr/>
        </p:nvSpPr>
        <p:spPr>
          <a:xfrm>
            <a:off x="5998395" y="175706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0" name="Google Shape;1000;g3bdc901c36c_0_792"/>
          <p:cNvSpPr/>
          <p:nvPr/>
        </p:nvSpPr>
        <p:spPr>
          <a:xfrm>
            <a:off x="6455595" y="175706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1" name="Google Shape;1001;g3bdc901c36c_0_792"/>
          <p:cNvSpPr/>
          <p:nvPr/>
        </p:nvSpPr>
        <p:spPr>
          <a:xfrm>
            <a:off x="6912795" y="175706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2" name="Google Shape;1002;g3bdc901c36c_0_792"/>
          <p:cNvSpPr/>
          <p:nvPr/>
        </p:nvSpPr>
        <p:spPr>
          <a:xfrm>
            <a:off x="7293795" y="183326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3" name="Google Shape;1003;g3bdc901c36c_0_792"/>
          <p:cNvSpPr/>
          <p:nvPr/>
        </p:nvSpPr>
        <p:spPr>
          <a:xfrm>
            <a:off x="7750995" y="183326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4" name="Google Shape;1004;g3bdc901c36c_0_792"/>
          <p:cNvSpPr/>
          <p:nvPr/>
        </p:nvSpPr>
        <p:spPr>
          <a:xfrm>
            <a:off x="8208195" y="1833265"/>
            <a:ext cx="1600200" cy="3352800"/>
          </a:xfrm>
          <a:prstGeom prst="cube">
            <a:avLst>
              <a:gd fmla="val 83348"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5" name="Google Shape;1005;g3bdc901c36c_0_792"/>
          <p:cNvSpPr/>
          <p:nvPr/>
        </p:nvSpPr>
        <p:spPr>
          <a:xfrm>
            <a:off x="3772503" y="4271665"/>
            <a:ext cx="19974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Total 96 filters</a:t>
            </a:r>
            <a:endParaRPr b="0" i="0" sz="1800" u="none" cap="none" strike="noStrike">
              <a:solidFill>
                <a:schemeClr val="dk1"/>
              </a:solidFill>
              <a:latin typeface="Arial"/>
              <a:ea typeface="Arial"/>
              <a:cs typeface="Arial"/>
              <a:sym typeface="Arial"/>
            </a:endParaRPr>
          </a:p>
        </p:txBody>
      </p:sp>
      <p:sp>
        <p:nvSpPr>
          <p:cNvPr id="1006" name="Google Shape;1006;g3bdc901c36c_0_792"/>
          <p:cNvSpPr txBox="1"/>
          <p:nvPr/>
        </p:nvSpPr>
        <p:spPr>
          <a:xfrm>
            <a:off x="8986249" y="4511933"/>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07" name="Google Shape;1007;g3bdc901c36c_0_792"/>
          <p:cNvSpPr txBox="1"/>
          <p:nvPr/>
        </p:nvSpPr>
        <p:spPr>
          <a:xfrm>
            <a:off x="5147058" y="2366665"/>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8" name="Google Shape;1008;g3bdc901c36c_0_792"/>
          <p:cNvSpPr/>
          <p:nvPr/>
        </p:nvSpPr>
        <p:spPr>
          <a:xfrm rot="-5400000">
            <a:off x="6844185" y="3745915"/>
            <a:ext cx="381000" cy="3108900"/>
          </a:xfrm>
          <a:prstGeom prst="lef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09" name="Google Shape;1009;g3bdc901c36c_0_792"/>
          <p:cNvSpPr/>
          <p:nvPr/>
        </p:nvSpPr>
        <p:spPr>
          <a:xfrm>
            <a:off x="5122095" y="5650468"/>
            <a:ext cx="49530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Depth of output volume: 96</a:t>
            </a:r>
            <a:endParaRPr b="0" i="0" sz="1800" u="none" cap="none" strike="noStrike">
              <a:solidFill>
                <a:schemeClr val="dk1"/>
              </a:solidFill>
              <a:latin typeface="Arial"/>
              <a:ea typeface="Arial"/>
              <a:cs typeface="Arial"/>
              <a:sym typeface="Arial"/>
            </a:endParaRPr>
          </a:p>
        </p:txBody>
      </p:sp>
      <p:sp>
        <p:nvSpPr>
          <p:cNvPr id="1010" name="Google Shape;1010;g3bdc901c36c_0_792"/>
          <p:cNvSpPr txBox="1"/>
          <p:nvPr/>
        </p:nvSpPr>
        <p:spPr>
          <a:xfrm>
            <a:off x="9824449" y="2551331"/>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3bdc901c36c_0_82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016" name="Google Shape;1016;g3bdc901c36c_0_827"/>
          <p:cNvSpPr/>
          <p:nvPr/>
        </p:nvSpPr>
        <p:spPr>
          <a:xfrm>
            <a:off x="1824514" y="1617996"/>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17" name="Google Shape;1017;g3bdc901c36c_0_827"/>
          <p:cNvSpPr/>
          <p:nvPr/>
        </p:nvSpPr>
        <p:spPr>
          <a:xfrm>
            <a:off x="4185007" y="1617996"/>
            <a:ext cx="3200400" cy="3352800"/>
          </a:xfrm>
          <a:prstGeom prst="cube">
            <a:avLst>
              <a:gd fmla="val 42106"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18" name="Google Shape;1018;g3bdc901c36c_0_827"/>
          <p:cNvSpPr txBox="1"/>
          <p:nvPr/>
        </p:nvSpPr>
        <p:spPr>
          <a:xfrm>
            <a:off x="2051408" y="948329"/>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32×32×3 Image</a:t>
            </a:r>
            <a:endParaRPr b="0" i="0" sz="1800" u="none" cap="none" strike="noStrike">
              <a:solidFill>
                <a:schemeClr val="dk1"/>
              </a:solidFill>
              <a:latin typeface="Arial"/>
              <a:ea typeface="Arial"/>
              <a:cs typeface="Arial"/>
              <a:sym typeface="Arial"/>
            </a:endParaRPr>
          </a:p>
        </p:txBody>
      </p:sp>
      <p:sp>
        <p:nvSpPr>
          <p:cNvPr id="1019" name="Google Shape;1019;g3bdc901c36c_0_827"/>
          <p:cNvSpPr txBox="1"/>
          <p:nvPr/>
        </p:nvSpPr>
        <p:spPr>
          <a:xfrm>
            <a:off x="1365607" y="3843929"/>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20" name="Google Shape;1020;g3bdc901c36c_0_827"/>
          <p:cNvSpPr txBox="1"/>
          <p:nvPr/>
        </p:nvSpPr>
        <p:spPr>
          <a:xfrm>
            <a:off x="1762661" y="2243729"/>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21" name="Google Shape;1021;g3bdc901c36c_0_827"/>
          <p:cNvSpPr txBox="1"/>
          <p:nvPr/>
        </p:nvSpPr>
        <p:spPr>
          <a:xfrm>
            <a:off x="1814701" y="5051461"/>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022" name="Google Shape;1022;g3bdc901c36c_0_827"/>
          <p:cNvSpPr/>
          <p:nvPr/>
        </p:nvSpPr>
        <p:spPr>
          <a:xfrm>
            <a:off x="3499207" y="3065796"/>
            <a:ext cx="533400" cy="1143000"/>
          </a:xfrm>
          <a:prstGeom prst="cube">
            <a:avLst>
              <a:gd fmla="val 50665" name="adj"/>
            </a:avLst>
          </a:prstGeom>
          <a:solidFill>
            <a:srgbClr val="595959">
              <a:alpha val="38040"/>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D8D8D8"/>
              </a:solidFill>
              <a:latin typeface="Arial"/>
              <a:ea typeface="Arial"/>
              <a:cs typeface="Arial"/>
              <a:sym typeface="Arial"/>
            </a:endParaRPr>
          </a:p>
        </p:txBody>
      </p:sp>
      <p:sp>
        <p:nvSpPr>
          <p:cNvPr id="1023" name="Google Shape;1023;g3bdc901c36c_0_827"/>
          <p:cNvSpPr txBox="1"/>
          <p:nvPr/>
        </p:nvSpPr>
        <p:spPr>
          <a:xfrm>
            <a:off x="5480408" y="1012861"/>
            <a:ext cx="19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Activation maps</a:t>
            </a:r>
            <a:endParaRPr b="0" i="0" sz="1800" u="none" cap="none" strike="noStrike">
              <a:solidFill>
                <a:schemeClr val="dk1"/>
              </a:solidFill>
              <a:latin typeface="Arial"/>
              <a:ea typeface="Arial"/>
              <a:cs typeface="Arial"/>
              <a:sym typeface="Arial"/>
            </a:endParaRPr>
          </a:p>
        </p:txBody>
      </p:sp>
      <p:sp>
        <p:nvSpPr>
          <p:cNvPr id="1024" name="Google Shape;1024;g3bdc901c36c_0_827"/>
          <p:cNvSpPr txBox="1"/>
          <p:nvPr/>
        </p:nvSpPr>
        <p:spPr>
          <a:xfrm>
            <a:off x="7401461" y="2472329"/>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25" name="Google Shape;1025;g3bdc901c36c_0_827"/>
          <p:cNvSpPr txBox="1"/>
          <p:nvPr/>
        </p:nvSpPr>
        <p:spPr>
          <a:xfrm>
            <a:off x="6639461" y="4224929"/>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26" name="Google Shape;1026;g3bdc901c36c_0_827"/>
          <p:cNvSpPr txBox="1"/>
          <p:nvPr/>
        </p:nvSpPr>
        <p:spPr>
          <a:xfrm>
            <a:off x="4870807" y="5063129"/>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96</a:t>
            </a:r>
            <a:endParaRPr b="0" i="0" sz="1800" u="none" cap="none" strike="noStrike">
              <a:solidFill>
                <a:schemeClr val="dk1"/>
              </a:solidFill>
              <a:latin typeface="Arial"/>
              <a:ea typeface="Arial"/>
              <a:cs typeface="Arial"/>
              <a:sym typeface="Arial"/>
            </a:endParaRPr>
          </a:p>
        </p:txBody>
      </p:sp>
      <p:sp>
        <p:nvSpPr>
          <p:cNvPr id="1027" name="Google Shape;1027;g3bdc901c36c_0_827"/>
          <p:cNvSpPr/>
          <p:nvPr/>
        </p:nvSpPr>
        <p:spPr>
          <a:xfrm>
            <a:off x="2568753" y="4497504"/>
            <a:ext cx="1600200" cy="92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 e.g.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96 5x5x3 filters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bdc901c36c_0_84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033" name="Google Shape;1033;g3bdc901c36c_0_843"/>
          <p:cNvSpPr/>
          <p:nvPr/>
        </p:nvSpPr>
        <p:spPr>
          <a:xfrm>
            <a:off x="1711498" y="1844027"/>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34" name="Google Shape;1034;g3bdc901c36c_0_843"/>
          <p:cNvSpPr/>
          <p:nvPr/>
        </p:nvSpPr>
        <p:spPr>
          <a:xfrm>
            <a:off x="4071991" y="1844027"/>
            <a:ext cx="3200400" cy="3352800"/>
          </a:xfrm>
          <a:prstGeom prst="cube">
            <a:avLst>
              <a:gd fmla="val 42106"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35" name="Google Shape;1035;g3bdc901c36c_0_843"/>
          <p:cNvSpPr txBox="1"/>
          <p:nvPr/>
        </p:nvSpPr>
        <p:spPr>
          <a:xfrm>
            <a:off x="1938392" y="1174360"/>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32×32×3 Image</a:t>
            </a:r>
            <a:endParaRPr b="0" i="0" sz="1800" u="none" cap="none" strike="noStrike">
              <a:solidFill>
                <a:schemeClr val="dk1"/>
              </a:solidFill>
              <a:latin typeface="Arial"/>
              <a:ea typeface="Arial"/>
              <a:cs typeface="Arial"/>
              <a:sym typeface="Arial"/>
            </a:endParaRPr>
          </a:p>
        </p:txBody>
      </p:sp>
      <p:sp>
        <p:nvSpPr>
          <p:cNvPr id="1036" name="Google Shape;1036;g3bdc901c36c_0_843"/>
          <p:cNvSpPr txBox="1"/>
          <p:nvPr/>
        </p:nvSpPr>
        <p:spPr>
          <a:xfrm>
            <a:off x="1252591" y="406996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37" name="Google Shape;1037;g3bdc901c36c_0_843"/>
          <p:cNvSpPr txBox="1"/>
          <p:nvPr/>
        </p:nvSpPr>
        <p:spPr>
          <a:xfrm>
            <a:off x="1649645" y="246976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38" name="Google Shape;1038;g3bdc901c36c_0_843"/>
          <p:cNvSpPr txBox="1"/>
          <p:nvPr/>
        </p:nvSpPr>
        <p:spPr>
          <a:xfrm>
            <a:off x="1701685" y="5277492"/>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039" name="Google Shape;1039;g3bdc901c36c_0_843"/>
          <p:cNvSpPr/>
          <p:nvPr/>
        </p:nvSpPr>
        <p:spPr>
          <a:xfrm>
            <a:off x="3386191" y="3291827"/>
            <a:ext cx="533400" cy="1143000"/>
          </a:xfrm>
          <a:prstGeom prst="cube">
            <a:avLst>
              <a:gd fmla="val 50665" name="adj"/>
            </a:avLst>
          </a:prstGeom>
          <a:solidFill>
            <a:schemeClr val="lt1">
              <a:alpha val="3804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40" name="Google Shape;1040;g3bdc901c36c_0_843"/>
          <p:cNvSpPr txBox="1"/>
          <p:nvPr/>
        </p:nvSpPr>
        <p:spPr>
          <a:xfrm>
            <a:off x="5367392" y="1238892"/>
            <a:ext cx="19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Activation maps</a:t>
            </a:r>
            <a:endParaRPr b="0" i="0" sz="1800" u="none" cap="none" strike="noStrike">
              <a:solidFill>
                <a:schemeClr val="dk1"/>
              </a:solidFill>
              <a:latin typeface="Arial"/>
              <a:ea typeface="Arial"/>
              <a:cs typeface="Arial"/>
              <a:sym typeface="Arial"/>
            </a:endParaRPr>
          </a:p>
        </p:txBody>
      </p:sp>
      <p:sp>
        <p:nvSpPr>
          <p:cNvPr id="1041" name="Google Shape;1041;g3bdc901c36c_0_843"/>
          <p:cNvSpPr txBox="1"/>
          <p:nvPr/>
        </p:nvSpPr>
        <p:spPr>
          <a:xfrm>
            <a:off x="7288445" y="269836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42" name="Google Shape;1042;g3bdc901c36c_0_843"/>
          <p:cNvSpPr txBox="1"/>
          <p:nvPr/>
        </p:nvSpPr>
        <p:spPr>
          <a:xfrm>
            <a:off x="6526445" y="445096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43" name="Google Shape;1043;g3bdc901c36c_0_843"/>
          <p:cNvSpPr txBox="1"/>
          <p:nvPr/>
        </p:nvSpPr>
        <p:spPr>
          <a:xfrm>
            <a:off x="5048572" y="5316962"/>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96</a:t>
            </a:r>
            <a:endParaRPr b="0" i="0" sz="1800" u="none" cap="none" strike="noStrike">
              <a:solidFill>
                <a:schemeClr val="dk1"/>
              </a:solidFill>
              <a:latin typeface="Arial"/>
              <a:ea typeface="Arial"/>
              <a:cs typeface="Arial"/>
              <a:sym typeface="Arial"/>
            </a:endParaRPr>
          </a:p>
        </p:txBody>
      </p:sp>
      <p:sp>
        <p:nvSpPr>
          <p:cNvPr id="1044" name="Google Shape;1044;g3bdc901c36c_0_843"/>
          <p:cNvSpPr/>
          <p:nvPr/>
        </p:nvSpPr>
        <p:spPr>
          <a:xfrm>
            <a:off x="4605391" y="3296292"/>
            <a:ext cx="2133600" cy="1143000"/>
          </a:xfrm>
          <a:prstGeom prst="cube">
            <a:avLst>
              <a:gd fmla="val 23793"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1045" name="Google Shape;1045;g3bdc901c36c_0_843"/>
          <p:cNvCxnSpPr/>
          <p:nvPr/>
        </p:nvCxnSpPr>
        <p:spPr>
          <a:xfrm>
            <a:off x="6738991" y="3296292"/>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1046" name="Google Shape;1046;g3bdc901c36c_0_843"/>
          <p:cNvCxnSpPr/>
          <p:nvPr/>
        </p:nvCxnSpPr>
        <p:spPr>
          <a:xfrm>
            <a:off x="6452479" y="3573660"/>
            <a:ext cx="2648700" cy="3321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1047" name="Google Shape;1047;g3bdc901c36c_0_843"/>
          <p:cNvCxnSpPr/>
          <p:nvPr/>
        </p:nvCxnSpPr>
        <p:spPr>
          <a:xfrm flipH="1" rot="10800000">
            <a:off x="6455015" y="4130027"/>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1048" name="Google Shape;1048;g3bdc901c36c_0_843"/>
          <p:cNvCxnSpPr>
            <a:endCxn id="1049" idx="2"/>
          </p:cNvCxnSpPr>
          <p:nvPr/>
        </p:nvCxnSpPr>
        <p:spPr>
          <a:xfrm flipH="1" rot="10800000">
            <a:off x="6738991" y="4014294"/>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1049" name="Google Shape;1049;g3bdc901c36c_0_843"/>
          <p:cNvSpPr/>
          <p:nvPr/>
        </p:nvSpPr>
        <p:spPr>
          <a:xfrm>
            <a:off x="9101191" y="3753492"/>
            <a:ext cx="381000" cy="381000"/>
          </a:xfrm>
          <a:prstGeom prst="cube">
            <a:avLst>
              <a:gd fmla="val 36904"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50" name="Google Shape;1050;g3bdc901c36c_0_843"/>
          <p:cNvSpPr txBox="1"/>
          <p:nvPr/>
        </p:nvSpPr>
        <p:spPr>
          <a:xfrm>
            <a:off x="4662092" y="3601093"/>
            <a:ext cx="12267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5×5×96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Filter</a:t>
            </a:r>
            <a:endParaRPr b="0" i="0" sz="1800" u="none" cap="none" strike="noStrike">
              <a:solidFill>
                <a:schemeClr val="dk1"/>
              </a:solidFill>
              <a:latin typeface="Arial"/>
              <a:ea typeface="Arial"/>
              <a:cs typeface="Arial"/>
              <a:sym typeface="Arial"/>
            </a:endParaRPr>
          </a:p>
        </p:txBody>
      </p:sp>
      <p:sp>
        <p:nvSpPr>
          <p:cNvPr id="1051" name="Google Shape;1051;g3bdc901c36c_0_843"/>
          <p:cNvSpPr txBox="1"/>
          <p:nvPr/>
        </p:nvSpPr>
        <p:spPr>
          <a:xfrm>
            <a:off x="8643992" y="3067693"/>
            <a:ext cx="10311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One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number</a:t>
            </a:r>
            <a:endParaRPr b="0" i="0" sz="1800" u="none" cap="none" strike="noStrike">
              <a:solidFill>
                <a:schemeClr val="dk1"/>
              </a:solidFill>
              <a:latin typeface="Arial"/>
              <a:ea typeface="Arial"/>
              <a:cs typeface="Arial"/>
              <a:sym typeface="Arial"/>
            </a:endParaRPr>
          </a:p>
        </p:txBody>
      </p:sp>
      <p:sp>
        <p:nvSpPr>
          <p:cNvPr id="1052" name="Google Shape;1052;g3bdc901c36c_0_843"/>
          <p:cNvSpPr/>
          <p:nvPr/>
        </p:nvSpPr>
        <p:spPr>
          <a:xfrm>
            <a:off x="2756337" y="4578298"/>
            <a:ext cx="10110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 e.g.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B050"/>
                </a:solidFill>
                <a:latin typeface="Arial"/>
                <a:ea typeface="Arial"/>
                <a:cs typeface="Arial"/>
                <a:sym typeface="Arial"/>
              </a:rPr>
              <a:t>96 5x5x3 filters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bdc901c36c_0_867"/>
          <p:cNvSpPr txBox="1"/>
          <p:nvPr>
            <p:ph idx="12" type="sldNum"/>
          </p:nvPr>
        </p:nvSpPr>
        <p:spPr>
          <a:xfrm>
            <a:off x="8148263" y="6366624"/>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058" name="Google Shape;1058;g3bdc901c36c_0_867"/>
          <p:cNvSpPr/>
          <p:nvPr/>
        </p:nvSpPr>
        <p:spPr>
          <a:xfrm>
            <a:off x="694356" y="1597447"/>
            <a:ext cx="1600200" cy="33528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59" name="Google Shape;1059;g3bdc901c36c_0_867"/>
          <p:cNvSpPr/>
          <p:nvPr/>
        </p:nvSpPr>
        <p:spPr>
          <a:xfrm>
            <a:off x="3054849" y="1597447"/>
            <a:ext cx="3200400" cy="3352800"/>
          </a:xfrm>
          <a:prstGeom prst="cube">
            <a:avLst>
              <a:gd fmla="val 42106"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60" name="Google Shape;1060;g3bdc901c36c_0_867"/>
          <p:cNvSpPr txBox="1"/>
          <p:nvPr/>
        </p:nvSpPr>
        <p:spPr>
          <a:xfrm>
            <a:off x="921250" y="927780"/>
            <a:ext cx="202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32×32×3 Image</a:t>
            </a:r>
            <a:endParaRPr b="0" i="0" sz="1800" u="none" cap="none" strike="noStrike">
              <a:solidFill>
                <a:schemeClr val="dk1"/>
              </a:solidFill>
              <a:latin typeface="Arial"/>
              <a:ea typeface="Arial"/>
              <a:cs typeface="Arial"/>
              <a:sym typeface="Arial"/>
            </a:endParaRPr>
          </a:p>
        </p:txBody>
      </p:sp>
      <p:sp>
        <p:nvSpPr>
          <p:cNvPr id="1061" name="Google Shape;1061;g3bdc901c36c_0_867"/>
          <p:cNvSpPr txBox="1"/>
          <p:nvPr/>
        </p:nvSpPr>
        <p:spPr>
          <a:xfrm>
            <a:off x="235449" y="382338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62" name="Google Shape;1062;g3bdc901c36c_0_867"/>
          <p:cNvSpPr txBox="1"/>
          <p:nvPr/>
        </p:nvSpPr>
        <p:spPr>
          <a:xfrm>
            <a:off x="632503" y="222318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63" name="Google Shape;1063;g3bdc901c36c_0_867"/>
          <p:cNvSpPr txBox="1"/>
          <p:nvPr/>
        </p:nvSpPr>
        <p:spPr>
          <a:xfrm>
            <a:off x="684543" y="5030912"/>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064" name="Google Shape;1064;g3bdc901c36c_0_867"/>
          <p:cNvSpPr txBox="1"/>
          <p:nvPr/>
        </p:nvSpPr>
        <p:spPr>
          <a:xfrm>
            <a:off x="4350250" y="992312"/>
            <a:ext cx="19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Activation maps</a:t>
            </a:r>
            <a:endParaRPr b="0" i="0" sz="1800" u="none" cap="none" strike="noStrike">
              <a:solidFill>
                <a:schemeClr val="dk1"/>
              </a:solidFill>
              <a:latin typeface="Arial"/>
              <a:ea typeface="Arial"/>
              <a:cs typeface="Arial"/>
              <a:sym typeface="Arial"/>
            </a:endParaRPr>
          </a:p>
        </p:txBody>
      </p:sp>
      <p:sp>
        <p:nvSpPr>
          <p:cNvPr id="1065" name="Google Shape;1065;g3bdc901c36c_0_867"/>
          <p:cNvSpPr/>
          <p:nvPr/>
        </p:nvSpPr>
        <p:spPr>
          <a:xfrm>
            <a:off x="6255249" y="1749847"/>
            <a:ext cx="3200400" cy="3352800"/>
          </a:xfrm>
          <a:prstGeom prst="cube">
            <a:avLst>
              <a:gd fmla="val 42106"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66" name="Google Shape;1066;g3bdc901c36c_0_867"/>
          <p:cNvSpPr/>
          <p:nvPr/>
        </p:nvSpPr>
        <p:spPr>
          <a:xfrm>
            <a:off x="2369049" y="3045247"/>
            <a:ext cx="533400" cy="1143000"/>
          </a:xfrm>
          <a:prstGeom prst="cube">
            <a:avLst>
              <a:gd fmla="val 50665" name="adj"/>
            </a:avLst>
          </a:prstGeom>
          <a:solidFill>
            <a:schemeClr val="lt1">
              <a:alpha val="3804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67" name="Google Shape;1067;g3bdc901c36c_0_867"/>
          <p:cNvSpPr txBox="1"/>
          <p:nvPr/>
        </p:nvSpPr>
        <p:spPr>
          <a:xfrm>
            <a:off x="6271303" y="245178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68" name="Google Shape;1068;g3bdc901c36c_0_867"/>
          <p:cNvSpPr txBox="1"/>
          <p:nvPr/>
        </p:nvSpPr>
        <p:spPr>
          <a:xfrm>
            <a:off x="5509303" y="420438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69" name="Google Shape;1069;g3bdc901c36c_0_867"/>
          <p:cNvSpPr txBox="1"/>
          <p:nvPr/>
        </p:nvSpPr>
        <p:spPr>
          <a:xfrm>
            <a:off x="3740649" y="504258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96</a:t>
            </a:r>
            <a:endParaRPr b="0" i="0" sz="1800" u="none" cap="none" strike="noStrike">
              <a:solidFill>
                <a:schemeClr val="dk1"/>
              </a:solidFill>
              <a:latin typeface="Arial"/>
              <a:ea typeface="Arial"/>
              <a:cs typeface="Arial"/>
              <a:sym typeface="Arial"/>
            </a:endParaRPr>
          </a:p>
        </p:txBody>
      </p:sp>
      <p:sp>
        <p:nvSpPr>
          <p:cNvPr id="1070" name="Google Shape;1070;g3bdc901c36c_0_867"/>
          <p:cNvSpPr/>
          <p:nvPr/>
        </p:nvSpPr>
        <p:spPr>
          <a:xfrm>
            <a:off x="3588249" y="3049712"/>
            <a:ext cx="2133600" cy="1143000"/>
          </a:xfrm>
          <a:prstGeom prst="cube">
            <a:avLst>
              <a:gd fmla="val 23793"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cxnSp>
        <p:nvCxnSpPr>
          <p:cNvPr id="1071" name="Google Shape;1071;g3bdc901c36c_0_867"/>
          <p:cNvCxnSpPr/>
          <p:nvPr/>
        </p:nvCxnSpPr>
        <p:spPr>
          <a:xfrm>
            <a:off x="5721849" y="3049712"/>
            <a:ext cx="2514600" cy="4572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1072" name="Google Shape;1072;g3bdc901c36c_0_867"/>
          <p:cNvCxnSpPr/>
          <p:nvPr/>
        </p:nvCxnSpPr>
        <p:spPr>
          <a:xfrm>
            <a:off x="5435337" y="3327080"/>
            <a:ext cx="2648700" cy="3321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1073" name="Google Shape;1073;g3bdc901c36c_0_867"/>
          <p:cNvCxnSpPr/>
          <p:nvPr/>
        </p:nvCxnSpPr>
        <p:spPr>
          <a:xfrm flipH="1" rot="10800000">
            <a:off x="5437873" y="3883447"/>
            <a:ext cx="2667000" cy="304800"/>
          </a:xfrm>
          <a:prstGeom prst="straightConnector1">
            <a:avLst/>
          </a:prstGeom>
          <a:solidFill>
            <a:schemeClr val="accent1"/>
          </a:solidFill>
          <a:ln cap="flat" cmpd="sng" w="9525">
            <a:solidFill>
              <a:schemeClr val="dk1"/>
            </a:solidFill>
            <a:prstDash val="solid"/>
            <a:round/>
            <a:headEnd len="sm" w="sm" type="none"/>
            <a:tailEnd len="sm" w="sm" type="none"/>
          </a:ln>
        </p:spPr>
      </p:cxnSp>
      <p:cxnSp>
        <p:nvCxnSpPr>
          <p:cNvPr id="1074" name="Google Shape;1074;g3bdc901c36c_0_867"/>
          <p:cNvCxnSpPr>
            <a:endCxn id="1075" idx="2"/>
          </p:cNvCxnSpPr>
          <p:nvPr/>
        </p:nvCxnSpPr>
        <p:spPr>
          <a:xfrm flipH="1" rot="10800000">
            <a:off x="5721849" y="3767714"/>
            <a:ext cx="2362200" cy="120300"/>
          </a:xfrm>
          <a:prstGeom prst="straightConnector1">
            <a:avLst/>
          </a:prstGeom>
          <a:solidFill>
            <a:schemeClr val="accent1"/>
          </a:solidFill>
          <a:ln cap="flat" cmpd="sng" w="9525">
            <a:solidFill>
              <a:schemeClr val="dk1"/>
            </a:solidFill>
            <a:prstDash val="solid"/>
            <a:round/>
            <a:headEnd len="sm" w="sm" type="none"/>
            <a:tailEnd len="sm" w="sm" type="none"/>
          </a:ln>
        </p:spPr>
      </p:cxnSp>
      <p:sp>
        <p:nvSpPr>
          <p:cNvPr id="1075" name="Google Shape;1075;g3bdc901c36c_0_867"/>
          <p:cNvSpPr/>
          <p:nvPr/>
        </p:nvSpPr>
        <p:spPr>
          <a:xfrm>
            <a:off x="8084049" y="3506912"/>
            <a:ext cx="381000" cy="381000"/>
          </a:xfrm>
          <a:prstGeom prst="cube">
            <a:avLst>
              <a:gd fmla="val 36904" name="adj"/>
            </a:avLst>
          </a:prstGeom>
          <a:solidFill>
            <a:schemeClr val="lt1">
              <a:alpha val="12160"/>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76" name="Google Shape;1076;g3bdc901c36c_0_867"/>
          <p:cNvSpPr txBox="1"/>
          <p:nvPr/>
        </p:nvSpPr>
        <p:spPr>
          <a:xfrm>
            <a:off x="3644951" y="3354512"/>
            <a:ext cx="12267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128</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5×5×96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Filters</a:t>
            </a:r>
            <a:endParaRPr b="0" i="0" sz="1800" u="none" cap="none" strike="noStrike">
              <a:solidFill>
                <a:schemeClr val="dk1"/>
              </a:solidFill>
              <a:latin typeface="Arial"/>
              <a:ea typeface="Arial"/>
              <a:cs typeface="Arial"/>
              <a:sym typeface="Arial"/>
            </a:endParaRPr>
          </a:p>
        </p:txBody>
      </p:sp>
      <p:sp>
        <p:nvSpPr>
          <p:cNvPr id="1077" name="Google Shape;1077;g3bdc901c36c_0_867"/>
          <p:cNvSpPr txBox="1"/>
          <p:nvPr/>
        </p:nvSpPr>
        <p:spPr>
          <a:xfrm>
            <a:off x="8998449" y="276824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24</a:t>
            </a:r>
            <a:endParaRPr b="0" i="0" sz="1800" u="none" cap="none" strike="noStrike">
              <a:solidFill>
                <a:schemeClr val="dk1"/>
              </a:solidFill>
              <a:latin typeface="Arial"/>
              <a:ea typeface="Arial"/>
              <a:cs typeface="Arial"/>
              <a:sym typeface="Arial"/>
            </a:endParaRPr>
          </a:p>
        </p:txBody>
      </p:sp>
      <p:sp>
        <p:nvSpPr>
          <p:cNvPr id="1078" name="Google Shape;1078;g3bdc901c36c_0_867"/>
          <p:cNvSpPr txBox="1"/>
          <p:nvPr/>
        </p:nvSpPr>
        <p:spPr>
          <a:xfrm>
            <a:off x="8769849" y="4356780"/>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24</a:t>
            </a:r>
            <a:endParaRPr b="0" i="0" sz="1800" u="none" cap="none" strike="noStrike">
              <a:solidFill>
                <a:schemeClr val="dk1"/>
              </a:solidFill>
              <a:latin typeface="Arial"/>
              <a:ea typeface="Arial"/>
              <a:cs typeface="Arial"/>
              <a:sym typeface="Arial"/>
            </a:endParaRPr>
          </a:p>
        </p:txBody>
      </p:sp>
      <p:sp>
        <p:nvSpPr>
          <p:cNvPr id="1079" name="Google Shape;1079;g3bdc901c36c_0_867"/>
          <p:cNvSpPr txBox="1"/>
          <p:nvPr/>
        </p:nvSpPr>
        <p:spPr>
          <a:xfrm>
            <a:off x="6816782" y="5194980"/>
            <a:ext cx="5694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128</a:t>
            </a:r>
            <a:endParaRPr b="0" i="0" sz="1800" u="none" cap="none" strike="noStrike">
              <a:solidFill>
                <a:schemeClr val="dk1"/>
              </a:solidFill>
              <a:latin typeface="Arial"/>
              <a:ea typeface="Arial"/>
              <a:cs typeface="Arial"/>
              <a:sym typeface="Arial"/>
            </a:endParaRPr>
          </a:p>
        </p:txBody>
      </p:sp>
      <p:sp>
        <p:nvSpPr>
          <p:cNvPr id="1080" name="Google Shape;1080;g3bdc901c36c_0_867"/>
          <p:cNvSpPr txBox="1"/>
          <p:nvPr/>
        </p:nvSpPr>
        <p:spPr>
          <a:xfrm>
            <a:off x="7322049" y="839913"/>
            <a:ext cx="2172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Deeper activation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maps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g3bdc901c36c_0_89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086" name="Google Shape;1086;g3bdc901c36c_0_894"/>
          <p:cNvSpPr/>
          <p:nvPr/>
        </p:nvSpPr>
        <p:spPr>
          <a:xfrm>
            <a:off x="1676400" y="1524000"/>
            <a:ext cx="1600200" cy="41676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87" name="Google Shape;1087;g3bdc901c36c_0_894"/>
          <p:cNvSpPr txBox="1"/>
          <p:nvPr/>
        </p:nvSpPr>
        <p:spPr>
          <a:xfrm>
            <a:off x="2606854" y="4964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88" name="Google Shape;1088;g3bdc901c36c_0_894"/>
          <p:cNvSpPr txBox="1"/>
          <p:nvPr/>
        </p:nvSpPr>
        <p:spPr>
          <a:xfrm>
            <a:off x="1082854" y="4202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32</a:t>
            </a:r>
            <a:endParaRPr b="0" i="0" sz="1800" u="none" cap="none" strike="noStrike">
              <a:solidFill>
                <a:schemeClr val="dk1"/>
              </a:solidFill>
              <a:latin typeface="Arial"/>
              <a:ea typeface="Arial"/>
              <a:cs typeface="Arial"/>
              <a:sym typeface="Arial"/>
            </a:endParaRPr>
          </a:p>
        </p:txBody>
      </p:sp>
      <p:sp>
        <p:nvSpPr>
          <p:cNvPr id="1089" name="Google Shape;1089;g3bdc901c36c_0_894"/>
          <p:cNvSpPr txBox="1"/>
          <p:nvPr/>
        </p:nvSpPr>
        <p:spPr>
          <a:xfrm>
            <a:off x="1676400" y="5650468"/>
            <a:ext cx="312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p:txBody>
      </p:sp>
      <p:sp>
        <p:nvSpPr>
          <p:cNvPr id="1090" name="Google Shape;1090;g3bdc901c36c_0_894"/>
          <p:cNvSpPr/>
          <p:nvPr/>
        </p:nvSpPr>
        <p:spPr>
          <a:xfrm>
            <a:off x="3332546" y="3352800"/>
            <a:ext cx="10110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 e.g.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96 5x5x3 filters</a:t>
            </a:r>
            <a:endParaRPr b="0" i="0" sz="1800" u="none" cap="none" strike="noStrike">
              <a:solidFill>
                <a:schemeClr val="dk1"/>
              </a:solidFill>
              <a:latin typeface="Arial"/>
              <a:ea typeface="Arial"/>
              <a:cs typeface="Arial"/>
              <a:sym typeface="Arial"/>
            </a:endParaRPr>
          </a:p>
        </p:txBody>
      </p:sp>
      <p:cxnSp>
        <p:nvCxnSpPr>
          <p:cNvPr id="1091" name="Google Shape;1091;g3bdc901c36c_0_894"/>
          <p:cNvCxnSpPr/>
          <p:nvPr/>
        </p:nvCxnSpPr>
        <p:spPr>
          <a:xfrm>
            <a:off x="3352800" y="3276600"/>
            <a:ext cx="914400" cy="0"/>
          </a:xfrm>
          <a:prstGeom prst="straightConnector1">
            <a:avLst/>
          </a:prstGeom>
          <a:noFill/>
          <a:ln cap="flat" cmpd="sng" w="9525">
            <a:solidFill>
              <a:srgbClr val="4A7DBA"/>
            </a:solidFill>
            <a:prstDash val="solid"/>
            <a:round/>
            <a:headEnd len="sm" w="sm" type="none"/>
            <a:tailEnd len="med" w="med" type="stealth"/>
          </a:ln>
        </p:spPr>
      </p:cxnSp>
      <p:sp>
        <p:nvSpPr>
          <p:cNvPr id="1092" name="Google Shape;1092;g3bdc901c36c_0_894"/>
          <p:cNvSpPr/>
          <p:nvPr/>
        </p:nvSpPr>
        <p:spPr>
          <a:xfrm>
            <a:off x="4267200" y="1524000"/>
            <a:ext cx="1600200" cy="41676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93" name="Google Shape;1093;g3bdc901c36c_0_894"/>
          <p:cNvSpPr txBox="1"/>
          <p:nvPr/>
        </p:nvSpPr>
        <p:spPr>
          <a:xfrm>
            <a:off x="5197654" y="4964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94" name="Google Shape;1094;g3bdc901c36c_0_894"/>
          <p:cNvSpPr txBox="1"/>
          <p:nvPr/>
        </p:nvSpPr>
        <p:spPr>
          <a:xfrm>
            <a:off x="4495800" y="4202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28</a:t>
            </a:r>
            <a:endParaRPr b="0" i="0" sz="1800" u="none" cap="none" strike="noStrike">
              <a:solidFill>
                <a:schemeClr val="dk1"/>
              </a:solidFill>
              <a:latin typeface="Arial"/>
              <a:ea typeface="Arial"/>
              <a:cs typeface="Arial"/>
              <a:sym typeface="Arial"/>
            </a:endParaRPr>
          </a:p>
        </p:txBody>
      </p:sp>
      <p:sp>
        <p:nvSpPr>
          <p:cNvPr id="1095" name="Google Shape;1095;g3bdc901c36c_0_894"/>
          <p:cNvSpPr txBox="1"/>
          <p:nvPr/>
        </p:nvSpPr>
        <p:spPr>
          <a:xfrm>
            <a:off x="4203081" y="5650468"/>
            <a:ext cx="441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96</a:t>
            </a:r>
            <a:endParaRPr b="0" i="0" sz="1800" u="none" cap="none" strike="noStrike">
              <a:solidFill>
                <a:schemeClr val="dk1"/>
              </a:solidFill>
              <a:latin typeface="Arial"/>
              <a:ea typeface="Arial"/>
              <a:cs typeface="Arial"/>
              <a:sym typeface="Arial"/>
            </a:endParaRPr>
          </a:p>
        </p:txBody>
      </p:sp>
      <p:sp>
        <p:nvSpPr>
          <p:cNvPr id="1096" name="Google Shape;1096;g3bdc901c36c_0_894"/>
          <p:cNvSpPr/>
          <p:nvPr/>
        </p:nvSpPr>
        <p:spPr>
          <a:xfrm>
            <a:off x="5923346" y="3352800"/>
            <a:ext cx="1011000" cy="147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 e.g. 128 5x5x96 filters</a:t>
            </a:r>
            <a:endParaRPr b="0" i="0" sz="1800" u="none" cap="none" strike="noStrike">
              <a:solidFill>
                <a:schemeClr val="dk1"/>
              </a:solidFill>
              <a:latin typeface="Arial"/>
              <a:ea typeface="Arial"/>
              <a:cs typeface="Arial"/>
              <a:sym typeface="Arial"/>
            </a:endParaRPr>
          </a:p>
        </p:txBody>
      </p:sp>
      <p:cxnSp>
        <p:nvCxnSpPr>
          <p:cNvPr id="1097" name="Google Shape;1097;g3bdc901c36c_0_894"/>
          <p:cNvCxnSpPr/>
          <p:nvPr/>
        </p:nvCxnSpPr>
        <p:spPr>
          <a:xfrm>
            <a:off x="5943600" y="3276600"/>
            <a:ext cx="914400" cy="0"/>
          </a:xfrm>
          <a:prstGeom prst="straightConnector1">
            <a:avLst/>
          </a:prstGeom>
          <a:noFill/>
          <a:ln cap="flat" cmpd="sng" w="9525">
            <a:solidFill>
              <a:srgbClr val="4A7DBA"/>
            </a:solidFill>
            <a:prstDash val="solid"/>
            <a:round/>
            <a:headEnd len="sm" w="sm" type="none"/>
            <a:tailEnd len="med" w="med" type="stealth"/>
          </a:ln>
        </p:spPr>
      </p:cxnSp>
      <p:sp>
        <p:nvSpPr>
          <p:cNvPr id="1098" name="Google Shape;1098;g3bdc901c36c_0_894"/>
          <p:cNvSpPr/>
          <p:nvPr/>
        </p:nvSpPr>
        <p:spPr>
          <a:xfrm>
            <a:off x="6845920" y="1524000"/>
            <a:ext cx="1600200" cy="4167600"/>
          </a:xfrm>
          <a:prstGeom prst="cube">
            <a:avLst>
              <a:gd fmla="val 83348" name="adj"/>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1099" name="Google Shape;1099;g3bdc901c36c_0_894"/>
          <p:cNvSpPr txBox="1"/>
          <p:nvPr/>
        </p:nvSpPr>
        <p:spPr>
          <a:xfrm>
            <a:off x="7776374" y="4964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24</a:t>
            </a:r>
            <a:endParaRPr b="0" i="0" sz="1800" u="none" cap="none" strike="noStrike">
              <a:solidFill>
                <a:schemeClr val="dk1"/>
              </a:solidFill>
              <a:latin typeface="Arial"/>
              <a:ea typeface="Arial"/>
              <a:cs typeface="Arial"/>
              <a:sym typeface="Arial"/>
            </a:endParaRPr>
          </a:p>
        </p:txBody>
      </p:sp>
      <p:sp>
        <p:nvSpPr>
          <p:cNvPr id="1100" name="Google Shape;1100;g3bdc901c36c_0_894"/>
          <p:cNvSpPr txBox="1"/>
          <p:nvPr/>
        </p:nvSpPr>
        <p:spPr>
          <a:xfrm>
            <a:off x="7074520" y="4202668"/>
            <a:ext cx="44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24</a:t>
            </a:r>
            <a:endParaRPr b="0" i="0" sz="1800" u="none" cap="none" strike="noStrike">
              <a:solidFill>
                <a:schemeClr val="dk1"/>
              </a:solidFill>
              <a:latin typeface="Arial"/>
              <a:ea typeface="Arial"/>
              <a:cs typeface="Arial"/>
              <a:sym typeface="Arial"/>
            </a:endParaRPr>
          </a:p>
        </p:txBody>
      </p:sp>
      <p:sp>
        <p:nvSpPr>
          <p:cNvPr id="1101" name="Google Shape;1101;g3bdc901c36c_0_894"/>
          <p:cNvSpPr txBox="1"/>
          <p:nvPr/>
        </p:nvSpPr>
        <p:spPr>
          <a:xfrm>
            <a:off x="6717680" y="5650468"/>
            <a:ext cx="5694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128</a:t>
            </a:r>
            <a:endParaRPr b="0" i="0" sz="1800" u="none" cap="none" strike="noStrike">
              <a:solidFill>
                <a:schemeClr val="dk1"/>
              </a:solidFill>
              <a:latin typeface="Arial"/>
              <a:ea typeface="Arial"/>
              <a:cs typeface="Arial"/>
              <a:sym typeface="Arial"/>
            </a:endParaRPr>
          </a:p>
        </p:txBody>
      </p:sp>
      <p:sp>
        <p:nvSpPr>
          <p:cNvPr id="1102" name="Google Shape;1102;g3bdc901c36c_0_894"/>
          <p:cNvSpPr/>
          <p:nvPr/>
        </p:nvSpPr>
        <p:spPr>
          <a:xfrm>
            <a:off x="8502066" y="3352800"/>
            <a:ext cx="10110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CONV</a:t>
            </a:r>
            <a:endParaRPr b="0" i="0" sz="1800" u="none" cap="none" strike="noStrike">
              <a:solidFill>
                <a:schemeClr val="dk1"/>
              </a:solidFill>
              <a:latin typeface="Arial"/>
              <a:ea typeface="Arial"/>
              <a:cs typeface="Arial"/>
              <a:sym typeface="Arial"/>
            </a:endParaRPr>
          </a:p>
        </p:txBody>
      </p:sp>
      <p:cxnSp>
        <p:nvCxnSpPr>
          <p:cNvPr id="1103" name="Google Shape;1103;g3bdc901c36c_0_894"/>
          <p:cNvCxnSpPr/>
          <p:nvPr/>
        </p:nvCxnSpPr>
        <p:spPr>
          <a:xfrm>
            <a:off x="8522320" y="3276600"/>
            <a:ext cx="914400" cy="0"/>
          </a:xfrm>
          <a:prstGeom prst="straightConnector1">
            <a:avLst/>
          </a:prstGeom>
          <a:noFill/>
          <a:ln cap="flat" cmpd="sng" w="9525">
            <a:solidFill>
              <a:srgbClr val="4A7DBA"/>
            </a:solidFill>
            <a:prstDash val="solid"/>
            <a:round/>
            <a:headEnd len="sm" w="sm" type="none"/>
            <a:tailEnd len="med" w="med" type="stealth"/>
          </a:ln>
        </p:spPr>
      </p:cxnSp>
      <p:sp>
        <p:nvSpPr>
          <p:cNvPr id="1104" name="Google Shape;1104;g3bdc901c36c_0_894"/>
          <p:cNvSpPr txBox="1"/>
          <p:nvPr/>
        </p:nvSpPr>
        <p:spPr>
          <a:xfrm>
            <a:off x="9589120" y="2895601"/>
            <a:ext cx="926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IN" sz="3200" u="none" cap="none" strike="noStrike">
                <a:solidFill>
                  <a:schemeClr val="dk1"/>
                </a:solidFill>
                <a:latin typeface="Arial"/>
                <a:ea typeface="Arial"/>
                <a:cs typeface="Arial"/>
                <a:sym typeface="Arial"/>
              </a:rPr>
              <a:t>. .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g3bdc901c36c_0_91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1110" name="Google Shape;1110;g3bdc901c36c_0_917"/>
          <p:cNvPicPr preferRelativeResize="0"/>
          <p:nvPr/>
        </p:nvPicPr>
        <p:blipFill rotWithShape="1">
          <a:blip r:embed="rId3">
            <a:alphaModFix/>
          </a:blip>
          <a:srcRect b="0" l="0" r="0" t="0"/>
          <a:stretch/>
        </p:blipFill>
        <p:spPr>
          <a:xfrm>
            <a:off x="235720" y="1190025"/>
            <a:ext cx="11571500" cy="49868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g3bdc901c36c_0_922"/>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116" name="Google Shape;1116;g3bdc901c36c_0_922"/>
          <p:cNvSpPr txBox="1"/>
          <p:nvPr>
            <p:ph idx="1" type="body"/>
          </p:nvPr>
        </p:nvSpPr>
        <p:spPr>
          <a:xfrm>
            <a:off x="189186" y="410966"/>
            <a:ext cx="11887200" cy="5766000"/>
          </a:xfrm>
          <a:prstGeom prst="rect">
            <a:avLst/>
          </a:prstGeom>
          <a:noFill/>
          <a:ln>
            <a:noFill/>
          </a:ln>
        </p:spPr>
        <p:txBody>
          <a:bodyPr anchorCtr="0" anchor="t" bIns="45700" lIns="91425" spcFirstLastPara="1" rIns="91425" wrap="square" tIns="45700">
            <a:noAutofit/>
          </a:bodyPr>
          <a:lstStyle/>
          <a:p>
            <a:pPr indent="0" lvl="0" marL="50800" rtl="0" algn="l">
              <a:lnSpc>
                <a:spcPct val="90000"/>
              </a:lnSpc>
              <a:spcBef>
                <a:spcPts val="1000"/>
              </a:spcBef>
              <a:spcAft>
                <a:spcPts val="0"/>
              </a:spcAft>
              <a:buSzPts val="2800"/>
              <a:buNone/>
            </a:pPr>
            <a:r>
              <a:rPr lang="en-IN"/>
              <a:t>Number of parameters is independent of image size</a:t>
            </a:r>
            <a:endParaRPr/>
          </a:p>
          <a:p>
            <a:pPr indent="0" lvl="0" marL="50800" rtl="0" algn="l">
              <a:lnSpc>
                <a:spcPct val="90000"/>
              </a:lnSpc>
              <a:spcBef>
                <a:spcPts val="1000"/>
              </a:spcBef>
              <a:spcAft>
                <a:spcPts val="0"/>
              </a:spcAft>
              <a:buSzPts val="2800"/>
              <a:buNone/>
            </a:pPr>
            <a:r>
              <a:t/>
            </a:r>
            <a:endParaRPr/>
          </a:p>
          <a:p>
            <a:pPr indent="0" lvl="0" marL="50800" rtl="0" algn="just">
              <a:lnSpc>
                <a:spcPct val="90000"/>
              </a:lnSpc>
              <a:spcBef>
                <a:spcPts val="1000"/>
              </a:spcBef>
              <a:spcAft>
                <a:spcPts val="0"/>
              </a:spcAft>
              <a:buSzPts val="2800"/>
              <a:buNone/>
            </a:pPr>
            <a:r>
              <a:rPr lang="en-IN"/>
              <a:t>The input image could be 1000×1000 or 5000×5000, but the number of parameters we have remains 280. </a:t>
            </a:r>
            <a:endParaRPr/>
          </a:p>
          <a:p>
            <a:pPr indent="0" lvl="0" marL="50800" rtl="0" algn="just">
              <a:lnSpc>
                <a:spcPct val="90000"/>
              </a:lnSpc>
              <a:spcBef>
                <a:spcPts val="1000"/>
              </a:spcBef>
              <a:spcAft>
                <a:spcPts val="0"/>
              </a:spcAft>
              <a:buSzPts val="2800"/>
              <a:buNone/>
            </a:pPr>
            <a:r>
              <a:rPr lang="en-IN"/>
              <a:t>We can use these ten filters to detect features: vertical edges, horizontal edges, maybe other features anywhere even in the very large image with just a very small number of parameters. </a:t>
            </a:r>
            <a:endParaRPr/>
          </a:p>
          <a:p>
            <a:pPr indent="0" lvl="0" marL="50800" rtl="0" algn="just">
              <a:lnSpc>
                <a:spcPct val="90000"/>
              </a:lnSpc>
              <a:spcBef>
                <a:spcPts val="1000"/>
              </a:spcBef>
              <a:spcAft>
                <a:spcPts val="0"/>
              </a:spcAft>
              <a:buSzPts val="2800"/>
              <a:buNone/>
            </a:pPr>
            <a:r>
              <a:rPr lang="en-IN"/>
              <a:t>This is really one property of convolutional neural nets that makes them less prone to overfitting. </a:t>
            </a:r>
            <a:endParaRPr/>
          </a:p>
          <a:p>
            <a:pPr indent="0" lvl="0" marL="50800" rtl="0" algn="just">
              <a:lnSpc>
                <a:spcPct val="90000"/>
              </a:lnSpc>
              <a:spcBef>
                <a:spcPts val="1000"/>
              </a:spcBef>
              <a:spcAft>
                <a:spcPts val="0"/>
              </a:spcAft>
              <a:buSzPts val="2800"/>
              <a:buNone/>
            </a:pPr>
            <a:r>
              <a:rPr lang="en-IN"/>
              <a:t>So, once we learn ten feature detectors that work, we could apply this even to very large images and the number of parameters also remains fixed and relatively small as 280 in this example.</a:t>
            </a:r>
            <a:endParaRPr/>
          </a:p>
          <a:p>
            <a:pPr indent="0" lvl="0" marL="50800" rtl="0" algn="l">
              <a:lnSpc>
                <a:spcPct val="90000"/>
              </a:lnSpc>
              <a:spcBef>
                <a:spcPts val="1000"/>
              </a:spcBef>
              <a:spcAft>
                <a:spcPts val="0"/>
              </a:spcAft>
              <a:buSzPts val="2800"/>
              <a:buNone/>
            </a:pPr>
            <a:r>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bdc901c36c_0_927"/>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122" name="Google Shape;1122;g3bdc901c36c_0_927"/>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1123" name="Google Shape;1123;g3bdc901c36c_0_927"/>
          <p:cNvPicPr preferRelativeResize="0"/>
          <p:nvPr/>
        </p:nvPicPr>
        <p:blipFill rotWithShape="1">
          <a:blip r:embed="rId3">
            <a:alphaModFix/>
          </a:blip>
          <a:srcRect b="0" l="0" r="0" t="0"/>
          <a:stretch/>
        </p:blipFill>
        <p:spPr>
          <a:xfrm>
            <a:off x="340225" y="130513"/>
            <a:ext cx="11439525" cy="5895975"/>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c855fc5900_0_0"/>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1129" name="Google Shape;1129;g3c855fc5900_0_0"/>
          <p:cNvPicPr preferRelativeResize="0"/>
          <p:nvPr/>
        </p:nvPicPr>
        <p:blipFill rotWithShape="1">
          <a:blip r:embed="rId3">
            <a:alphaModFix/>
          </a:blip>
          <a:srcRect b="0" l="0" r="37841" t="0"/>
          <a:stretch/>
        </p:blipFill>
        <p:spPr>
          <a:xfrm>
            <a:off x="834000" y="218325"/>
            <a:ext cx="7110424" cy="589597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g3bdc901c36c_0_933"/>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pic>
        <p:nvPicPr>
          <p:cNvPr id="1135" name="Google Shape;1135;g3bdc901c36c_0_933"/>
          <p:cNvPicPr preferRelativeResize="0"/>
          <p:nvPr/>
        </p:nvPicPr>
        <p:blipFill rotWithShape="1">
          <a:blip r:embed="rId3">
            <a:alphaModFix/>
          </a:blip>
          <a:srcRect b="0" l="0" r="0" t="0"/>
          <a:stretch/>
        </p:blipFill>
        <p:spPr>
          <a:xfrm>
            <a:off x="435450" y="224336"/>
            <a:ext cx="10641425" cy="62468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g3bdc901c36c_0_938"/>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141" name="Google Shape;1141;g3bdc901c36c_0_938"/>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1142" name="Google Shape;1142;g3bdc901c36c_0_938"/>
          <p:cNvPicPr preferRelativeResize="0"/>
          <p:nvPr/>
        </p:nvPicPr>
        <p:blipFill rotWithShape="1">
          <a:blip r:embed="rId3">
            <a:alphaModFix/>
          </a:blip>
          <a:srcRect b="0" l="0" r="0" t="0"/>
          <a:stretch/>
        </p:blipFill>
        <p:spPr>
          <a:xfrm>
            <a:off x="402150" y="175113"/>
            <a:ext cx="11315700" cy="629602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g3bdc901c36c_0_944"/>
          <p:cNvSpPr txBox="1"/>
          <p:nvPr>
            <p:ph idx="12" type="sldNum"/>
          </p:nvPr>
        </p:nvSpPr>
        <p:spPr>
          <a:xfrm>
            <a:off x="8610600" y="6356350"/>
            <a:ext cx="2743200" cy="3651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IN"/>
              <a:t>‹#›</a:t>
            </a:fld>
            <a:endParaRPr/>
          </a:p>
        </p:txBody>
      </p:sp>
      <p:sp>
        <p:nvSpPr>
          <p:cNvPr id="1148" name="Google Shape;1148;g3bdc901c36c_0_944"/>
          <p:cNvSpPr txBox="1"/>
          <p:nvPr>
            <p:ph idx="1" type="body"/>
          </p:nvPr>
        </p:nvSpPr>
        <p:spPr>
          <a:xfrm>
            <a:off x="189186" y="1825625"/>
            <a:ext cx="11887200" cy="43512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90000"/>
              </a:lnSpc>
              <a:spcBef>
                <a:spcPts val="1000"/>
              </a:spcBef>
              <a:spcAft>
                <a:spcPts val="0"/>
              </a:spcAft>
              <a:buClr>
                <a:schemeClr val="dk1"/>
              </a:buClr>
              <a:buSzPts val="2800"/>
              <a:buFont typeface="Arial"/>
              <a:buNone/>
            </a:pPr>
            <a:r>
              <a:t/>
            </a:r>
            <a:endParaRPr/>
          </a:p>
        </p:txBody>
      </p:sp>
      <p:pic>
        <p:nvPicPr>
          <p:cNvPr id="1149" name="Google Shape;1149;g3bdc901c36c_0_944"/>
          <p:cNvPicPr preferRelativeResize="0"/>
          <p:nvPr/>
        </p:nvPicPr>
        <p:blipFill rotWithShape="1">
          <a:blip r:embed="rId3">
            <a:alphaModFix/>
          </a:blip>
          <a:srcRect b="0" l="0" r="0" t="0"/>
          <a:stretch/>
        </p:blipFill>
        <p:spPr>
          <a:xfrm>
            <a:off x="656225" y="308600"/>
            <a:ext cx="9345851" cy="62408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grpSp>
        <p:nvGrpSpPr>
          <p:cNvPr id="1154" name="Google Shape;1154;p33"/>
          <p:cNvGrpSpPr/>
          <p:nvPr/>
        </p:nvGrpSpPr>
        <p:grpSpPr>
          <a:xfrm>
            <a:off x="390331" y="3303037"/>
            <a:ext cx="3406740" cy="2295330"/>
            <a:chOff x="390331" y="3303037"/>
            <a:chExt cx="3406740" cy="2295330"/>
          </a:xfrm>
        </p:grpSpPr>
        <p:pic>
          <p:nvPicPr>
            <p:cNvPr id="1155" name="Google Shape;1155;p33"/>
            <p:cNvPicPr preferRelativeResize="0"/>
            <p:nvPr/>
          </p:nvPicPr>
          <p:blipFill rotWithShape="1">
            <a:blip r:embed="rId3">
              <a:alphaModFix/>
            </a:blip>
            <a:srcRect b="0" l="0" r="0" t="0"/>
            <a:stretch/>
          </p:blipFill>
          <p:spPr>
            <a:xfrm>
              <a:off x="390331" y="3303037"/>
              <a:ext cx="2328120" cy="2295330"/>
            </a:xfrm>
            <a:prstGeom prst="rect">
              <a:avLst/>
            </a:prstGeom>
            <a:noFill/>
            <a:ln>
              <a:noFill/>
            </a:ln>
          </p:spPr>
        </p:pic>
        <p:pic>
          <p:nvPicPr>
            <p:cNvPr id="1156" name="Google Shape;1156;p33"/>
            <p:cNvPicPr preferRelativeResize="0"/>
            <p:nvPr/>
          </p:nvPicPr>
          <p:blipFill rotWithShape="1">
            <a:blip r:embed="rId4">
              <a:alphaModFix/>
            </a:blip>
            <a:srcRect b="0" l="5811" r="4101" t="6411"/>
            <a:stretch/>
          </p:blipFill>
          <p:spPr>
            <a:xfrm>
              <a:off x="2836017" y="3873648"/>
              <a:ext cx="961054" cy="944923"/>
            </a:xfrm>
            <a:prstGeom prst="rect">
              <a:avLst/>
            </a:prstGeom>
            <a:noFill/>
            <a:ln>
              <a:noFill/>
            </a:ln>
          </p:spPr>
        </p:pic>
      </p:grpSp>
      <p:sp>
        <p:nvSpPr>
          <p:cNvPr id="1157" name="Google Shape;1157;p33"/>
          <p:cNvSpPr/>
          <p:nvPr/>
        </p:nvSpPr>
        <p:spPr>
          <a:xfrm>
            <a:off x="510073" y="6014778"/>
            <a:ext cx="11003902"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200">
                <a:solidFill>
                  <a:schemeClr val="dk1"/>
                </a:solidFill>
                <a:latin typeface="Bookman Old Style"/>
                <a:ea typeface="Bookman Old Style"/>
                <a:cs typeface="Bookman Old Style"/>
                <a:sym typeface="Bookman Old Style"/>
              </a:rPr>
              <a:t>model.add(Conv2D(32,(3,3),input_shape=(64,64,3),activation='relu'))</a:t>
            </a:r>
            <a:endParaRPr/>
          </a:p>
        </p:txBody>
      </p:sp>
      <p:sp>
        <p:nvSpPr>
          <p:cNvPr id="1158" name="Google Shape;115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159" name="Google Shape;115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160" name="Google Shape;116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grpSp>
        <p:nvGrpSpPr>
          <p:cNvPr id="1161" name="Google Shape;1161;p33"/>
          <p:cNvGrpSpPr/>
          <p:nvPr/>
        </p:nvGrpSpPr>
        <p:grpSpPr>
          <a:xfrm>
            <a:off x="390331" y="664949"/>
            <a:ext cx="11627702" cy="2792288"/>
            <a:chOff x="1155441" y="3620259"/>
            <a:chExt cx="11627702" cy="2792288"/>
          </a:xfrm>
        </p:grpSpPr>
        <p:grpSp>
          <p:nvGrpSpPr>
            <p:cNvPr id="1162" name="Google Shape;1162;p33"/>
            <p:cNvGrpSpPr/>
            <p:nvPr/>
          </p:nvGrpSpPr>
          <p:grpSpPr>
            <a:xfrm>
              <a:off x="1155441" y="3620259"/>
              <a:ext cx="11627702" cy="2792288"/>
              <a:chOff x="390331" y="288703"/>
              <a:chExt cx="11627702" cy="2792288"/>
            </a:xfrm>
          </p:grpSpPr>
          <p:pic>
            <p:nvPicPr>
              <p:cNvPr id="1163" name="Google Shape;1163;p33"/>
              <p:cNvPicPr preferRelativeResize="0"/>
              <p:nvPr/>
            </p:nvPicPr>
            <p:blipFill rotWithShape="1">
              <a:blip r:embed="rId5">
                <a:alphaModFix/>
              </a:blip>
              <a:srcRect b="0" l="0" r="0" t="0"/>
              <a:stretch/>
            </p:blipFill>
            <p:spPr>
              <a:xfrm>
                <a:off x="390331" y="486536"/>
                <a:ext cx="2320883" cy="2247334"/>
              </a:xfrm>
              <a:prstGeom prst="rect">
                <a:avLst/>
              </a:prstGeom>
              <a:noFill/>
              <a:ln>
                <a:noFill/>
              </a:ln>
            </p:spPr>
          </p:pic>
          <p:pic>
            <p:nvPicPr>
              <p:cNvPr id="1164" name="Google Shape;1164;p33"/>
              <p:cNvPicPr preferRelativeResize="0"/>
              <p:nvPr/>
            </p:nvPicPr>
            <p:blipFill rotWithShape="1">
              <a:blip r:embed="rId6">
                <a:alphaModFix/>
              </a:blip>
              <a:srcRect b="6795" l="0" r="5576" t="3563"/>
              <a:stretch/>
            </p:blipFill>
            <p:spPr>
              <a:xfrm>
                <a:off x="2836017" y="979713"/>
                <a:ext cx="971341" cy="905071"/>
              </a:xfrm>
              <a:prstGeom prst="rect">
                <a:avLst/>
              </a:prstGeom>
              <a:noFill/>
              <a:ln>
                <a:noFill/>
              </a:ln>
            </p:spPr>
          </p:pic>
          <p:pic>
            <p:nvPicPr>
              <p:cNvPr id="1165" name="Google Shape;1165;p33"/>
              <p:cNvPicPr preferRelativeResize="0"/>
              <p:nvPr/>
            </p:nvPicPr>
            <p:blipFill rotWithShape="1">
              <a:blip r:embed="rId7">
                <a:alphaModFix/>
              </a:blip>
              <a:srcRect b="0" l="0" r="0" t="0"/>
              <a:stretch/>
            </p:blipFill>
            <p:spPr>
              <a:xfrm>
                <a:off x="3932161" y="486536"/>
                <a:ext cx="3347283" cy="2396623"/>
              </a:xfrm>
              <a:prstGeom prst="rect">
                <a:avLst/>
              </a:prstGeom>
              <a:noFill/>
              <a:ln>
                <a:noFill/>
              </a:ln>
            </p:spPr>
          </p:pic>
          <p:pic>
            <p:nvPicPr>
              <p:cNvPr id="1166" name="Google Shape;1166;p33"/>
              <p:cNvPicPr preferRelativeResize="0"/>
              <p:nvPr/>
            </p:nvPicPr>
            <p:blipFill rotWithShape="1">
              <a:blip r:embed="rId8">
                <a:alphaModFix/>
              </a:blip>
              <a:srcRect b="0" l="48580" r="0" t="0"/>
              <a:stretch/>
            </p:blipFill>
            <p:spPr>
              <a:xfrm>
                <a:off x="7404247" y="288703"/>
                <a:ext cx="4613786" cy="2792288"/>
              </a:xfrm>
              <a:prstGeom prst="rect">
                <a:avLst/>
              </a:prstGeom>
              <a:noFill/>
              <a:ln>
                <a:noFill/>
              </a:ln>
            </p:spPr>
          </p:pic>
        </p:grpSp>
        <p:pic>
          <p:nvPicPr>
            <p:cNvPr id="1167" name="Google Shape;1167;p33"/>
            <p:cNvPicPr preferRelativeResize="0"/>
            <p:nvPr/>
          </p:nvPicPr>
          <p:blipFill rotWithShape="1">
            <a:blip r:embed="rId9">
              <a:alphaModFix/>
            </a:blip>
            <a:srcRect b="0" l="0" r="0" t="0"/>
            <a:stretch/>
          </p:blipFill>
          <p:spPr>
            <a:xfrm>
              <a:off x="12366431" y="6014778"/>
              <a:ext cx="368491" cy="268305"/>
            </a:xfrm>
            <a:prstGeom prst="rect">
              <a:avLst/>
            </a:prstGeom>
            <a:noFill/>
            <a:ln>
              <a:noFill/>
            </a:ln>
          </p:spPr>
        </p:pic>
      </p:grpSp>
      <p:sp>
        <p:nvSpPr>
          <p:cNvPr id="1168" name="Google Shape;1168;p33"/>
          <p:cNvSpPr/>
          <p:nvPr/>
        </p:nvSpPr>
        <p:spPr>
          <a:xfrm>
            <a:off x="390331" y="93341"/>
            <a:ext cx="166263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4400">
                <a:solidFill>
                  <a:schemeClr val="dk1"/>
                </a:solidFill>
                <a:latin typeface="Bookman Old Style"/>
                <a:ea typeface="Bookman Old Style"/>
                <a:cs typeface="Bookman Old Style"/>
                <a:sym typeface="Bookman Old Style"/>
              </a:rPr>
              <a:t>ReLU</a:t>
            </a:r>
            <a:endParaRPr sz="440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34"/>
          <p:cNvSpPr txBox="1"/>
          <p:nvPr>
            <p:ph type="title"/>
          </p:nvPr>
        </p:nvSpPr>
        <p:spPr>
          <a:xfrm>
            <a:off x="325017" y="3206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Calculating Number of Parameters</a:t>
            </a:r>
            <a:endParaRPr/>
          </a:p>
        </p:txBody>
      </p:sp>
      <p:sp>
        <p:nvSpPr>
          <p:cNvPr id="1174" name="Google Shape;1174;p34"/>
          <p:cNvSpPr txBox="1"/>
          <p:nvPr>
            <p:ph idx="1" type="body"/>
          </p:nvPr>
        </p:nvSpPr>
        <p:spPr>
          <a:xfrm>
            <a:off x="325017" y="1825625"/>
            <a:ext cx="10515600" cy="4351338"/>
          </a:xfrm>
          <a:prstGeom prst="rect">
            <a:avLst/>
          </a:prstGeom>
          <a:blipFill rotWithShape="1">
            <a:blip r:embed="rId3">
              <a:alphaModFix/>
            </a:blip>
            <a:stretch>
              <a:fillRect b="0" l="-1042" r="0" t="-22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sp>
        <p:nvSpPr>
          <p:cNvPr id="1175" name="Google Shape;117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176" name="Google Shape;117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177" name="Google Shape;117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35"/>
          <p:cNvSpPr txBox="1"/>
          <p:nvPr>
            <p:ph type="title"/>
          </p:nvPr>
        </p:nvSpPr>
        <p:spPr>
          <a:xfrm>
            <a:off x="455645" y="36697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Example</a:t>
            </a:r>
            <a:endParaRPr>
              <a:latin typeface="Bookman Old Style"/>
              <a:ea typeface="Bookman Old Style"/>
              <a:cs typeface="Bookman Old Style"/>
              <a:sym typeface="Bookman Old Style"/>
            </a:endParaRPr>
          </a:p>
        </p:txBody>
      </p:sp>
      <p:sp>
        <p:nvSpPr>
          <p:cNvPr id="1183" name="Google Shape;1183;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184" name="Google Shape;1184;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185" name="Google Shape;118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186" name="Google Shape;1186;p35"/>
          <p:cNvSpPr txBox="1"/>
          <p:nvPr>
            <p:ph idx="1" type="body"/>
          </p:nvPr>
        </p:nvSpPr>
        <p:spPr>
          <a:xfrm>
            <a:off x="455645" y="1690688"/>
            <a:ext cx="10515600" cy="4608441"/>
          </a:xfrm>
          <a:prstGeom prst="rect">
            <a:avLst/>
          </a:prstGeom>
          <a:blipFill rotWithShape="1">
            <a:blip r:embed="rId3">
              <a:alphaModFix/>
            </a:blip>
            <a:stretch>
              <a:fillRect b="-2645" l="-1216" r="0" t="-2248"/>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graphicFrame>
        <p:nvGraphicFramePr>
          <p:cNvPr id="1191" name="Google Shape;1191;p36"/>
          <p:cNvGraphicFramePr/>
          <p:nvPr/>
        </p:nvGraphicFramePr>
        <p:xfrm>
          <a:off x="698240" y="2161297"/>
          <a:ext cx="3000000" cy="3000000"/>
        </p:xfrm>
        <a:graphic>
          <a:graphicData uri="http://schemas.openxmlformats.org/drawingml/2006/table">
            <a:tbl>
              <a:tblPr>
                <a:noFill/>
                <a:tableStyleId>{B53031AC-4534-4363-868B-00DCF4DB5E0C}</a:tableStyleId>
              </a:tblPr>
              <a:tblGrid>
                <a:gridCol w="1298500"/>
                <a:gridCol w="1539550"/>
                <a:gridCol w="1875450"/>
                <a:gridCol w="1940775"/>
                <a:gridCol w="3861325"/>
              </a:tblGrid>
              <a:tr h="228600">
                <a:tc>
                  <a:txBody>
                    <a:bodyPr/>
                    <a:lstStyle/>
                    <a:p>
                      <a:pPr indent="0" lvl="0" marL="0" marR="0" rtl="0" algn="l">
                        <a:spcBef>
                          <a:spcPts val="0"/>
                        </a:spcBef>
                        <a:spcAft>
                          <a:spcPts val="0"/>
                        </a:spcAft>
                        <a:buNone/>
                      </a:pPr>
                      <a:r>
                        <a:rPr lang="en-IN" sz="1800" u="none" cap="none" strike="noStrike">
                          <a:latin typeface="Bookman Old Style"/>
                          <a:ea typeface="Bookman Old Style"/>
                          <a:cs typeface="Bookman Old Style"/>
                          <a:sym typeface="Bookman Old Style"/>
                        </a:rPr>
                        <a:t>Layer</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Filter Size</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Input Channels</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Output Filters</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Total Parameters</a:t>
                      </a:r>
                      <a:endParaRPr/>
                    </a:p>
                  </a:txBody>
                  <a:tcPr marT="45725" marB="45725" marR="91450" marL="91450" anchor="ctr"/>
                </a:tc>
              </a:tr>
              <a:tr h="228600">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Conv1</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3×3</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3</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64</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800"/>
                        <a:buFont typeface="Bookman Old Style"/>
                        <a:buNone/>
                      </a:pPr>
                      <a:r>
                        <a:rPr lang="en-IN" sz="1800">
                          <a:latin typeface="Bookman Old Style"/>
                          <a:ea typeface="Bookman Old Style"/>
                          <a:cs typeface="Bookman Old Style"/>
                          <a:sym typeface="Bookman Old Style"/>
                        </a:rPr>
                        <a:t>(3×3×3 + 1) × 64 = 1,792</a:t>
                      </a:r>
                      <a:endParaRPr/>
                    </a:p>
                  </a:txBody>
                  <a:tcPr marT="45725" marB="45725" marR="91450" marL="91450" anchor="ctr"/>
                </a:tc>
              </a:tr>
              <a:tr h="228600">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Conv2</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5×5</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64</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128</a:t>
                      </a:r>
                      <a:endParaRPr/>
                    </a:p>
                  </a:txBody>
                  <a:tcPr marT="45725" marB="45725" marR="91450" marL="91450" anchor="ctr"/>
                </a:tc>
                <a:tc>
                  <a:txBody>
                    <a:bodyPr/>
                    <a:lstStyle/>
                    <a:p>
                      <a:pPr indent="0" lvl="0" marL="0" marR="0" rtl="0" algn="l">
                        <a:spcBef>
                          <a:spcPts val="0"/>
                        </a:spcBef>
                        <a:spcAft>
                          <a:spcPts val="0"/>
                        </a:spcAft>
                        <a:buNone/>
                      </a:pPr>
                      <a:r>
                        <a:rPr lang="en-IN" sz="1800">
                          <a:latin typeface="Bookman Old Style"/>
                          <a:ea typeface="Bookman Old Style"/>
                          <a:cs typeface="Bookman Old Style"/>
                          <a:sym typeface="Bookman Old Style"/>
                        </a:rPr>
                        <a:t>(5×5×64 + 1) × 128 = 204,928</a:t>
                      </a:r>
                      <a:endParaRPr/>
                    </a:p>
                  </a:txBody>
                  <a:tcPr marT="45725" marB="45725" marR="91450" marL="91450" anchor="ctr"/>
                </a:tc>
              </a:tr>
            </a:tbl>
          </a:graphicData>
        </a:graphic>
      </p:graphicFrame>
      <p:sp>
        <p:nvSpPr>
          <p:cNvPr id="1192" name="Google Shape;119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193" name="Google Shape;119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194" name="Google Shape;119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37"/>
          <p:cNvSpPr txBox="1"/>
          <p:nvPr>
            <p:ph type="title"/>
          </p:nvPr>
        </p:nvSpPr>
        <p:spPr>
          <a:xfrm>
            <a:off x="214604" y="365125"/>
            <a:ext cx="118872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Calculating the output when an image passes through a Convolutional layer</a:t>
            </a:r>
            <a:endParaRPr>
              <a:latin typeface="Bookman Old Style"/>
              <a:ea typeface="Bookman Old Style"/>
              <a:cs typeface="Bookman Old Style"/>
              <a:sym typeface="Bookman Old Style"/>
            </a:endParaRPr>
          </a:p>
        </p:txBody>
      </p:sp>
      <p:sp>
        <p:nvSpPr>
          <p:cNvPr id="1200" name="Google Shape;120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01" name="Google Shape;120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02" name="Google Shape;120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03" name="Google Shape;1203;p37"/>
          <p:cNvSpPr txBox="1"/>
          <p:nvPr/>
        </p:nvSpPr>
        <p:spPr>
          <a:xfrm>
            <a:off x="418323" y="2005012"/>
            <a:ext cx="10515600" cy="4351338"/>
          </a:xfrm>
          <a:prstGeom prst="rect">
            <a:avLst/>
          </a:prstGeom>
          <a:blipFill rotWithShape="1">
            <a:blip r:embed="rId3">
              <a:alphaModFix/>
            </a:blip>
            <a:stretch>
              <a:fillRect b="-978" l="-1216" r="-636" t="-36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3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Example</a:t>
            </a:r>
            <a:endParaRPr>
              <a:latin typeface="Bookman Old Style"/>
              <a:ea typeface="Bookman Old Style"/>
              <a:cs typeface="Bookman Old Style"/>
              <a:sym typeface="Bookman Old Style"/>
            </a:endParaRPr>
          </a:p>
        </p:txBody>
      </p:sp>
      <p:sp>
        <p:nvSpPr>
          <p:cNvPr id="1209" name="Google Shape;1209;p3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a:latin typeface="Bookman Old Style"/>
                <a:ea typeface="Bookman Old Style"/>
                <a:cs typeface="Bookman Old Style"/>
                <a:sym typeface="Bookman Old Style"/>
              </a:rPr>
              <a:t>Without padding</a:t>
            </a:r>
            <a:endParaRPr>
              <a:latin typeface="Bookman Old Style"/>
              <a:ea typeface="Bookman Old Style"/>
              <a:cs typeface="Bookman Old Style"/>
              <a:sym typeface="Bookman Old Style"/>
            </a:endParaRPr>
          </a:p>
        </p:txBody>
      </p:sp>
      <p:sp>
        <p:nvSpPr>
          <p:cNvPr id="1210" name="Google Shape;1210;p3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a:latin typeface="Bookman Old Style"/>
                <a:ea typeface="Bookman Old Style"/>
                <a:cs typeface="Bookman Old Style"/>
                <a:sym typeface="Bookman Old Style"/>
              </a:rPr>
              <a:t>With padding</a:t>
            </a:r>
            <a:endParaRPr>
              <a:latin typeface="Bookman Old Style"/>
              <a:ea typeface="Bookman Old Style"/>
              <a:cs typeface="Bookman Old Style"/>
              <a:sym typeface="Bookman Old Style"/>
            </a:endParaRPr>
          </a:p>
        </p:txBody>
      </p:sp>
      <p:sp>
        <p:nvSpPr>
          <p:cNvPr id="1211" name="Google Shape;121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12" name="Google Shape;121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13" name="Google Shape;121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14" name="Google Shape;1214;p38"/>
          <p:cNvSpPr txBox="1"/>
          <p:nvPr/>
        </p:nvSpPr>
        <p:spPr>
          <a:xfrm>
            <a:off x="3581400" y="530543"/>
            <a:ext cx="436828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Image: 32 × 32 × 3</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Filter size: 5 × 5</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Number of filters: 6</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Stride = 1</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Padding = 0 </a:t>
            </a:r>
            <a:endParaRPr sz="1800">
              <a:solidFill>
                <a:schemeClr val="dk1"/>
              </a:solidFill>
              <a:latin typeface="Bookman Old Style"/>
              <a:ea typeface="Bookman Old Style"/>
              <a:cs typeface="Bookman Old Style"/>
              <a:sym typeface="Bookman Old Style"/>
            </a:endParaRPr>
          </a:p>
        </p:txBody>
      </p:sp>
      <p:sp>
        <p:nvSpPr>
          <p:cNvPr id="1215" name="Google Shape;1215;p38"/>
          <p:cNvSpPr txBox="1"/>
          <p:nvPr/>
        </p:nvSpPr>
        <p:spPr>
          <a:xfrm>
            <a:off x="6985518" y="530543"/>
            <a:ext cx="436828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Image: 32 × 32 × 3</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Filter size: 5 × 5</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Number of filters: 6</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Stride = 1</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Padding = 2</a:t>
            </a:r>
            <a:endParaRPr sz="180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g3c855fc5900_0_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Example</a:t>
            </a:r>
            <a:endParaRPr>
              <a:latin typeface="Bookman Old Style"/>
              <a:ea typeface="Bookman Old Style"/>
              <a:cs typeface="Bookman Old Style"/>
              <a:sym typeface="Bookman Old Style"/>
            </a:endParaRPr>
          </a:p>
        </p:txBody>
      </p:sp>
      <p:sp>
        <p:nvSpPr>
          <p:cNvPr id="1221" name="Google Shape;1221;g3c855fc5900_0_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a:latin typeface="Bookman Old Style"/>
                <a:ea typeface="Bookman Old Style"/>
                <a:cs typeface="Bookman Old Style"/>
                <a:sym typeface="Bookman Old Style"/>
              </a:rPr>
              <a:t>Without padding</a:t>
            </a:r>
            <a:endParaRPr>
              <a:latin typeface="Bookman Old Style"/>
              <a:ea typeface="Bookman Old Style"/>
              <a:cs typeface="Bookman Old Style"/>
              <a:sym typeface="Bookman Old Style"/>
            </a:endParaRPr>
          </a:p>
        </p:txBody>
      </p:sp>
      <p:sp>
        <p:nvSpPr>
          <p:cNvPr id="1222" name="Google Shape;1222;g3c855fc5900_0_6"/>
          <p:cNvSpPr txBox="1"/>
          <p:nvPr>
            <p:ph idx="2" type="body"/>
          </p:nvPr>
        </p:nvSpPr>
        <p:spPr>
          <a:xfrm>
            <a:off x="643812" y="2505075"/>
            <a:ext cx="5353800" cy="3684600"/>
          </a:xfrm>
          <a:prstGeom prst="rect">
            <a:avLst/>
          </a:prstGeom>
          <a:blipFill rotWithShape="1">
            <a:blip r:embed="rId3">
              <a:alphaModFix/>
            </a:blip>
            <a:stretch>
              <a:fillRect b="0" l="-2389" r="0" t="-32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sp>
        <p:nvSpPr>
          <p:cNvPr id="1223" name="Google Shape;1223;g3c855fc5900_0_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IN">
                <a:latin typeface="Bookman Old Style"/>
                <a:ea typeface="Bookman Old Style"/>
                <a:cs typeface="Bookman Old Style"/>
                <a:sym typeface="Bookman Old Style"/>
              </a:rPr>
              <a:t>With padding</a:t>
            </a:r>
            <a:endParaRPr>
              <a:latin typeface="Bookman Old Style"/>
              <a:ea typeface="Bookman Old Style"/>
              <a:cs typeface="Bookman Old Style"/>
              <a:sym typeface="Bookman Old Style"/>
            </a:endParaRPr>
          </a:p>
        </p:txBody>
      </p:sp>
      <p:sp>
        <p:nvSpPr>
          <p:cNvPr id="1224" name="Google Shape;1224;g3c855fc5900_0_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25" name="Google Shape;1225;g3c855fc5900_0_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26" name="Google Shape;1226;g3c855fc5900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27" name="Google Shape;1227;g3c855fc5900_0_6"/>
          <p:cNvSpPr txBox="1"/>
          <p:nvPr/>
        </p:nvSpPr>
        <p:spPr>
          <a:xfrm>
            <a:off x="3581400" y="530543"/>
            <a:ext cx="43683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Image: 32 × 32 × 3</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Filter size: 5 × 5</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Number of filters: 6</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Stride = 1</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Padding = 0 </a:t>
            </a:r>
            <a:endParaRPr sz="1800">
              <a:solidFill>
                <a:schemeClr val="dk1"/>
              </a:solidFill>
              <a:latin typeface="Bookman Old Style"/>
              <a:ea typeface="Bookman Old Style"/>
              <a:cs typeface="Bookman Old Style"/>
              <a:sym typeface="Bookman Old Style"/>
            </a:endParaRPr>
          </a:p>
        </p:txBody>
      </p:sp>
      <p:sp>
        <p:nvSpPr>
          <p:cNvPr id="1228" name="Google Shape;1228;g3c855fc5900_0_6"/>
          <p:cNvSpPr txBox="1"/>
          <p:nvPr/>
        </p:nvSpPr>
        <p:spPr>
          <a:xfrm>
            <a:off x="6985518" y="530543"/>
            <a:ext cx="43683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Image: 32 × 32 × 3</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Filter size: 5 × 5</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Number of filters: 6</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Stride = 1</a:t>
            </a:r>
            <a:endParaRPr/>
          </a:p>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Padding = 2</a:t>
            </a:r>
            <a:endParaRPr sz="1800">
              <a:solidFill>
                <a:schemeClr val="dk1"/>
              </a:solidFill>
              <a:latin typeface="Bookman Old Style"/>
              <a:ea typeface="Bookman Old Style"/>
              <a:cs typeface="Bookman Old Style"/>
              <a:sym typeface="Bookman Old Style"/>
            </a:endParaRPr>
          </a:p>
        </p:txBody>
      </p:sp>
      <p:sp>
        <p:nvSpPr>
          <p:cNvPr id="1229" name="Google Shape;1229;g3c855fc5900_0_6"/>
          <p:cNvSpPr txBox="1"/>
          <p:nvPr>
            <p:ph idx="2" type="body"/>
          </p:nvPr>
        </p:nvSpPr>
        <p:spPr>
          <a:xfrm>
            <a:off x="6096000" y="2505075"/>
            <a:ext cx="5353800" cy="3684600"/>
          </a:xfrm>
          <a:prstGeom prst="rect">
            <a:avLst/>
          </a:prstGeom>
          <a:blipFill rotWithShape="1">
            <a:blip r:embed="rId4">
              <a:alphaModFix/>
            </a:blip>
            <a:stretch>
              <a:fillRect b="0" l="-2279" r="0" t="-32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Bookman Old Style"/>
              <a:buNone/>
            </a:pPr>
            <a:r>
              <a:rPr lang="en-IN">
                <a:latin typeface="Bookman Old Style"/>
                <a:ea typeface="Bookman Old Style"/>
                <a:cs typeface="Bookman Old Style"/>
                <a:sym typeface="Bookman Old Style"/>
              </a:rPr>
              <a:t>Pooling</a:t>
            </a:r>
            <a:endParaRPr>
              <a:latin typeface="Bookman Old Style"/>
              <a:ea typeface="Bookman Old Style"/>
              <a:cs typeface="Bookman Old Style"/>
              <a:sym typeface="Bookman Old Style"/>
            </a:endParaRPr>
          </a:p>
        </p:txBody>
      </p:sp>
      <p:pic>
        <p:nvPicPr>
          <p:cNvPr id="1235" name="Google Shape;1235;p39"/>
          <p:cNvPicPr preferRelativeResize="0"/>
          <p:nvPr>
            <p:ph idx="1" type="body"/>
          </p:nvPr>
        </p:nvPicPr>
        <p:blipFill rotWithShape="1">
          <a:blip r:embed="rId3">
            <a:alphaModFix/>
          </a:blip>
          <a:srcRect b="0" l="0" r="0" t="0"/>
          <a:stretch/>
        </p:blipFill>
        <p:spPr>
          <a:xfrm>
            <a:off x="658995" y="1984822"/>
            <a:ext cx="3101609" cy="3101609"/>
          </a:xfrm>
          <a:prstGeom prst="rect">
            <a:avLst/>
          </a:prstGeom>
          <a:noFill/>
          <a:ln>
            <a:noFill/>
          </a:ln>
        </p:spPr>
      </p:pic>
      <p:sp>
        <p:nvSpPr>
          <p:cNvPr id="1236" name="Google Shape;123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37" name="Google Shape;123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38" name="Google Shape;123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39" name="Google Shape;1239;p39"/>
          <p:cNvPicPr preferRelativeResize="0"/>
          <p:nvPr/>
        </p:nvPicPr>
        <p:blipFill rotWithShape="1">
          <a:blip r:embed="rId4">
            <a:alphaModFix/>
          </a:blip>
          <a:srcRect b="0" l="0" r="0" t="0"/>
          <a:stretch/>
        </p:blipFill>
        <p:spPr>
          <a:xfrm>
            <a:off x="4481751" y="2685922"/>
            <a:ext cx="1806097" cy="1699407"/>
          </a:xfrm>
          <a:prstGeom prst="rect">
            <a:avLst/>
          </a:prstGeom>
          <a:noFill/>
          <a:ln>
            <a:noFill/>
          </a:ln>
        </p:spPr>
      </p:pic>
      <p:sp>
        <p:nvSpPr>
          <p:cNvPr id="1240" name="Google Shape;1240;p39"/>
          <p:cNvSpPr txBox="1"/>
          <p:nvPr/>
        </p:nvSpPr>
        <p:spPr>
          <a:xfrm>
            <a:off x="7063272" y="2360645"/>
            <a:ext cx="33963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Stride and the window size</a:t>
            </a:r>
            <a:endParaRPr sz="1800">
              <a:solidFill>
                <a:schemeClr val="dk1"/>
              </a:solidFill>
              <a:latin typeface="Bookman Old Style"/>
              <a:ea typeface="Bookman Old Style"/>
              <a:cs typeface="Bookman Old Style"/>
              <a:sym typeface="Bookman Old Style"/>
            </a:endParaRPr>
          </a:p>
        </p:txBody>
      </p:sp>
      <p:sp>
        <p:nvSpPr>
          <p:cNvPr id="1241" name="Google Shape;1241;p39"/>
          <p:cNvSpPr txBox="1"/>
          <p:nvPr/>
        </p:nvSpPr>
        <p:spPr>
          <a:xfrm>
            <a:off x="1898121" y="5189287"/>
            <a:ext cx="1651519" cy="3825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Bookman Old Style"/>
                <a:ea typeface="Bookman Old Style"/>
                <a:cs typeface="Bookman Old Style"/>
                <a:sym typeface="Bookman Old Style"/>
              </a:rPr>
              <a:t>4 × 4</a:t>
            </a:r>
            <a:endParaRPr b="1" sz="1800">
              <a:solidFill>
                <a:schemeClr val="dk1"/>
              </a:solidFill>
              <a:latin typeface="Bookman Old Style"/>
              <a:ea typeface="Bookman Old Style"/>
              <a:cs typeface="Bookman Old Style"/>
              <a:sym typeface="Bookman Old Style"/>
            </a:endParaRPr>
          </a:p>
        </p:txBody>
      </p:sp>
      <p:grpSp>
        <p:nvGrpSpPr>
          <p:cNvPr id="1242" name="Google Shape;1242;p39"/>
          <p:cNvGrpSpPr/>
          <p:nvPr/>
        </p:nvGrpSpPr>
        <p:grpSpPr>
          <a:xfrm>
            <a:off x="4481751" y="4656943"/>
            <a:ext cx="7965285" cy="2140150"/>
            <a:chOff x="4481751" y="4656943"/>
            <a:chExt cx="7965285" cy="2140150"/>
          </a:xfrm>
        </p:grpSpPr>
        <p:pic>
          <p:nvPicPr>
            <p:cNvPr id="1243" name="Google Shape;1243;p39"/>
            <p:cNvPicPr preferRelativeResize="0"/>
            <p:nvPr/>
          </p:nvPicPr>
          <p:blipFill rotWithShape="1">
            <a:blip r:embed="rId4">
              <a:alphaModFix/>
            </a:blip>
            <a:srcRect b="0" l="0" r="0" t="0"/>
            <a:stretch/>
          </p:blipFill>
          <p:spPr>
            <a:xfrm>
              <a:off x="4481751" y="4656943"/>
              <a:ext cx="1806097" cy="1699407"/>
            </a:xfrm>
            <a:prstGeom prst="rect">
              <a:avLst/>
            </a:prstGeom>
            <a:noFill/>
            <a:ln>
              <a:noFill/>
            </a:ln>
          </p:spPr>
        </p:pic>
        <p:sp>
          <p:nvSpPr>
            <p:cNvPr id="1244" name="Google Shape;1244;p39"/>
            <p:cNvSpPr/>
            <p:nvPr/>
          </p:nvSpPr>
          <p:spPr>
            <a:xfrm>
              <a:off x="4813676" y="4945224"/>
              <a:ext cx="276697" cy="439376"/>
            </a:xfrm>
            <a:custGeom>
              <a:rect b="b" l="l" r="r" t="t"/>
              <a:pathLst>
                <a:path extrusionOk="0" h="439376" w="276697">
                  <a:moveTo>
                    <a:pt x="234185" y="0"/>
                  </a:moveTo>
                  <a:cubicBezTo>
                    <a:pt x="171981" y="3110"/>
                    <a:pt x="108850" y="-1810"/>
                    <a:pt x="47573" y="9331"/>
                  </a:cubicBezTo>
                  <a:cubicBezTo>
                    <a:pt x="36540" y="11337"/>
                    <a:pt x="29571" y="26128"/>
                    <a:pt x="28912" y="37323"/>
                  </a:cubicBezTo>
                  <a:cubicBezTo>
                    <a:pt x="21002" y="171783"/>
                    <a:pt x="870" y="155496"/>
                    <a:pt x="66234" y="177282"/>
                  </a:cubicBezTo>
                  <a:cubicBezTo>
                    <a:pt x="89199" y="176006"/>
                    <a:pt x="218664" y="206260"/>
                    <a:pt x="252846" y="149290"/>
                  </a:cubicBezTo>
                  <a:cubicBezTo>
                    <a:pt x="257906" y="140856"/>
                    <a:pt x="259067" y="130629"/>
                    <a:pt x="262177" y="121298"/>
                  </a:cubicBezTo>
                  <a:cubicBezTo>
                    <a:pt x="267526" y="180132"/>
                    <a:pt x="291990" y="396945"/>
                    <a:pt x="262177" y="419878"/>
                  </a:cubicBezTo>
                  <a:cubicBezTo>
                    <a:pt x="200497" y="467324"/>
                    <a:pt x="106667" y="413657"/>
                    <a:pt x="28912" y="410547"/>
                  </a:cubicBezTo>
                  <a:cubicBezTo>
                    <a:pt x="-7877" y="373759"/>
                    <a:pt x="920" y="395751"/>
                    <a:pt x="920" y="345233"/>
                  </a:cubicBezTo>
                </a:path>
              </a:pathLst>
            </a:cu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5" name="Google Shape;1245;p39"/>
            <p:cNvSpPr/>
            <p:nvPr/>
          </p:nvSpPr>
          <p:spPr>
            <a:xfrm>
              <a:off x="5673012" y="4898571"/>
              <a:ext cx="401217" cy="503853"/>
            </a:xfrm>
            <a:custGeom>
              <a:rect b="b" l="l" r="r" t="t"/>
              <a:pathLst>
                <a:path extrusionOk="0" h="503853" w="401217">
                  <a:moveTo>
                    <a:pt x="0" y="93307"/>
                  </a:moveTo>
                  <a:cubicBezTo>
                    <a:pt x="12441" y="77756"/>
                    <a:pt x="22520" y="59976"/>
                    <a:pt x="37323" y="46653"/>
                  </a:cubicBezTo>
                  <a:cubicBezTo>
                    <a:pt x="80049" y="8200"/>
                    <a:pt x="85229" y="11350"/>
                    <a:pt x="130629" y="0"/>
                  </a:cubicBezTo>
                  <a:cubicBezTo>
                    <a:pt x="158621" y="3110"/>
                    <a:pt x="187432" y="1921"/>
                    <a:pt x="214604" y="9331"/>
                  </a:cubicBezTo>
                  <a:cubicBezTo>
                    <a:pt x="240560" y="16410"/>
                    <a:pt x="230105" y="40370"/>
                    <a:pt x="242596" y="55984"/>
                  </a:cubicBezTo>
                  <a:cubicBezTo>
                    <a:pt x="249601" y="64741"/>
                    <a:pt x="261257" y="68425"/>
                    <a:pt x="270588" y="74645"/>
                  </a:cubicBezTo>
                  <a:cubicBezTo>
                    <a:pt x="273698" y="83976"/>
                    <a:pt x="277217" y="93180"/>
                    <a:pt x="279919" y="102637"/>
                  </a:cubicBezTo>
                  <a:cubicBezTo>
                    <a:pt x="299813" y="172268"/>
                    <a:pt x="299421" y="205942"/>
                    <a:pt x="279919" y="298580"/>
                  </a:cubicBezTo>
                  <a:cubicBezTo>
                    <a:pt x="277609" y="309553"/>
                    <a:pt x="262175" y="312687"/>
                    <a:pt x="251927" y="317241"/>
                  </a:cubicBezTo>
                  <a:cubicBezTo>
                    <a:pt x="233952" y="325230"/>
                    <a:pt x="195943" y="335902"/>
                    <a:pt x="195943" y="335902"/>
                  </a:cubicBezTo>
                  <a:cubicBezTo>
                    <a:pt x="143070" y="332792"/>
                    <a:pt x="88422" y="340508"/>
                    <a:pt x="37323" y="326572"/>
                  </a:cubicBezTo>
                  <a:cubicBezTo>
                    <a:pt x="18346" y="321397"/>
                    <a:pt x="93306" y="307911"/>
                    <a:pt x="93306" y="307911"/>
                  </a:cubicBezTo>
                  <a:cubicBezTo>
                    <a:pt x="139959" y="311021"/>
                    <a:pt x="187752" y="306532"/>
                    <a:pt x="233266" y="317241"/>
                  </a:cubicBezTo>
                  <a:cubicBezTo>
                    <a:pt x="249751" y="321120"/>
                    <a:pt x="255074" y="362920"/>
                    <a:pt x="261257" y="373225"/>
                  </a:cubicBezTo>
                  <a:cubicBezTo>
                    <a:pt x="265783" y="380768"/>
                    <a:pt x="273698" y="385666"/>
                    <a:pt x="279919" y="391886"/>
                  </a:cubicBezTo>
                  <a:cubicBezTo>
                    <a:pt x="284520" y="405691"/>
                    <a:pt x="311785" y="503853"/>
                    <a:pt x="335902" y="503853"/>
                  </a:cubicBezTo>
                  <a:lnTo>
                    <a:pt x="401217" y="503853"/>
                  </a:lnTo>
                </a:path>
              </a:pathLst>
            </a:cu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6" name="Google Shape;1246;p39"/>
            <p:cNvSpPr/>
            <p:nvPr/>
          </p:nvSpPr>
          <p:spPr>
            <a:xfrm>
              <a:off x="4795910" y="5756988"/>
              <a:ext cx="298604" cy="447869"/>
            </a:xfrm>
            <a:custGeom>
              <a:rect b="b" l="l" r="r" t="t"/>
              <a:pathLst>
                <a:path extrusionOk="0" h="447869" w="298604">
                  <a:moveTo>
                    <a:pt x="298604" y="0"/>
                  </a:moveTo>
                  <a:lnTo>
                    <a:pt x="74670" y="9330"/>
                  </a:lnTo>
                  <a:cubicBezTo>
                    <a:pt x="53134" y="13786"/>
                    <a:pt x="28017" y="55983"/>
                    <a:pt x="28017" y="55983"/>
                  </a:cubicBezTo>
                  <a:lnTo>
                    <a:pt x="9355" y="111967"/>
                  </a:lnTo>
                  <a:lnTo>
                    <a:pt x="25" y="139959"/>
                  </a:lnTo>
                  <a:cubicBezTo>
                    <a:pt x="3135" y="220824"/>
                    <a:pt x="3787" y="301822"/>
                    <a:pt x="9355" y="382555"/>
                  </a:cubicBezTo>
                  <a:cubicBezTo>
                    <a:pt x="10032" y="392367"/>
                    <a:pt x="11731" y="403592"/>
                    <a:pt x="18686" y="410547"/>
                  </a:cubicBezTo>
                  <a:cubicBezTo>
                    <a:pt x="34545" y="426406"/>
                    <a:pt x="74670" y="447869"/>
                    <a:pt x="74670" y="447869"/>
                  </a:cubicBezTo>
                  <a:cubicBezTo>
                    <a:pt x="99551" y="444759"/>
                    <a:pt x="126547" y="449047"/>
                    <a:pt x="149314" y="438539"/>
                  </a:cubicBezTo>
                  <a:cubicBezTo>
                    <a:pt x="169283" y="429323"/>
                    <a:pt x="195968" y="391885"/>
                    <a:pt x="195968" y="391885"/>
                  </a:cubicBezTo>
                  <a:cubicBezTo>
                    <a:pt x="200677" y="363630"/>
                    <a:pt x="223305" y="257973"/>
                    <a:pt x="195968" y="242596"/>
                  </a:cubicBezTo>
                  <a:cubicBezTo>
                    <a:pt x="155216" y="219673"/>
                    <a:pt x="102661" y="248816"/>
                    <a:pt x="56008" y="251926"/>
                  </a:cubicBezTo>
                  <a:cubicBezTo>
                    <a:pt x="46678" y="258147"/>
                    <a:pt x="33960" y="261079"/>
                    <a:pt x="28017" y="270588"/>
                  </a:cubicBezTo>
                  <a:cubicBezTo>
                    <a:pt x="17592" y="287269"/>
                    <a:pt x="15575" y="307910"/>
                    <a:pt x="9355" y="326571"/>
                  </a:cubicBezTo>
                  <a:cubicBezTo>
                    <a:pt x="-959" y="357511"/>
                    <a:pt x="25" y="344728"/>
                    <a:pt x="25" y="363894"/>
                  </a:cubicBezTo>
                </a:path>
              </a:pathLst>
            </a:cu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7" name="Google Shape;1247;p39"/>
            <p:cNvSpPr/>
            <p:nvPr/>
          </p:nvSpPr>
          <p:spPr>
            <a:xfrm>
              <a:off x="5654351" y="5728996"/>
              <a:ext cx="363894" cy="569167"/>
            </a:xfrm>
            <a:custGeom>
              <a:rect b="b" l="l" r="r" t="t"/>
              <a:pathLst>
                <a:path extrusionOk="0" h="569167" w="363894">
                  <a:moveTo>
                    <a:pt x="0" y="111967"/>
                  </a:moveTo>
                  <a:cubicBezTo>
                    <a:pt x="12441" y="96416"/>
                    <a:pt x="22334" y="78428"/>
                    <a:pt x="37322" y="65314"/>
                  </a:cubicBezTo>
                  <a:cubicBezTo>
                    <a:pt x="47790" y="56155"/>
                    <a:pt x="62568" y="53554"/>
                    <a:pt x="74645" y="46653"/>
                  </a:cubicBezTo>
                  <a:cubicBezTo>
                    <a:pt x="84382" y="41089"/>
                    <a:pt x="92330" y="32409"/>
                    <a:pt x="102637" y="27992"/>
                  </a:cubicBezTo>
                  <a:cubicBezTo>
                    <a:pt x="114424" y="22940"/>
                    <a:pt x="127952" y="23164"/>
                    <a:pt x="139959" y="18661"/>
                  </a:cubicBezTo>
                  <a:cubicBezTo>
                    <a:pt x="152983" y="13777"/>
                    <a:pt x="164841" y="6220"/>
                    <a:pt x="177282" y="0"/>
                  </a:cubicBezTo>
                  <a:cubicBezTo>
                    <a:pt x="202164" y="3110"/>
                    <a:pt x="229013" y="-853"/>
                    <a:pt x="251927" y="9331"/>
                  </a:cubicBezTo>
                  <a:cubicBezTo>
                    <a:pt x="260914" y="13325"/>
                    <a:pt x="261257" y="27487"/>
                    <a:pt x="261257" y="37322"/>
                  </a:cubicBezTo>
                  <a:cubicBezTo>
                    <a:pt x="261257" y="41776"/>
                    <a:pt x="258013" y="180524"/>
                    <a:pt x="233265" y="205273"/>
                  </a:cubicBezTo>
                  <a:lnTo>
                    <a:pt x="214604" y="223935"/>
                  </a:lnTo>
                  <a:cubicBezTo>
                    <a:pt x="196763" y="277454"/>
                    <a:pt x="217351" y="229603"/>
                    <a:pt x="186612" y="270588"/>
                  </a:cubicBezTo>
                  <a:cubicBezTo>
                    <a:pt x="136705" y="337131"/>
                    <a:pt x="173693" y="318436"/>
                    <a:pt x="121298" y="335902"/>
                  </a:cubicBezTo>
                  <a:cubicBezTo>
                    <a:pt x="167009" y="244480"/>
                    <a:pt x="110746" y="335014"/>
                    <a:pt x="167951" y="289249"/>
                  </a:cubicBezTo>
                  <a:cubicBezTo>
                    <a:pt x="226529" y="242386"/>
                    <a:pt x="138219" y="273355"/>
                    <a:pt x="223935" y="251926"/>
                  </a:cubicBezTo>
                  <a:cubicBezTo>
                    <a:pt x="264368" y="255036"/>
                    <a:pt x="308485" y="244108"/>
                    <a:pt x="345233" y="261257"/>
                  </a:cubicBezTo>
                  <a:cubicBezTo>
                    <a:pt x="363058" y="269576"/>
                    <a:pt x="363894" y="317241"/>
                    <a:pt x="363894" y="317241"/>
                  </a:cubicBezTo>
                  <a:cubicBezTo>
                    <a:pt x="360784" y="360784"/>
                    <a:pt x="367709" y="406242"/>
                    <a:pt x="354563" y="447869"/>
                  </a:cubicBezTo>
                  <a:cubicBezTo>
                    <a:pt x="347940" y="468841"/>
                    <a:pt x="326209" y="482323"/>
                    <a:pt x="307910" y="494522"/>
                  </a:cubicBezTo>
                  <a:cubicBezTo>
                    <a:pt x="289249" y="506963"/>
                    <a:pt x="267786" y="515986"/>
                    <a:pt x="251927" y="531845"/>
                  </a:cubicBezTo>
                  <a:cubicBezTo>
                    <a:pt x="245706" y="538065"/>
                    <a:pt x="241502" y="547417"/>
                    <a:pt x="233265" y="550506"/>
                  </a:cubicBezTo>
                  <a:cubicBezTo>
                    <a:pt x="215551" y="557149"/>
                    <a:pt x="195750" y="555733"/>
                    <a:pt x="177282" y="559837"/>
                  </a:cubicBezTo>
                  <a:cubicBezTo>
                    <a:pt x="167681" y="561971"/>
                    <a:pt x="158621" y="566057"/>
                    <a:pt x="149290" y="569167"/>
                  </a:cubicBezTo>
                  <a:cubicBezTo>
                    <a:pt x="111967" y="566057"/>
                    <a:pt x="73943" y="567684"/>
                    <a:pt x="37322" y="559837"/>
                  </a:cubicBezTo>
                  <a:cubicBezTo>
                    <a:pt x="28720" y="557994"/>
                    <a:pt x="19999" y="549870"/>
                    <a:pt x="18661" y="541175"/>
                  </a:cubicBezTo>
                  <a:cubicBezTo>
                    <a:pt x="13459" y="507361"/>
                    <a:pt x="18661" y="472751"/>
                    <a:pt x="18661" y="438539"/>
                  </a:cubicBezTo>
                </a:path>
              </a:pathLst>
            </a:cu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8" name="Google Shape;1248;p39"/>
            <p:cNvSpPr txBox="1"/>
            <p:nvPr/>
          </p:nvSpPr>
          <p:spPr>
            <a:xfrm>
              <a:off x="4828591" y="6414537"/>
              <a:ext cx="1651519" cy="3825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Bookman Old Style"/>
                  <a:ea typeface="Bookman Old Style"/>
                  <a:cs typeface="Bookman Old Style"/>
                  <a:sym typeface="Bookman Old Style"/>
                </a:rPr>
                <a:t>2 × 2</a:t>
              </a:r>
              <a:endParaRPr b="1" sz="1800">
                <a:solidFill>
                  <a:schemeClr val="dk1"/>
                </a:solidFill>
                <a:latin typeface="Bookman Old Style"/>
                <a:ea typeface="Bookman Old Style"/>
                <a:cs typeface="Bookman Old Style"/>
                <a:sym typeface="Bookman Old Style"/>
              </a:endParaRPr>
            </a:p>
          </p:txBody>
        </p:sp>
        <p:sp>
          <p:nvSpPr>
            <p:cNvPr id="1249" name="Google Shape;1249;p39"/>
            <p:cNvSpPr/>
            <p:nvPr/>
          </p:nvSpPr>
          <p:spPr>
            <a:xfrm>
              <a:off x="6351036" y="4956057"/>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rgbClr val="001D35"/>
                  </a:solidFill>
                  <a:latin typeface="Bookman Old Style"/>
                  <a:ea typeface="Bookman Old Style"/>
                  <a:cs typeface="Bookman Old Style"/>
                  <a:sym typeface="Bookman Old Style"/>
                </a:rPr>
                <a:t>By selecting the maximum value, it emphasizes the </a:t>
              </a:r>
              <a:endParaRPr/>
            </a:p>
            <a:p>
              <a:pPr indent="0" lvl="0" marL="0" marR="0" rtl="0" algn="l">
                <a:spcBef>
                  <a:spcPts val="0"/>
                </a:spcBef>
                <a:spcAft>
                  <a:spcPts val="0"/>
                </a:spcAft>
                <a:buNone/>
              </a:pPr>
              <a:r>
                <a:rPr lang="en-IN" sz="1800">
                  <a:solidFill>
                    <a:srgbClr val="001D35"/>
                  </a:solidFill>
                  <a:latin typeface="Bookman Old Style"/>
                  <a:ea typeface="Bookman Old Style"/>
                  <a:cs typeface="Bookman Old Style"/>
                  <a:sym typeface="Bookman Old Style"/>
                </a:rPr>
                <a:t>most salient feature within a region reduces the impact of less important features. </a:t>
              </a:r>
              <a:endParaRPr sz="1800">
                <a:solidFill>
                  <a:schemeClr val="dk1"/>
                </a:solidFill>
                <a:latin typeface="Bookman Old Style"/>
                <a:ea typeface="Bookman Old Style"/>
                <a:cs typeface="Bookman Old Style"/>
                <a:sym typeface="Bookman Old Style"/>
              </a:endParaRPr>
            </a:p>
          </p:txBody>
        </p:sp>
      </p:grpSp>
      <p:sp>
        <p:nvSpPr>
          <p:cNvPr id="1250" name="Google Shape;1250;p39"/>
          <p:cNvSpPr txBox="1"/>
          <p:nvPr/>
        </p:nvSpPr>
        <p:spPr>
          <a:xfrm>
            <a:off x="6969967" y="6027576"/>
            <a:ext cx="22020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C00000"/>
                </a:solidFill>
                <a:latin typeface="Bookman Old Style"/>
                <a:ea typeface="Bookman Old Style"/>
                <a:cs typeface="Bookman Old Style"/>
                <a:sym typeface="Bookman Old Style"/>
              </a:rPr>
              <a:t>Max Pooling</a:t>
            </a:r>
            <a:endParaRPr b="1" sz="1800">
              <a:solidFill>
                <a:srgbClr val="C00000"/>
              </a:solidFill>
              <a:latin typeface="Bookman Old Style"/>
              <a:ea typeface="Bookman Old Style"/>
              <a:cs typeface="Bookman Old Style"/>
              <a:sym typeface="Bookman Old Style"/>
            </a:endParaRPr>
          </a:p>
        </p:txBody>
      </p:sp>
      <p:pic>
        <p:nvPicPr>
          <p:cNvPr id="1251" name="Google Shape;1251;p39"/>
          <p:cNvPicPr preferRelativeResize="0"/>
          <p:nvPr/>
        </p:nvPicPr>
        <p:blipFill rotWithShape="1">
          <a:blip r:embed="rId5">
            <a:alphaModFix/>
          </a:blip>
          <a:srcRect b="0" l="0" r="0" t="0"/>
          <a:stretch/>
        </p:blipFill>
        <p:spPr>
          <a:xfrm>
            <a:off x="4445243" y="318349"/>
            <a:ext cx="1842605" cy="1666473"/>
          </a:xfrm>
          <a:prstGeom prst="rect">
            <a:avLst/>
          </a:prstGeom>
          <a:noFill/>
          <a:ln>
            <a:noFill/>
          </a:ln>
        </p:spPr>
      </p:pic>
      <p:sp>
        <p:nvSpPr>
          <p:cNvPr id="1252" name="Google Shape;1252;p39"/>
          <p:cNvSpPr txBox="1"/>
          <p:nvPr/>
        </p:nvSpPr>
        <p:spPr>
          <a:xfrm>
            <a:off x="6618798" y="693607"/>
            <a:ext cx="22020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C00000"/>
                </a:solidFill>
                <a:latin typeface="Bookman Old Style"/>
                <a:ea typeface="Bookman Old Style"/>
                <a:cs typeface="Bookman Old Style"/>
                <a:sym typeface="Bookman Old Style"/>
              </a:rPr>
              <a:t>Average Pooling</a:t>
            </a:r>
            <a:endParaRPr b="1" sz="1800">
              <a:solidFill>
                <a:srgbClr val="C00000"/>
              </a:solidFill>
              <a:latin typeface="Bookman Old Style"/>
              <a:ea typeface="Bookman Old Style"/>
              <a:cs typeface="Bookman Old Style"/>
              <a:sym typeface="Bookman Old Sty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58" name="Google Shape;125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59" name="Google Shape;125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60" name="Google Shape;1260;p40"/>
          <p:cNvPicPr preferRelativeResize="0"/>
          <p:nvPr/>
        </p:nvPicPr>
        <p:blipFill rotWithShape="1">
          <a:blip r:embed="rId3">
            <a:alphaModFix/>
          </a:blip>
          <a:srcRect b="0" l="0" r="0" t="0"/>
          <a:stretch/>
        </p:blipFill>
        <p:spPr>
          <a:xfrm>
            <a:off x="59831" y="260648"/>
            <a:ext cx="8807379" cy="3096344"/>
          </a:xfrm>
          <a:prstGeom prst="rect">
            <a:avLst/>
          </a:prstGeom>
          <a:noFill/>
          <a:ln>
            <a:noFill/>
          </a:ln>
        </p:spPr>
      </p:pic>
      <p:pic>
        <p:nvPicPr>
          <p:cNvPr id="1261" name="Google Shape;1261;p40"/>
          <p:cNvPicPr preferRelativeResize="0"/>
          <p:nvPr/>
        </p:nvPicPr>
        <p:blipFill rotWithShape="1">
          <a:blip r:embed="rId4">
            <a:alphaModFix/>
          </a:blip>
          <a:srcRect b="0" l="0" r="0" t="0"/>
          <a:stretch/>
        </p:blipFill>
        <p:spPr>
          <a:xfrm>
            <a:off x="118458" y="3553393"/>
            <a:ext cx="8492142" cy="2985519"/>
          </a:xfrm>
          <a:prstGeom prst="rect">
            <a:avLst/>
          </a:prstGeom>
          <a:noFill/>
          <a:ln>
            <a:noFill/>
          </a:ln>
        </p:spPr>
      </p:pic>
      <p:pic>
        <p:nvPicPr>
          <p:cNvPr id="1262" name="Google Shape;1262;p40"/>
          <p:cNvPicPr preferRelativeResize="0"/>
          <p:nvPr/>
        </p:nvPicPr>
        <p:blipFill rotWithShape="1">
          <a:blip r:embed="rId5">
            <a:alphaModFix/>
          </a:blip>
          <a:srcRect b="0" l="0" r="0" t="0"/>
          <a:stretch/>
        </p:blipFill>
        <p:spPr>
          <a:xfrm>
            <a:off x="3149923" y="3004457"/>
            <a:ext cx="368491" cy="269628"/>
          </a:xfrm>
          <a:prstGeom prst="rect">
            <a:avLst/>
          </a:prstGeom>
          <a:noFill/>
          <a:ln>
            <a:noFill/>
          </a:ln>
        </p:spPr>
      </p:pic>
      <p:pic>
        <p:nvPicPr>
          <p:cNvPr id="1263" name="Google Shape;1263;p40"/>
          <p:cNvPicPr preferRelativeResize="0"/>
          <p:nvPr/>
        </p:nvPicPr>
        <p:blipFill rotWithShape="1">
          <a:blip r:embed="rId5">
            <a:alphaModFix/>
          </a:blip>
          <a:srcRect b="0" l="0" r="0" t="0"/>
          <a:stretch/>
        </p:blipFill>
        <p:spPr>
          <a:xfrm>
            <a:off x="3076463" y="6176963"/>
            <a:ext cx="368491" cy="269628"/>
          </a:xfrm>
          <a:prstGeom prst="rect">
            <a:avLst/>
          </a:prstGeom>
          <a:noFill/>
          <a:ln>
            <a:noFill/>
          </a:ln>
        </p:spPr>
      </p:pic>
      <p:sp>
        <p:nvSpPr>
          <p:cNvPr id="1264" name="Google Shape;1264;p40"/>
          <p:cNvSpPr/>
          <p:nvPr/>
        </p:nvSpPr>
        <p:spPr>
          <a:xfrm>
            <a:off x="6459511" y="3142925"/>
            <a:ext cx="37497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model.add(MaxPooling2D((2,2)))</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41"/>
          <p:cNvSpPr txBox="1"/>
          <p:nvPr>
            <p:ph type="title"/>
          </p:nvPr>
        </p:nvSpPr>
        <p:spPr>
          <a:xfrm>
            <a:off x="315685" y="410368"/>
            <a:ext cx="1171147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42424"/>
              </a:buClr>
              <a:buSzPts val="4400"/>
              <a:buFont typeface="Bookman Old Style"/>
              <a:buNone/>
            </a:pPr>
            <a:r>
              <a:rPr lang="en-IN">
                <a:solidFill>
                  <a:srgbClr val="242424"/>
                </a:solidFill>
                <a:latin typeface="Bookman Old Style"/>
                <a:ea typeface="Bookman Old Style"/>
                <a:cs typeface="Bookman Old Style"/>
                <a:sym typeface="Bookman Old Style"/>
              </a:rPr>
              <a:t>Calculating the output when an image passes through a Pooling (Max) layer</a:t>
            </a:r>
            <a:endParaRPr>
              <a:latin typeface="Bookman Old Style"/>
              <a:ea typeface="Bookman Old Style"/>
              <a:cs typeface="Bookman Old Style"/>
              <a:sym typeface="Bookman Old Style"/>
            </a:endParaRPr>
          </a:p>
        </p:txBody>
      </p:sp>
      <p:sp>
        <p:nvSpPr>
          <p:cNvPr id="1270" name="Google Shape;1270;p41"/>
          <p:cNvSpPr txBox="1"/>
          <p:nvPr>
            <p:ph idx="1" type="body"/>
          </p:nvPr>
        </p:nvSpPr>
        <p:spPr>
          <a:xfrm>
            <a:off x="418323" y="2005012"/>
            <a:ext cx="10515600" cy="4351338"/>
          </a:xfrm>
          <a:prstGeom prst="rect">
            <a:avLst/>
          </a:prstGeom>
          <a:blipFill rotWithShape="1">
            <a:blip r:embed="rId3">
              <a:alphaModFix/>
            </a:blip>
            <a:stretch>
              <a:fillRect b="0" l="-1216" r="0" t="-266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sp>
        <p:nvSpPr>
          <p:cNvPr id="1271" name="Google Shape;127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72" name="Google Shape;127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73" name="Google Shape;127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274" name="Google Shape;1274;p41"/>
          <p:cNvSpPr/>
          <p:nvPr/>
        </p:nvSpPr>
        <p:spPr>
          <a:xfrm>
            <a:off x="6171422" y="2099017"/>
            <a:ext cx="6096000" cy="3691395"/>
          </a:xfrm>
          <a:prstGeom prst="rect">
            <a:avLst/>
          </a:prstGeom>
          <a:blipFill rotWithShape="1">
            <a:blip r:embed="rId4">
              <a:alphaModFix/>
            </a:blip>
            <a:stretch>
              <a:fillRect b="-1649" l="-799" r="0" t="-65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graphicFrame>
        <p:nvGraphicFramePr>
          <p:cNvPr id="1275" name="Google Shape;1275;p41"/>
          <p:cNvGraphicFramePr/>
          <p:nvPr/>
        </p:nvGraphicFramePr>
        <p:xfrm>
          <a:off x="838200" y="5987916"/>
          <a:ext cx="3000000" cy="3000000"/>
        </p:xfrm>
        <a:graphic>
          <a:graphicData uri="http://schemas.openxmlformats.org/drawingml/2006/table">
            <a:tbl>
              <a:tblPr>
                <a:gradFill>
                  <a:gsLst>
                    <a:gs pos="0">
                      <a:srgbClr val="D1D1D1"/>
                    </a:gs>
                    <a:gs pos="50000">
                      <a:srgbClr val="C7C7C7"/>
                    </a:gs>
                    <a:gs pos="100000">
                      <a:srgbClr val="C0C0C0"/>
                    </a:gs>
                  </a:gsLst>
                  <a:lin ang="5400000" scaled="0"/>
                </a:gradFill>
                <a:tableStyleId>{835D2641-1AE6-44EB-87A1-DC35637E3ACF}</a:tableStyleId>
              </a:tblPr>
              <a:tblGrid>
                <a:gridCol w="2103125"/>
                <a:gridCol w="2103125"/>
                <a:gridCol w="2103125"/>
                <a:gridCol w="2103125"/>
                <a:gridCol w="2103125"/>
              </a:tblGrid>
              <a:tr h="228600">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Layer Type</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Input Size</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Filter (F)</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Stride (S)</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Output Size</a:t>
                      </a:r>
                      <a:endParaRPr sz="1800">
                        <a:solidFill>
                          <a:srgbClr val="002060"/>
                        </a:solidFill>
                        <a:latin typeface="Bookman Old Style"/>
                        <a:ea typeface="Bookman Old Style"/>
                        <a:cs typeface="Bookman Old Style"/>
                        <a:sym typeface="Bookman Old Style"/>
                      </a:endParaRPr>
                    </a:p>
                  </a:txBody>
                  <a:tcPr marT="45725" marB="45725" marR="91450" marL="91450" anchor="ctr"/>
                </a:tc>
              </a:tr>
              <a:tr h="228600">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Max Pooling</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8 × 8 × 1</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2 × 2</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2</a:t>
                      </a:r>
                      <a:endParaRPr sz="1800">
                        <a:solidFill>
                          <a:srgbClr val="002060"/>
                        </a:solidFill>
                        <a:latin typeface="Bookman Old Style"/>
                        <a:ea typeface="Bookman Old Style"/>
                        <a:cs typeface="Bookman Old Style"/>
                        <a:sym typeface="Bookman Old Style"/>
                      </a:endParaRPr>
                    </a:p>
                  </a:txBody>
                  <a:tcPr marT="45725" marB="45725" marR="91450" marL="91450" anchor="ctr"/>
                </a:tc>
                <a:tc>
                  <a:txBody>
                    <a:bodyPr/>
                    <a:lstStyle/>
                    <a:p>
                      <a:pPr indent="0" lvl="0" marL="0" marR="0" rtl="0" algn="ctr">
                        <a:spcBef>
                          <a:spcPts val="0"/>
                        </a:spcBef>
                        <a:spcAft>
                          <a:spcPts val="0"/>
                        </a:spcAft>
                        <a:buNone/>
                      </a:pPr>
                      <a:r>
                        <a:rPr lang="en-IN" sz="1800">
                          <a:latin typeface="Bookman Old Style"/>
                          <a:ea typeface="Bookman Old Style"/>
                          <a:cs typeface="Bookman Old Style"/>
                          <a:sym typeface="Bookman Old Style"/>
                        </a:rPr>
                        <a:t>4 × 4 × 1</a:t>
                      </a:r>
                      <a:endParaRPr sz="1800">
                        <a:solidFill>
                          <a:srgbClr val="002060"/>
                        </a:solidFill>
                        <a:latin typeface="Bookman Old Style"/>
                        <a:ea typeface="Bookman Old Style"/>
                        <a:cs typeface="Bookman Old Style"/>
                        <a:sym typeface="Bookman Old Style"/>
                      </a:endParaRPr>
                    </a:p>
                  </a:txBody>
                  <a:tcPr marT="45725" marB="45725" marR="91450" marL="91450"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81" name="Google Shape;1281;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82" name="Google Shape;1282;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83" name="Google Shape;1283;p42"/>
          <p:cNvPicPr preferRelativeResize="0"/>
          <p:nvPr/>
        </p:nvPicPr>
        <p:blipFill rotWithShape="1">
          <a:blip r:embed="rId3">
            <a:alphaModFix/>
          </a:blip>
          <a:srcRect b="0" l="0" r="0" t="0"/>
          <a:stretch/>
        </p:blipFill>
        <p:spPr>
          <a:xfrm>
            <a:off x="838200" y="1825625"/>
            <a:ext cx="8568952" cy="393859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89" name="Google Shape;128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290" name="Google Shape;129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pic>
        <p:nvPicPr>
          <p:cNvPr id="1291" name="Google Shape;1291;p43"/>
          <p:cNvPicPr preferRelativeResize="0"/>
          <p:nvPr/>
        </p:nvPicPr>
        <p:blipFill rotWithShape="1">
          <a:blip r:embed="rId3">
            <a:alphaModFix/>
          </a:blip>
          <a:srcRect b="0" l="0" r="0" t="0"/>
          <a:stretch/>
        </p:blipFill>
        <p:spPr>
          <a:xfrm>
            <a:off x="338369" y="2187839"/>
            <a:ext cx="8834206" cy="3600399"/>
          </a:xfrm>
          <a:prstGeom prst="rect">
            <a:avLst/>
          </a:prstGeom>
          <a:noFill/>
          <a:ln>
            <a:noFill/>
          </a:ln>
        </p:spPr>
      </p:pic>
      <p:pic>
        <p:nvPicPr>
          <p:cNvPr id="1292" name="Google Shape;1292;p43"/>
          <p:cNvPicPr preferRelativeResize="0"/>
          <p:nvPr/>
        </p:nvPicPr>
        <p:blipFill rotWithShape="1">
          <a:blip r:embed="rId4">
            <a:alphaModFix/>
          </a:blip>
          <a:srcRect b="0" l="0" r="0" t="0"/>
          <a:stretch/>
        </p:blipFill>
        <p:spPr>
          <a:xfrm>
            <a:off x="9340525" y="1690688"/>
            <a:ext cx="2465968" cy="4738104"/>
          </a:xfrm>
          <a:prstGeom prst="rect">
            <a:avLst/>
          </a:prstGeom>
          <a:noFill/>
          <a:ln>
            <a:noFill/>
          </a:ln>
        </p:spPr>
      </p:pic>
      <p:sp>
        <p:nvSpPr>
          <p:cNvPr id="1293" name="Google Shape;1293;p43"/>
          <p:cNvSpPr/>
          <p:nvPr/>
        </p:nvSpPr>
        <p:spPr>
          <a:xfrm>
            <a:off x="7029600" y="6244126"/>
            <a:ext cx="24320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Bookman Old Style"/>
                <a:ea typeface="Bookman Old Style"/>
                <a:cs typeface="Bookman Old Style"/>
                <a:sym typeface="Bookman Old Style"/>
              </a:rPr>
              <a:t>model.add(Flatten())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299" name="Google Shape;129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300" name="Google Shape;130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01" name="Google Shape;1301;p44"/>
          <p:cNvSpPr txBox="1"/>
          <p:nvPr>
            <p:ph idx="1" type="body"/>
          </p:nvPr>
        </p:nvSpPr>
        <p:spPr>
          <a:xfrm>
            <a:off x="2929812" y="1826164"/>
            <a:ext cx="9591870" cy="206470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800"/>
              <a:buNone/>
            </a:pPr>
            <a:r>
              <a:rPr lang="en-IN" sz="1800">
                <a:latin typeface="Bookman Old Style"/>
                <a:ea typeface="Bookman Old Style"/>
                <a:cs typeface="Bookman Old Style"/>
                <a:sym typeface="Bookman Old Style"/>
              </a:rPr>
              <a:t>model.add(Flatten())</a:t>
            </a:r>
            <a:endParaRPr/>
          </a:p>
          <a:p>
            <a:pPr indent="0" lvl="0" marL="0" rtl="0" algn="l">
              <a:lnSpc>
                <a:spcPct val="90000"/>
              </a:lnSpc>
              <a:spcBef>
                <a:spcPts val="1000"/>
              </a:spcBef>
              <a:spcAft>
                <a:spcPts val="0"/>
              </a:spcAft>
              <a:buClr>
                <a:schemeClr val="dk1"/>
              </a:buClr>
              <a:buSzPts val="1800"/>
              <a:buNone/>
            </a:pPr>
            <a:r>
              <a:rPr lang="en-IN" sz="1800">
                <a:latin typeface="Bookman Old Style"/>
                <a:ea typeface="Bookman Old Style"/>
                <a:cs typeface="Bookman Old Style"/>
                <a:sym typeface="Bookman Old Style"/>
              </a:rPr>
              <a:t>model.add(Dense(128, activation='relu'))</a:t>
            </a:r>
            <a:endParaRPr/>
          </a:p>
          <a:p>
            <a:pPr indent="0" lvl="0" marL="0" rtl="0" algn="l">
              <a:lnSpc>
                <a:spcPct val="90000"/>
              </a:lnSpc>
              <a:spcBef>
                <a:spcPts val="1000"/>
              </a:spcBef>
              <a:spcAft>
                <a:spcPts val="0"/>
              </a:spcAft>
              <a:buClr>
                <a:schemeClr val="dk1"/>
              </a:buClr>
              <a:buSzPts val="1800"/>
              <a:buNone/>
            </a:pPr>
            <a:r>
              <a:rPr lang="en-IN" sz="1800">
                <a:latin typeface="Bookman Old Style"/>
                <a:ea typeface="Bookman Old Style"/>
                <a:cs typeface="Bookman Old Style"/>
                <a:sym typeface="Bookman Old Style"/>
              </a:rPr>
              <a:t>model.add(Dense(units=3,activation='softmax'))</a:t>
            </a:r>
            <a:endParaRPr/>
          </a:p>
          <a:p>
            <a:pPr indent="0" lvl="0" marL="0" rtl="0" algn="l">
              <a:lnSpc>
                <a:spcPct val="90000"/>
              </a:lnSpc>
              <a:spcBef>
                <a:spcPts val="1000"/>
              </a:spcBef>
              <a:spcAft>
                <a:spcPts val="0"/>
              </a:spcAft>
              <a:buClr>
                <a:schemeClr val="dk1"/>
              </a:buClr>
              <a:buSzPts val="1800"/>
              <a:buNone/>
            </a:pPr>
            <a:r>
              <a:rPr lang="en-IN" sz="1800">
                <a:latin typeface="Bookman Old Style"/>
                <a:ea typeface="Bookman Old Style"/>
                <a:cs typeface="Bookman Old Style"/>
                <a:sym typeface="Bookman Old Style"/>
              </a:rPr>
              <a:t>model.compile(optimizer='adam',loss=‘categorical_crossentropy',</a:t>
            </a:r>
            <a:endParaRPr/>
          </a:p>
          <a:p>
            <a:pPr indent="0" lvl="0" marL="0" rtl="0" algn="l">
              <a:lnSpc>
                <a:spcPct val="90000"/>
              </a:lnSpc>
              <a:spcBef>
                <a:spcPts val="1000"/>
              </a:spcBef>
              <a:spcAft>
                <a:spcPts val="0"/>
              </a:spcAft>
              <a:buClr>
                <a:schemeClr val="dk1"/>
              </a:buClr>
              <a:buSzPts val="1800"/>
              <a:buNone/>
            </a:pPr>
            <a:r>
              <a:rPr lang="en-IN" sz="1800">
                <a:latin typeface="Bookman Old Style"/>
                <a:ea typeface="Bookman Old Style"/>
                <a:cs typeface="Bookman Old Style"/>
                <a:sym typeface="Bookman Old Style"/>
              </a:rPr>
              <a:t>metrics=['accuracy'])</a:t>
            </a:r>
            <a:endParaRPr/>
          </a:p>
          <a:p>
            <a:pPr indent="0" lvl="0" marL="0" rtl="0" algn="l">
              <a:lnSpc>
                <a:spcPct val="90000"/>
              </a:lnSpc>
              <a:spcBef>
                <a:spcPts val="1000"/>
              </a:spcBef>
              <a:spcAft>
                <a:spcPts val="0"/>
              </a:spcAft>
              <a:buClr>
                <a:schemeClr val="dk1"/>
              </a:buClr>
              <a:buSzPts val="1800"/>
              <a:buNone/>
            </a:pPr>
            <a:r>
              <a:rPr lang="en-IN" sz="1800">
                <a:latin typeface="Bookman Old Style"/>
                <a:ea typeface="Bookman Old Style"/>
                <a:cs typeface="Bookman Old Style"/>
                <a:sym typeface="Bookman Old Style"/>
              </a:rPr>
              <a:t>model.fit(training_set, epochs = 10)</a:t>
            </a:r>
            <a:endParaRPr/>
          </a:p>
          <a:p>
            <a:pPr indent="0" lvl="0" marL="0" rtl="0" algn="l">
              <a:lnSpc>
                <a:spcPct val="90000"/>
              </a:lnSpc>
              <a:spcBef>
                <a:spcPts val="1000"/>
              </a:spcBef>
              <a:spcAft>
                <a:spcPts val="0"/>
              </a:spcAft>
              <a:buClr>
                <a:schemeClr val="dk1"/>
              </a:buClr>
              <a:buSzPts val="1800"/>
              <a:buNone/>
            </a:pPr>
            <a:r>
              <a:t/>
            </a:r>
            <a:endParaRPr sz="1800">
              <a:latin typeface="Bookman Old Style"/>
              <a:ea typeface="Bookman Old Style"/>
              <a:cs typeface="Bookman Old Style"/>
              <a:sym typeface="Bookman Old Style"/>
            </a:endParaRPr>
          </a:p>
          <a:p>
            <a:pPr indent="0" lvl="0" marL="0" rtl="0" algn="l">
              <a:lnSpc>
                <a:spcPct val="90000"/>
              </a:lnSpc>
              <a:spcBef>
                <a:spcPts val="1000"/>
              </a:spcBef>
              <a:spcAft>
                <a:spcPts val="0"/>
              </a:spcAft>
              <a:buClr>
                <a:schemeClr val="dk1"/>
              </a:buClr>
              <a:buSzPts val="1800"/>
              <a:buNone/>
            </a:pPr>
            <a:r>
              <a:t/>
            </a:r>
            <a:endParaRPr sz="1800">
              <a:latin typeface="Bookman Old Style"/>
              <a:ea typeface="Bookman Old Style"/>
              <a:cs typeface="Bookman Old Style"/>
              <a:sym typeface="Bookman Old Style"/>
            </a:endParaRPr>
          </a:p>
        </p:txBody>
      </p:sp>
      <p:pic>
        <p:nvPicPr>
          <p:cNvPr descr="A diagram of a network&#10;&#10;AI-generated content may be incorrect." id="1302" name="Google Shape;1302;p44"/>
          <p:cNvPicPr preferRelativeResize="0"/>
          <p:nvPr/>
        </p:nvPicPr>
        <p:blipFill rotWithShape="1">
          <a:blip r:embed="rId3">
            <a:alphaModFix/>
          </a:blip>
          <a:srcRect b="0" l="0" r="0" t="0"/>
          <a:stretch/>
        </p:blipFill>
        <p:spPr>
          <a:xfrm>
            <a:off x="167586" y="907726"/>
            <a:ext cx="2664068" cy="36815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pic>
        <p:nvPicPr>
          <p:cNvPr id="1307" name="Google Shape;1307;g3c8ecf4c47b_0_0" title="Screenshot 2026-02-17 at 4.49.26 PM.png"/>
          <p:cNvPicPr preferRelativeResize="0"/>
          <p:nvPr/>
        </p:nvPicPr>
        <p:blipFill>
          <a:blip r:embed="rId3">
            <a:alphaModFix/>
          </a:blip>
          <a:stretch>
            <a:fillRect/>
          </a:stretch>
        </p:blipFill>
        <p:spPr>
          <a:xfrm>
            <a:off x="365950" y="203200"/>
            <a:ext cx="11460086" cy="645160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pic>
        <p:nvPicPr>
          <p:cNvPr id="1312" name="Google Shape;1312;g3c8ecf4c47b_0_4" title="Screenshot 2026-02-17 at 4.49.57 PM.png"/>
          <p:cNvPicPr preferRelativeResize="0"/>
          <p:nvPr/>
        </p:nvPicPr>
        <p:blipFill>
          <a:blip r:embed="rId3">
            <a:alphaModFix/>
          </a:blip>
          <a:stretch>
            <a:fillRect/>
          </a:stretch>
        </p:blipFill>
        <p:spPr>
          <a:xfrm>
            <a:off x="203200" y="203200"/>
            <a:ext cx="11460086" cy="645160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pic>
        <p:nvPicPr>
          <p:cNvPr id="1317" name="Google Shape;1317;g3c8ecf4c47b_0_8" title="Screenshot 2026-02-17 at 4.50.15 PM.png"/>
          <p:cNvPicPr preferRelativeResize="0"/>
          <p:nvPr/>
        </p:nvPicPr>
        <p:blipFill>
          <a:blip r:embed="rId3">
            <a:alphaModFix/>
          </a:blip>
          <a:stretch>
            <a:fillRect/>
          </a:stretch>
        </p:blipFill>
        <p:spPr>
          <a:xfrm>
            <a:off x="203200" y="203200"/>
            <a:ext cx="11460086" cy="645160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pic>
        <p:nvPicPr>
          <p:cNvPr id="1322" name="Google Shape;1322;g3c8ecf4c47b_0_12" title="Screenshot 2026-02-17 at 4.50.22 PM.png"/>
          <p:cNvPicPr preferRelativeResize="0"/>
          <p:nvPr/>
        </p:nvPicPr>
        <p:blipFill>
          <a:blip r:embed="rId3">
            <a:alphaModFix/>
          </a:blip>
          <a:stretch>
            <a:fillRect/>
          </a:stretch>
        </p:blipFill>
        <p:spPr>
          <a:xfrm>
            <a:off x="203200" y="203200"/>
            <a:ext cx="11460086" cy="645160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pic>
        <p:nvPicPr>
          <p:cNvPr id="1327" name="Google Shape;1327;g3c8ecf4c47b_0_16" title="Screenshot 2026-02-17 at 4.50.52 PM.png"/>
          <p:cNvPicPr preferRelativeResize="0"/>
          <p:nvPr/>
        </p:nvPicPr>
        <p:blipFill>
          <a:blip r:embed="rId3">
            <a:alphaModFix/>
          </a:blip>
          <a:stretch>
            <a:fillRect/>
          </a:stretch>
        </p:blipFill>
        <p:spPr>
          <a:xfrm>
            <a:off x="203200" y="203200"/>
            <a:ext cx="11460086" cy="645160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t>04-07-2025</a:t>
            </a:r>
            <a:endParaRPr/>
          </a:p>
        </p:txBody>
      </p:sp>
      <p:sp>
        <p:nvSpPr>
          <p:cNvPr id="1333" name="Google Shape;133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t>SoCSE, RVU</a:t>
            </a:r>
            <a:endParaRPr/>
          </a:p>
        </p:txBody>
      </p:sp>
      <p:sp>
        <p:nvSpPr>
          <p:cNvPr id="1334" name="Google Shape;133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
        <p:nvSpPr>
          <p:cNvPr id="1335" name="Google Shape;1335;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None/>
            </a:pPr>
            <a:r>
              <a:t/>
            </a:r>
            <a:endParaRPr b="1" i="1" sz="4000">
              <a:solidFill>
                <a:srgbClr val="C00000"/>
              </a:solidFill>
              <a:latin typeface="Bookman Old Style"/>
              <a:ea typeface="Bookman Old Style"/>
              <a:cs typeface="Bookman Old Style"/>
              <a:sym typeface="Bookman Old Style"/>
            </a:endParaRPr>
          </a:p>
          <a:p>
            <a:pPr indent="0" lvl="0" marL="0" rtl="0" algn="l">
              <a:lnSpc>
                <a:spcPct val="90000"/>
              </a:lnSpc>
              <a:spcBef>
                <a:spcPts val="1000"/>
              </a:spcBef>
              <a:spcAft>
                <a:spcPts val="0"/>
              </a:spcAft>
              <a:buClr>
                <a:schemeClr val="dk1"/>
              </a:buClr>
              <a:buSzPts val="4000"/>
              <a:buNone/>
            </a:pPr>
            <a:r>
              <a:t/>
            </a:r>
            <a:endParaRPr b="1" i="1" sz="4000">
              <a:solidFill>
                <a:srgbClr val="C00000"/>
              </a:solidFill>
              <a:latin typeface="Bookman Old Style"/>
              <a:ea typeface="Bookman Old Style"/>
              <a:cs typeface="Bookman Old Style"/>
              <a:sym typeface="Bookman Old Style"/>
            </a:endParaRPr>
          </a:p>
          <a:p>
            <a:pPr indent="0" lvl="0" marL="0" rtl="0" algn="l">
              <a:lnSpc>
                <a:spcPct val="90000"/>
              </a:lnSpc>
              <a:spcBef>
                <a:spcPts val="1000"/>
              </a:spcBef>
              <a:spcAft>
                <a:spcPts val="0"/>
              </a:spcAft>
              <a:buClr>
                <a:srgbClr val="C00000"/>
              </a:buClr>
              <a:buSzPts val="4000"/>
              <a:buNone/>
            </a:pPr>
            <a:r>
              <a:rPr b="1" i="1" lang="en-IN" sz="4000">
                <a:solidFill>
                  <a:srgbClr val="C00000"/>
                </a:solidFill>
                <a:latin typeface="Bookman Old Style"/>
                <a:ea typeface="Bookman Old Style"/>
                <a:cs typeface="Bookman Old Style"/>
                <a:sym typeface="Bookman Old Style"/>
              </a:rPr>
              <a:t>Thank you</a:t>
            </a:r>
            <a:endParaRPr b="1" i="1">
              <a:solidFill>
                <a:srgbClr val="C00000"/>
              </a:solidFill>
              <a:latin typeface="Bookman Old Style"/>
              <a:ea typeface="Bookman Old Style"/>
              <a:cs typeface="Bookman Old Style"/>
              <a:sym typeface="Bookman Old Styl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2023-03-03T13:32:10Z</dcterms:created>
  <dc:creator>dell</dc:creator>
</cp:coreProperties>
</file>